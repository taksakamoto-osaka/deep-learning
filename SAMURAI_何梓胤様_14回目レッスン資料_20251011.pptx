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17" r:id="rId3"/>
    <p:sldId id="318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764"/>
    <p:restoredTop sz="94758"/>
  </p:normalViewPr>
  <p:slideViewPr>
    <p:cSldViewPr snapToGrid="0">
      <p:cViewPr varScale="1">
        <p:scale>
          <a:sx n="103" d="100"/>
          <a:sy n="103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D93D3-8031-EC47-A989-ABEE3F7FC93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B56E6-2C23-844C-BFCA-760EF45D2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1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D3DAD-8B9C-E64B-AE2A-86404BBFDE1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07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E57E-F6E1-C9D9-F0A2-E2367419B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69D967-6B8E-EE68-CB94-34E445F05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82835-CF29-89FC-3A72-CC214125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88C3EF-4575-ED00-63B8-3C37512A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261EE-99F5-EB9F-1B5E-2CB07525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12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E2C7A-9242-47F2-49CF-FB563AC0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4093B-6777-E8A1-FEBA-C56E538F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985117-B6CA-C1CB-6462-3E6024E7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4EAC4-FBAC-DB3D-CB10-2B303E40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F5980-DE54-1BE8-2F1E-23F65FAE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74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7294C-E976-205E-BC19-6C2DBF14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9D647F-ECBB-EF88-863E-C9A35575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170643-48E6-E3F0-08DE-90AC6FF9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A3A187-295E-04EA-1D74-0256B128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2A53C-D5FE-D61F-C514-EAC562F7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68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98EFA-28FA-1401-A63F-80E276D2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7EA1A-0094-8348-E01B-B05738CF1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DDAAC0-A8DC-E1F2-9126-252C53AF4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47EFF-95F2-0061-1F82-2CE87B24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80311F-7352-FB8C-6F6B-9034912E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4588F8-AB52-FEB4-7832-1A91A769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3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4394E-0E38-D2B4-92AF-EC369E37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B0EAE9-A136-FC24-97EC-510DE8CE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B41394-CEA5-BD28-F89A-A584C230C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246974-70B6-B00E-2684-312813752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8A5726-E928-076A-D14A-721ECB991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18DDBA-5C56-5B9E-CFB4-B59B2ACA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CF0DA-055F-9189-6316-0EA6D083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D4E083-1C4D-C15E-9572-5D63298B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48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8BFB6-EB36-30B8-566B-3C183B5E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30CE1F-561E-538C-D1E1-848E996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A321F5-35BA-0328-C78E-DA52C8E5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CA0E60-3F08-C460-2CFD-3C2D3097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C40B3A-414C-2DE8-5960-F85450B8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0E5DDA-CA82-6D49-99A8-FEBAFD58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D75B0D-5E90-C728-FD9D-F6D8AC55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24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5135B-A59D-70E4-B458-2208B7B7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CBEB34-99B1-4594-868D-C06D9E7F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3ACDE6-6E42-7F08-9A70-E61D474F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5D351C-86BB-7D67-6C95-CF98388E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27DF4A-CB6C-0B84-ED22-252C2A79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127CCF-A761-8781-6F1D-D3FEE584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66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D51F1-0BF5-B54F-230F-38F73C30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A4F03C-9F15-6184-1A28-DD13E6836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18760E-D4B4-E0C8-58D2-A6C182A5C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3ED77F-E745-FC8B-5C57-398883FF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D99E1C-ECFF-84BE-58EB-132B98D7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4D044-6E6D-DC31-902D-847B647F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2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A87A0-FE8B-2A5F-CFD0-5B87CD0B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1D74F5-6551-66E2-2F02-E748FECAE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D94A01-B0FC-1B5C-580A-3A0B96AB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A21572-6181-CC4A-3704-5C884AC9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EBCB8-32E7-8AAF-8C40-74F1EAAF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54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80B6BA-CD2A-0778-9BB7-28CFBF352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EA17F8-EC45-BDBC-E593-B16922121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21DE28-83E7-90F9-DBBB-DA197F40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7A7BCA-6D89-461A-3295-CB7EE449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869D-2AEB-9CB6-2777-D8E81388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675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18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0C2280-2145-B362-8AFF-AD578CC2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C33AE6-4189-375D-BE26-E2F96D766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C8F86-7301-FA51-F214-A07E34196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4835-5721-2044-847C-113CE0FA57E0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3D4381-EEE7-14BD-89F7-5926D342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D886DF-0690-78A8-96C7-1FD8BB723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01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image" Target="../media/mnist_digit.png"/><Relationship Id="rId11" Type="http://schemas.openxmlformats.org/officeDocument/2006/relationships/image" Target="../media/mnist_strip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5672C274-ECC6-23A1-38C5-BAB27F07E4D3}"/>
              </a:ext>
            </a:extLst>
          </p:cNvPr>
          <p:cNvSpPr/>
          <p:nvPr/>
        </p:nvSpPr>
        <p:spPr>
          <a:xfrm>
            <a:off x="3907766" y="181155"/>
            <a:ext cx="4615133" cy="508959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Agenda</a:t>
            </a:r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40B808-520F-CA2D-0409-A116B2F2F830}"/>
              </a:ext>
            </a:extLst>
          </p:cNvPr>
          <p:cNvSpPr txBox="1"/>
          <p:nvPr/>
        </p:nvSpPr>
        <p:spPr>
          <a:xfrm>
            <a:off x="136070" y="846211"/>
            <a:ext cx="11919858" cy="38993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【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何梓胤様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14</a:t>
            </a: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回目レッスンの実施内容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】(‘26/7/1-11/2)</a:t>
            </a:r>
            <a:b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</a:b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・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Python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文法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, 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機械学習</a:t>
            </a:r>
            <a:endParaRPr lang="en-US" altLang="ja-JP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・次回までの宿題</a:t>
            </a:r>
            <a:endParaRPr lang="en-US" altLang="ja-JP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" altLang="ja-JP" sz="2400" dirty="0">
                <a:solidFill>
                  <a:srgbClr val="1F1F1F"/>
                </a:solidFill>
                <a:latin typeface="Google Sans"/>
              </a:rPr>
              <a:t>  </a:t>
            </a:r>
            <a:r>
              <a:rPr lang="ja-JP" altLang="en" sz="2400" dirty="0">
                <a:solidFill>
                  <a:srgbClr val="1F1F1F"/>
                </a:solidFill>
                <a:latin typeface="Google Sans"/>
              </a:rPr>
              <a:t>・</a:t>
            </a:r>
            <a:r>
              <a:rPr lang="en-US" altLang="ja-JP" sz="2400" dirty="0">
                <a:solidFill>
                  <a:srgbClr val="1F1F1F"/>
                </a:solidFill>
                <a:latin typeface="Google Sans"/>
              </a:rPr>
              <a:t>Node.js</a:t>
            </a:r>
            <a:r>
              <a:rPr lang="ja-JP" altLang="en-US" sz="2400" dirty="0">
                <a:solidFill>
                  <a:srgbClr val="1F1F1F"/>
                </a:solidFill>
                <a:latin typeface="Google Sans"/>
              </a:rPr>
              <a:t>教材進める</a:t>
            </a:r>
            <a:endParaRPr lang="en-US" altLang="ja-JP" sz="2400" dirty="0">
              <a:solidFill>
                <a:srgbClr val="1F1F1F"/>
              </a:solidFill>
              <a:latin typeface="Google Sans"/>
            </a:endParaRPr>
          </a:p>
          <a:p>
            <a:pPr fontAlgn="base">
              <a:lnSpc>
                <a:spcPct val="150000"/>
              </a:lnSpc>
            </a:pP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・次回レッスン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18(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 , 25(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</a:t>
            </a:r>
          </a:p>
          <a:p>
            <a:pPr fontAlgn="base">
              <a:lnSpc>
                <a:spcPct val="150000"/>
              </a:lnSpc>
            </a:pPr>
            <a:endParaRPr lang="en-US" altLang="ja-JP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ja-JP" alt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通常日曜日</a:t>
            </a:r>
            <a:r>
              <a:rPr lang="en-US" altLang="ja-JP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9:00-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5AD7BC-91BC-5A67-F328-6EE791D1A758}"/>
              </a:ext>
            </a:extLst>
          </p:cNvPr>
          <p:cNvSpPr txBox="1"/>
          <p:nvPr/>
        </p:nvSpPr>
        <p:spPr>
          <a:xfrm>
            <a:off x="8937788" y="1039265"/>
            <a:ext cx="3031198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600"/>
              <a:t>▼何梓胤様 </a:t>
            </a:r>
            <a:r>
              <a:rPr lang="ja-JP" altLang="en-US" sz="1600" dirty="0"/>
              <a:t>レッスン</a:t>
            </a:r>
            <a:r>
              <a:rPr lang="ja-JP" altLang="en-US" sz="1600"/>
              <a:t>可能曜日</a:t>
            </a:r>
            <a:endParaRPr lang="en-US" altLang="ja-JP" sz="1600" dirty="0"/>
          </a:p>
          <a:p>
            <a:r>
              <a:rPr lang="ja-JP" altLang="en-US" sz="1600"/>
              <a:t>平日：</a:t>
            </a:r>
            <a:r>
              <a:rPr lang="en-US" altLang="ja-JP" sz="1600" dirty="0"/>
              <a:t>22:00-24:00</a:t>
            </a:r>
          </a:p>
          <a:p>
            <a:r>
              <a:rPr lang="ja-JP" altLang="en-US" sz="1600"/>
              <a:t>休日</a:t>
            </a:r>
            <a:r>
              <a:rPr lang="en-US" altLang="ja-JP" sz="1600" dirty="0"/>
              <a:t>  7:00-24:00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73ABFD-110F-0ABB-57D7-4C8946A540DA}"/>
              </a:ext>
            </a:extLst>
          </p:cNvPr>
          <p:cNvSpPr txBox="1"/>
          <p:nvPr/>
        </p:nvSpPr>
        <p:spPr>
          <a:xfrm>
            <a:off x="6426200" y="5818735"/>
            <a:ext cx="5629728" cy="8835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800" b="0" i="0" dirty="0">
                <a:solidFill>
                  <a:srgbClr val="1F1F1F"/>
                </a:solidFill>
                <a:effectLst/>
                <a:latin typeface="Google Sans"/>
              </a:rPr>
              <a:t>【</a:t>
            </a:r>
            <a:r>
              <a:rPr lang="ja-JP" altLang="en-US" sz="1800" b="0" i="0" dirty="0">
                <a:solidFill>
                  <a:srgbClr val="1F1F1F"/>
                </a:solidFill>
                <a:effectLst/>
                <a:latin typeface="Google Sans"/>
              </a:rPr>
              <a:t>前回の宿題</a:t>
            </a:r>
            <a:r>
              <a:rPr lang="en-US" altLang="ja-JP" sz="1800" b="0" i="0" dirty="0">
                <a:solidFill>
                  <a:srgbClr val="1F1F1F"/>
                </a:solidFill>
                <a:effectLst/>
                <a:latin typeface="Google Sans"/>
              </a:rPr>
              <a:t>】</a:t>
            </a:r>
          </a:p>
          <a:p>
            <a:pPr fontAlgn="base">
              <a:lnSpc>
                <a:spcPct val="150000"/>
              </a:lnSpc>
            </a:pPr>
            <a:r>
              <a:rPr lang="ja-JP" altLang="en">
                <a:solidFill>
                  <a:srgbClr val="1F1F1F"/>
                </a:solidFill>
                <a:latin typeface="Google Sans"/>
              </a:rPr>
              <a:t>・</a:t>
            </a:r>
            <a:r>
              <a:rPr lang="en-US" altLang="ja-JP" dirty="0">
                <a:solidFill>
                  <a:srgbClr val="1F1F1F"/>
                </a:solidFill>
                <a:latin typeface="Google Sans"/>
              </a:rPr>
              <a:t> </a:t>
            </a:r>
            <a:r>
              <a:rPr lang="en-US" altLang="ja-JP" dirty="0" err="1">
                <a:solidFill>
                  <a:srgbClr val="1F1F1F"/>
                </a:solidFill>
                <a:latin typeface="Google Sans"/>
              </a:rPr>
              <a:t>Next.js</a:t>
            </a:r>
            <a:r>
              <a:rPr lang="ja-JP" altLang="en-US">
                <a:solidFill>
                  <a:srgbClr val="1F1F1F"/>
                </a:solidFill>
                <a:latin typeface="Google Sans"/>
              </a:rPr>
              <a:t>教材を実施</a:t>
            </a:r>
            <a:endParaRPr lang="en-US" altLang="ja-JP" dirty="0">
              <a:solidFill>
                <a:srgbClr val="1F1F1F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72452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BASIC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パーセプトロンとは何か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0749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複数の入力信号を受け取り、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ひとつの信号を出力する装置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990088"/>
            <a:ext cx="310896" cy="310896"/>
          </a:xfrm>
          <a:prstGeom prst="ellipse">
            <a:avLst/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6868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 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2095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x₁, x₂ … 各入力は 0 か 1 の信号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22776"/>
            <a:ext cx="310896" cy="310896"/>
          </a:xfrm>
          <a:prstGeom prst="ellipse">
            <a:avLst/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142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w₁, w₂ … 各入力の「重要度」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855464"/>
            <a:ext cx="310896" cy="310896"/>
          </a:xfrm>
          <a:prstGeom prst="ellipse">
            <a:avLst/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5074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… 1（信号を流す）/ 0（流さない）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742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パーセプトロンは、ニューロン（神経細胞）を数式で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モデル化した、最も基本的な素子です。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600200"/>
            <a:ext cx="57150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2入力パーセプトロンの図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87768" y="3246120"/>
            <a:ext cx="2221992" cy="566928"/>
          </a:xfrm>
          <a:prstGeom prst="line">
            <a:avLst/>
          </a:prstGeom>
          <a:noFill/>
          <a:ln w="3048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 flipV="1">
            <a:off x="7287768" y="4297680"/>
            <a:ext cx="2221992" cy="594360"/>
          </a:xfrm>
          <a:prstGeom prst="line">
            <a:avLst/>
          </a:prstGeom>
          <a:noFill/>
          <a:ln w="3048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519672" y="2862072"/>
            <a:ext cx="768096" cy="768096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519672" y="28620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19672" y="4507992"/>
            <a:ext cx="768096" cy="768096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19672" y="4507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464040" y="3566160"/>
            <a:ext cx="1005840" cy="1005840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946404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3524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35240" y="4321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515600" y="4069080"/>
            <a:ext cx="411480" cy="0"/>
          </a:xfrm>
          <a:prstGeom prst="line">
            <a:avLst/>
          </a:prstGeom>
          <a:noFill/>
          <a:ln w="27940">
            <a:solidFill>
              <a:srgbClr val="6A748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0561320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/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5779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入力に重みを掛けて合計し、ある値を超えたら 1 を出力する。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WEIGHTS &amp; THRESHOLD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動作を数式で理解する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0E1730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信号の合計 w₁x₁ + w₂x₂ が、しきい値 θ を超えたとき「発火」する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</a:t>
            </a:r>
            <a:r>
              <a:rPr lang="en-US" sz="2100" dirty="0">
                <a:solidFill>
                  <a:srgbClr val="9FB0C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 </a:t>
            </a:r>
            <a:r>
              <a:rPr lang="en-US" sz="21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 w₁x₁ + w₂x₂ ≤ θ 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</a:t>
            </a:r>
            <a:r>
              <a:rPr lang="en-US" sz="21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</a:t>
            </a:r>
            <a:r>
              <a:rPr lang="en-US" sz="21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 w₁x₁ + w₂x₂ &gt; θ 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350215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59536" y="4041648"/>
            <a:ext cx="457200" cy="457200"/>
          </a:xfrm>
          <a:prstGeom prst="ellipse">
            <a:avLst/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59536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1148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" y="47091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入力ごとの重要度。値が大きいほど、その入力が結果に強く効く。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5112" y="3749040"/>
            <a:ext cx="350215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617720" y="4041648"/>
            <a:ext cx="457200" cy="457200"/>
          </a:xfrm>
          <a:prstGeom prst="ellipse">
            <a:avLst/>
          </a:prstGeom>
          <a:solidFill>
            <a:srgbClr val="FCEB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93792" y="41148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しきい値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6008" y="47091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発火の基準ライン。合計がここを超えて初めて 1 を出力する。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3296" y="3749040"/>
            <a:ext cx="350215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375904" y="4041648"/>
            <a:ext cx="457200" cy="457200"/>
          </a:xfrm>
          <a:prstGeom prst="ellipse">
            <a:avLst/>
          </a:prstGeom>
          <a:solidFill>
            <a:srgbClr val="FADFD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375904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57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51976" y="41148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同じ仕組み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94192" y="47091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AND・OR・NAND は、w と θ の値を変えるだけで作り分けられる。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ANDゲート ― 両方が 1 </a:t>
            </a:r>
            <a:r>
              <a:rPr lang="en-US" sz="2900" b="1" dirty="0" err="1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のときだけ</a:t>
            </a: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1 (</a:t>
            </a:r>
            <a:r>
              <a:rPr lang="en-US" sz="2900" b="1" dirty="0" err="1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論理積</a:t>
            </a: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真理値表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59536" y="2331720"/>
          <a:ext cx="2377440" cy="182880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B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59536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(1,1) のときだけ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出力が 1 になる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977640" y="1645920"/>
            <a:ext cx="3977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20624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パラメータ例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21224" y="2880360"/>
            <a:ext cx="1261872" cy="420624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 flipV="1">
            <a:off x="5221224" y="3712464"/>
            <a:ext cx="1243584" cy="448056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562856" y="2551176"/>
            <a:ext cx="658368" cy="658368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62856" y="2551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62856" y="3831336"/>
            <a:ext cx="658368" cy="658368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4562856" y="3831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64808" y="3081528"/>
            <a:ext cx="877824" cy="87782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6464808" y="30815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4406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06240" y="448056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4206240" y="44805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(w₁, w₂, θ) = </a:t>
            </a:r>
            <a:r>
              <a:rPr lang="en-US" sz="15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(0.5, 0.5, 0.7)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138160" y="1645920"/>
            <a:ext cx="3493008" cy="365760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8394192" y="18288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合計としきい値の比較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394192" y="2286000"/>
            <a:ext cx="2999232" cy="603504"/>
          </a:xfrm>
          <a:prstGeom prst="roundRect">
            <a:avLst>
              <a:gd name="adj" fmla="val 9091"/>
            </a:avLst>
          </a:prstGeom>
          <a:solidFill>
            <a:srgbClr val="F1F4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8549640" y="2286000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(0,0)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26880" y="22860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和=0.0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241280" y="228600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≤ 0.7 →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991088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94192" y="2999232"/>
            <a:ext cx="2999232" cy="603504"/>
          </a:xfrm>
          <a:prstGeom prst="roundRect">
            <a:avLst>
              <a:gd name="adj" fmla="val 9091"/>
            </a:avLst>
          </a:prstGeom>
          <a:solidFill>
            <a:srgbClr val="F1F4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/>
          <p:cNvSpPr/>
          <p:nvPr/>
        </p:nvSpPr>
        <p:spPr>
          <a:xfrm>
            <a:off x="8549640" y="2999232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(1,0)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326880" y="2999232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和=0.5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241280" y="299923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≤ 0.7 →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991088" y="299923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94192" y="3712464"/>
            <a:ext cx="2999232" cy="603504"/>
          </a:xfrm>
          <a:prstGeom prst="roundRect">
            <a:avLst>
              <a:gd name="adj" fmla="val 9091"/>
            </a:avLst>
          </a:prstGeom>
          <a:solidFill>
            <a:srgbClr val="F1F4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4"/>
          <p:cNvSpPr/>
          <p:nvPr/>
        </p:nvSpPr>
        <p:spPr>
          <a:xfrm>
            <a:off x="8549640" y="3712464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(0,1)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326880" y="3712464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和=0.5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241280" y="371246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≤ 0.7 →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991088" y="371246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394192" y="4425696"/>
            <a:ext cx="2999232" cy="603504"/>
          </a:xfrm>
          <a:prstGeom prst="roundRect">
            <a:avLst>
              <a:gd name="adj" fmla="val 9091"/>
            </a:avLst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9"/>
          <p:cNvSpPr/>
          <p:nvPr/>
        </p:nvSpPr>
        <p:spPr>
          <a:xfrm>
            <a:off x="8549640" y="4425696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(1,1)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326880" y="4425696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和=1.0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241280" y="4425696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&gt; 0.7 →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991088" y="442569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0080" y="5541264"/>
            <a:ext cx="11064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重みとしきい値を人が決めれば、パーセプトロン 1 個で AND </a:t>
            </a:r>
            <a:r>
              <a:rPr lang="en-US" sz="1400" b="1" dirty="0" err="1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が作れる</a:t>
            </a: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0C8578"/>
              </a:solidFill>
              <a:latin typeface="Noto Sans CJK JP" pitchFamily="34" charset="0"/>
              <a:ea typeface="Noto Sans CJK JP" pitchFamily="34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</a:rPr>
              <a:t>X1 * w1 + X2 * w2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OR・NANDゲート ― 同じ形で作り分ける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OR（どちらかが1）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59536" y="2331720"/>
          <a:ext cx="2377440" cy="182880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B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B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B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59536" y="4590288"/>
            <a:ext cx="2615184" cy="603504"/>
          </a:xfrm>
          <a:prstGeom prst="roundRect">
            <a:avLst>
              <a:gd name="adj" fmla="val 10606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59536" y="45902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4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(w₁, w₂, </a:t>
            </a:r>
            <a:r>
              <a:rPr lang="en-US" altLang="ja-JP" sz="1400" dirty="0" err="1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θ</a:t>
            </a:r>
            <a:r>
              <a:rPr lang="en-US" altLang="ja-JP" sz="14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) = </a:t>
            </a:r>
            <a:r>
              <a:rPr lang="en-US" altLang="ja-JP" sz="14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(0.5, 0.5, 0.2)</a:t>
            </a:r>
            <a:endParaRPr lang="en-US" altLang="ja-JP" sz="1400" dirty="0"/>
          </a:p>
        </p:txBody>
      </p:sp>
      <p:sp>
        <p:nvSpPr>
          <p:cNvPr id="11" name="Shape 8"/>
          <p:cNvSpPr/>
          <p:nvPr/>
        </p:nvSpPr>
        <p:spPr>
          <a:xfrm>
            <a:off x="3977640" y="1645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270248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NAND（ANDの否定）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4270248" y="2331720"/>
          <a:ext cx="2377440" cy="182880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270248" y="4590288"/>
            <a:ext cx="2615184" cy="603504"/>
          </a:xfrm>
          <a:prstGeom prst="roundRect">
            <a:avLst>
              <a:gd name="adj" fmla="val 10606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4270248" y="45902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(w₁,w₂,θ) = </a:t>
            </a:r>
            <a:r>
              <a:rPr lang="en-US" sz="115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(-0.5,-0.5,-0.7)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88352" y="1645920"/>
            <a:ext cx="4242816" cy="3794760"/>
          </a:xfrm>
          <a:prstGeom prst="roundRect">
            <a:avLst>
              <a:gd name="adj" fmla="val 2892"/>
            </a:avLst>
          </a:prstGeom>
          <a:solidFill>
            <a:srgbClr val="0E1730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7680960" y="1938528"/>
            <a:ext cx="457200" cy="457200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76809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7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275320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大事な気づき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68096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4E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AND・OR・NAND の構造は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まったく同じ。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68096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違うのは 重み w としきい値 θ の値だけ。同じ回路が、パラメータ次第で別の論理ゲートに変わります。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68096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「学習」とは、この w と θ を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 データから自動で決めること。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人手でパラメータを調整 → やがて「データから自動で学習する」へ。これがニューラルネットの発想。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重みとバイアスへの書き換え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778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しきい値 θ を左辺へ移項し、−θ を バイアス b と呼ぶ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1  ( </a:t>
            </a:r>
            <a:r>
              <a:rPr lang="en-US" sz="20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r>
              <a:rPr lang="en-US" sz="20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+ w₁x₁ + w₂x₂ &gt; 0 )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0  ( </a:t>
            </a:r>
            <a:r>
              <a:rPr lang="en-US" sz="20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r>
              <a:rPr lang="en-US" sz="20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+ w₁x₁ + w₂x₂ ≤ 0 )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θ を移項すると b = −θ。式は「合計が 0 を超えるか」で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判定する形になり、扱いがすっきりします。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2180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583680" y="1965960"/>
            <a:ext cx="384048" cy="384048"/>
          </a:xfrm>
          <a:prstGeom prst="ellipse">
            <a:avLst/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1993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 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359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各入力信号を、どれだけ重視するかを表す。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017520"/>
            <a:ext cx="384048" cy="384048"/>
          </a:xfrm>
          <a:prstGeom prst="ellipse">
            <a:avLst/>
          </a:prstGeom>
          <a:solidFill>
            <a:srgbClr val="FCEB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0449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バイアス 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4107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どれだけ発火しやすいか（ニューロンの出やすさ）を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調整する。b が大きいほど 1 を出しやすい。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0E1730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084832" y="5074920"/>
            <a:ext cx="1188720" cy="37490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084832" y="5760720"/>
            <a:ext cx="1188720" cy="0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 flipV="1">
            <a:off x="2084832" y="6016752"/>
            <a:ext cx="1207008" cy="429768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572768" y="4818888"/>
            <a:ext cx="512064" cy="51206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572768" y="4818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7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72768" y="5504688"/>
            <a:ext cx="512064" cy="512064"/>
          </a:xfrm>
          <a:prstGeom prst="ellipse">
            <a:avLst/>
          </a:prstGeom>
          <a:solidFill>
            <a:srgbClr val="1B294F"/>
          </a:solidFill>
          <a:ln w="19050">
            <a:solidFill>
              <a:srgbClr val="3347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1572768" y="5504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72768" y="6190488"/>
            <a:ext cx="512064" cy="512064"/>
          </a:xfrm>
          <a:prstGeom prst="ellipse">
            <a:avLst/>
          </a:prstGeom>
          <a:solidFill>
            <a:srgbClr val="1B294F"/>
          </a:solidFill>
          <a:ln w="19050">
            <a:solidFill>
              <a:srgbClr val="3347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572768" y="6190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5394960"/>
            <a:ext cx="731520" cy="731520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29184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331720" y="5230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502920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バイアスは「常に 1 を出す入力」に重み b を付けたもの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と考えられます。こうすると、重みもバイアスも同じ「学習で調整されるパラメータ」として統一的に扱え、後の多層ネットワークやニューラルネットへ自然につながります。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EXCLUSIVE 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XORゲート ― どちらか一方だけが 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真理値表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59536" y="2331720"/>
          <a:ext cx="2377440" cy="182880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59536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入力が「異なる」ときだけ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出力が 1 になる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977640" y="164592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270248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「排他的（はいたてき）」とは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70248" y="2377440"/>
            <a:ext cx="2615184" cy="658368"/>
          </a:xfrm>
          <a:prstGeom prst="roundRect">
            <a:avLst>
              <a:gd name="adj" fmla="val 11111"/>
            </a:avLst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270248" y="2377440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入力が 異なる  → 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70248" y="3154680"/>
            <a:ext cx="2615184" cy="658368"/>
          </a:xfrm>
          <a:prstGeom prst="roundRect">
            <a:avLst>
              <a:gd name="adj" fmla="val 11111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270248" y="3154680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入力が 同じ  →  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70248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「A か B のどちらか一方だけ」を表す論理。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両方 1 でも 1 にならない点が、OR との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決定的な違いです。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88352" y="1645920"/>
            <a:ext cx="4242816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76809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AND・OR・XOR の比較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7680960" y="2286000"/>
          <a:ext cx="3657600" cy="223113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AND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OR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5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XOR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768096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XOR だけ (1,1) で 0 に戻る</a:t>
            </a: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― OR とも AND とも違う独特な形。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66928" y="55321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E17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 も OR も、パーセプトロン 1 個で作れた。</a:t>
            </a:r>
            <a:r>
              <a:rPr lang="en-US" sz="135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では XOR は？ </a:t>
            </a:r>
            <a:r>
              <a:rPr lang="en-US" sz="13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― 実は、同じやり方では作れません。次でその理由を見ます。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LIMITATION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XOR の壁 ― 直線 1 本では分けられない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2926080" cy="3429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66928" y="18379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9848" y="4315968"/>
            <a:ext cx="219456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069848" y="4315968"/>
            <a:ext cx="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944368" y="4361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939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34440" y="1965960"/>
            <a:ext cx="2249424" cy="2331720"/>
          </a:xfrm>
          <a:prstGeom prst="line">
            <a:avLst/>
          </a:prstGeom>
          <a:noFill/>
          <a:ln w="31750">
            <a:solidFill>
              <a:srgbClr val="13B5A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950976" y="41970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916936" y="41970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50976" y="22311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916936" y="223113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75888" y="1691640"/>
            <a:ext cx="2926080" cy="3429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675888" y="18379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78808" y="4315968"/>
            <a:ext cx="219456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178808" y="4315968"/>
            <a:ext cx="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053328" y="4361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0939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04488" y="2560320"/>
            <a:ext cx="1920240" cy="1957960"/>
          </a:xfrm>
          <a:prstGeom prst="line">
            <a:avLst/>
          </a:prstGeom>
          <a:noFill/>
          <a:ln w="31750">
            <a:solidFill>
              <a:srgbClr val="13B5A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059936" y="41970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025896" y="419709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059936" y="223113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025896" y="223113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784848" y="1691640"/>
            <a:ext cx="2926080" cy="3429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784848" y="18379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XOR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87768" y="4315968"/>
            <a:ext cx="219456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7287768" y="4315968"/>
            <a:ext cx="0" cy="0"/>
          </a:xfrm>
          <a:prstGeom prst="line">
            <a:avLst/>
          </a:prstGeom>
          <a:noFill/>
          <a:ln w="19050">
            <a:solidFill>
              <a:srgbClr val="C8D2E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162288" y="4361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0939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68896" y="419709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9134856" y="419709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168896" y="2231136"/>
            <a:ext cx="237744" cy="237744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9134856" y="22311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223760" y="5138928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443216" y="5074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75320" y="51389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494776" y="5074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921240" y="1691640"/>
            <a:ext cx="1709928" cy="3429000"/>
          </a:xfrm>
          <a:prstGeom prst="roundRect">
            <a:avLst>
              <a:gd name="adj" fmla="val 6417"/>
            </a:avLst>
          </a:prstGeom>
          <a:solidFill>
            <a:srgbClr val="0E1730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0195560" y="19659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1019556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01268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XOR は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非線形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1268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 と × を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本の直線で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A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分けられない。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ADFD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AND・OR は直線 1 本（線形）で ○ と × を分離できる。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 XOR はどう直線を引いても分けられない ― これが単層パーセプトロンの限界です。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多層パーセプトロンで XOR を解く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層で組み合わせる：NAND と OR を作ってから AND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3120" y="3291840"/>
            <a:ext cx="1280160" cy="0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 flipV="1">
            <a:off x="2103120" y="3520441"/>
            <a:ext cx="1325880" cy="1417319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103120" y="3291840"/>
            <a:ext cx="1280160" cy="1828800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103120" y="4937760"/>
            <a:ext cx="1280160" cy="182880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3108960"/>
            <a:ext cx="1280160" cy="749808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 flipV="1">
            <a:off x="4297680" y="4434840"/>
            <a:ext cx="1325880" cy="68580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371600" y="2926080"/>
            <a:ext cx="731520" cy="731520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731520" cy="731520"/>
          </a:xfrm>
          <a:prstGeom prst="ellipse">
            <a:avLst/>
          </a:prstGeom>
          <a:solidFill>
            <a:srgbClr val="1B29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83280" y="2651760"/>
            <a:ext cx="914400" cy="914400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663440"/>
            <a:ext cx="914400" cy="914400"/>
          </a:xfrm>
          <a:prstGeom prst="ellipse">
            <a:avLst/>
          </a:prstGeom>
          <a:solidFill>
            <a:srgbClr val="13B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38328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32120" y="3611880"/>
            <a:ext cx="1005840" cy="100584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532120" y="3611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114800"/>
            <a:ext cx="457200" cy="0"/>
          </a:xfrm>
          <a:prstGeom prst="line">
            <a:avLst/>
          </a:prstGeom>
          <a:noFill/>
          <a:ln w="25400">
            <a:solidFill>
              <a:srgbClr val="6A748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903720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623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5806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中間層 (s₁, s₂)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5623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5486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1645920"/>
            <a:ext cx="4087368" cy="45720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8181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信号の流れ（真理値表）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7818120" y="2286000"/>
          <a:ext cx="3566160" cy="2231136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s₁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5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s₂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5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324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A748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781812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s₁ = NAND(x₁,x₂)、s₂ = OR(x₁,x₂) を作り、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4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 AND を取ると XOR になる。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818120" y="53949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D6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3"/>
          <p:cNvSpPr/>
          <p:nvPr/>
        </p:nvSpPr>
        <p:spPr>
          <a:xfrm>
            <a:off x="7909560" y="53949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層を重ねると、直線では引けない境界も表現できる。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C85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 / NUMPY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732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実装で確かめる ― numpy で 4 ゲート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8D2E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537960" cy="4572000"/>
          </a:xfrm>
          <a:prstGeom prst="roundRect">
            <a:avLst>
              <a:gd name="adj" fmla="val 2000"/>
            </a:avLst>
          </a:prstGeom>
          <a:solidFill>
            <a:srgbClr val="0B1327"/>
          </a:solidFill>
          <a:ln/>
          <a:effectLst>
            <a:outerShdw blurRad="114300" dist="38100" dir="5400000" algn="bl" rotWithShape="0">
              <a:srgbClr val="1E2740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60704" y="1874520"/>
            <a:ext cx="137160" cy="137160"/>
          </a:xfrm>
          <a:prstGeom prst="ellipse">
            <a:avLst/>
          </a:prstGeom>
          <a:solidFill>
            <a:srgbClr val="F5A7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298448" y="1874520"/>
            <a:ext cx="137160" cy="137160"/>
          </a:xfrm>
          <a:prstGeom prst="ellipse">
            <a:avLst/>
          </a:prstGeom>
          <a:solidFill>
            <a:srgbClr val="13B5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64592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perceptron_gates.py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 w, b):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([x1, x2])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 * x) + b &gt;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7C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違いは 重み w とバイアス b の値だけ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x2): 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 -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x2):  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 -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x2):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([-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  </a:t>
            </a:r>
            <a:r>
              <a:rPr lang="en-US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7C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XOR は単層では作れない → 2 層で合成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x2):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s1 =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s2 =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x2)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 s2)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87768" y="1645920"/>
            <a:ext cx="4343400" cy="2331720"/>
          </a:xfrm>
          <a:prstGeom prst="roundRect">
            <a:avLst>
              <a:gd name="adj" fmla="val 3922"/>
            </a:avLst>
          </a:prstGeom>
          <a:solidFill>
            <a:srgbClr val="0B1327"/>
          </a:solidFill>
          <a:ln/>
          <a:effectLst>
            <a:outerShdw blurRad="114300" dist="38100" dir="5400000" algn="bl" rotWithShape="0">
              <a:srgbClr val="1E2740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5438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0C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動作確認（真理値表を表示）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219456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[(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),(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),(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),(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gates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[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x1, x2 </a:t>
            </a:r>
            <a:r>
              <a:rPr lang="en-US" sz="105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[g(x1, x2) </a:t>
            </a:r>
            <a:r>
              <a:rPr lang="en-US" sz="105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 </a:t>
            </a:r>
            <a:r>
              <a:rPr lang="en-US" sz="105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gates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 row)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87768" y="4160520"/>
            <a:ext cx="4343400" cy="2057400"/>
          </a:xfrm>
          <a:prstGeom prst="roundRect">
            <a:avLst>
              <a:gd name="adj" fmla="val 4444"/>
            </a:avLst>
          </a:prstGeom>
          <a:solidFill>
            <a:srgbClr val="0E1730"/>
          </a:solidFill>
          <a:ln/>
          <a:effectLst>
            <a:outerShdw blurRad="114300" dist="38100" dir="5400000" algn="bl" rotWithShape="0">
              <a:srgbClr val="1E2740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4380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B5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4645152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7C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x2 |  AND   OR NAND  XOR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7C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0 |    0    0    1    0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0 |    0    1    1    1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1 |    0    1    1    1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1 |    1    1    0    0</a:t>
            </a:r>
            <a:endParaRPr lang="en-US" sz="11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77275FF-D0DD-8AF6-259C-4AF91DB02A99}"/>
              </a:ext>
            </a:extLst>
          </p:cNvPr>
          <p:cNvSpPr txBox="1"/>
          <p:nvPr/>
        </p:nvSpPr>
        <p:spPr>
          <a:xfrm>
            <a:off x="3627766" y="6324360"/>
            <a:ext cx="6094708" cy="10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 err="1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altLang="ja-JP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altLang="ja-JP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perceptron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(x1, x2, w, b):</a:t>
            </a:r>
            <a:endParaRPr lang="en-US" altLang="ja-JP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</a:t>
            </a:r>
            <a:r>
              <a:rPr lang="en-US" altLang="ja-JP" sz="1100" dirty="0" err="1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altLang="ja-JP" sz="1100" dirty="0" err="1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altLang="ja-JP" sz="1100" dirty="0" err="1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([x1, x2])</a:t>
            </a:r>
            <a:endParaRPr lang="en-US" altLang="ja-JP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 err="1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altLang="ja-JP" sz="1100" dirty="0" err="1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altLang="ja-JP" sz="1100" dirty="0" err="1">
                <a:solidFill>
                  <a:srgbClr val="3FD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 * x) + b &gt; </a:t>
            </a:r>
            <a:r>
              <a:rPr lang="en-US" altLang="ja-JP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F5A7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altLang="ja-JP" sz="1100" dirty="0">
                <a:solidFill>
                  <a:srgbClr val="DC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ja-JP" sz="1100" dirty="0">
                <a:solidFill>
                  <a:srgbClr val="E7B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altLang="ja-JP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CHAPTER 3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パーセプトロンからニューラルネットワークへ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11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41248" y="1993392"/>
            <a:ext cx="457200" cy="457200"/>
          </a:xfrm>
          <a:prstGeom prst="ellipse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P</a:t>
            </a:r>
            <a:endParaRPr lang="ja-JP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1435608" y="199339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パーセプトロン</a:t>
            </a:r>
            <a:endParaRPr lang="ja-JP" sz="1500" dirty="0"/>
          </a:p>
        </p:txBody>
      </p:sp>
      <p:sp>
        <p:nvSpPr>
          <p:cNvPr id="10" name="Shape 10"/>
          <p:cNvSpPr txBox="1"/>
          <p:nvPr/>
        </p:nvSpPr>
        <p:spPr>
          <a:xfrm>
            <a:off x="841248" y="2606040"/>
            <a:ext cx="4297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4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重み w とバイアス b を「人」が決めていた。</a:t>
            </a:r>
            <a:endParaRPr lang="ja-JP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4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AND・OR・NAND は、パラメータを手で調整して作った。</a:t>
            </a:r>
            <a:endParaRPr lang="ja-JP" sz="1400" dirty="0"/>
          </a:p>
        </p:txBody>
      </p:sp>
      <p:sp>
        <p:nvSpPr>
          <p:cNvPr id="11" name="Shape 11"/>
          <p:cNvSpPr/>
          <p:nvPr/>
        </p:nvSpPr>
        <p:spPr>
          <a:xfrm>
            <a:off x="5669280" y="2606040"/>
            <a:ext cx="685800" cy="548640"/>
          </a:xfrm>
          <a:prstGeom prst="rightArrow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2" name="Shape 12"/>
          <p:cNvSpPr/>
          <p:nvPr/>
        </p:nvSpPr>
        <p:spPr>
          <a:xfrm>
            <a:off x="6629400" y="1737360"/>
            <a:ext cx="499262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 txBox="1"/>
          <p:nvPr/>
        </p:nvSpPr>
        <p:spPr>
          <a:xfrm>
            <a:off x="6903720" y="1993392"/>
            <a:ext cx="457200" cy="45720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NN</a:t>
            </a:r>
            <a:endParaRPr lang="ja-JP" sz="1500" dirty="0"/>
          </a:p>
        </p:txBody>
      </p:sp>
      <p:sp>
        <p:nvSpPr>
          <p:cNvPr id="14" name="Shape 14"/>
          <p:cNvSpPr txBox="1"/>
          <p:nvPr/>
        </p:nvSpPr>
        <p:spPr>
          <a:xfrm>
            <a:off x="7498080" y="1993392"/>
            <a:ext cx="39410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ニューラルネットワーク</a:t>
            </a:r>
            <a:endParaRPr lang="ja-JP" sz="1500" dirty="0"/>
          </a:p>
        </p:txBody>
      </p:sp>
      <p:sp>
        <p:nvSpPr>
          <p:cNvPr id="15" name="Shape 15"/>
          <p:cNvSpPr txBox="1"/>
          <p:nvPr/>
        </p:nvSpPr>
        <p:spPr>
          <a:xfrm>
            <a:off x="6903720" y="2606040"/>
            <a:ext cx="4443984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4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適切な重みを「データ」から自動で学習できる。</a:t>
            </a:r>
            <a:endParaRPr lang="ja-JP" sz="1400" dirty="0"/>
          </a:p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4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ステップ関数をなめらかな活性化関数に変え、層を重ねる。</a:t>
            </a:r>
            <a:endParaRPr lang="ja-JP" sz="1400" dirty="0"/>
          </a:p>
        </p:txBody>
      </p:sp>
      <p:sp>
        <p:nvSpPr>
          <p:cNvPr id="16" name="Shape 16"/>
          <p:cNvSpPr/>
          <p:nvPr/>
        </p:nvSpPr>
        <p:spPr>
          <a:xfrm>
            <a:off x="566928" y="4297680"/>
            <a:ext cx="11055096" cy="2103120"/>
          </a:xfrm>
          <a:prstGeom prst="roundRect">
            <a:avLst>
              <a:gd name="adj" fmla="val 521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 txBox="1"/>
          <p:nvPr/>
        </p:nvSpPr>
        <p:spPr>
          <a:xfrm>
            <a:off x="868680" y="4480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この章で学ぶこと</a:t>
            </a:r>
            <a:endParaRPr lang="ja-JP" sz="1400" dirty="0"/>
          </a:p>
        </p:txBody>
      </p:sp>
      <p:sp>
        <p:nvSpPr>
          <p:cNvPr id="18" name="Shape 18"/>
          <p:cNvSpPr txBox="1"/>
          <p:nvPr/>
        </p:nvSpPr>
        <p:spPr>
          <a:xfrm>
            <a:off x="868680" y="493776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01</a:t>
            </a:r>
            <a:endParaRPr lang="ja-JP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活性化関数</a:t>
            </a:r>
            <a:endParaRPr lang="ja-JP" sz="1500" dirty="0"/>
          </a:p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ステップ・シグモイド・ReLU</a:t>
            </a:r>
            <a:endParaRPr lang="ja-JP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3566160" y="493776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02</a:t>
            </a:r>
            <a:endParaRPr lang="ja-JP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行列の積と3層NN</a:t>
            </a:r>
            <a:endParaRPr lang="ja-JP" sz="1500" dirty="0"/>
          </a:p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np.dot で信号を伝える</a:t>
            </a:r>
            <a:endParaRPr lang="ja-JP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6263640" y="493776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03</a:t>
            </a:r>
            <a:endParaRPr lang="ja-JP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出力層の設計</a:t>
            </a:r>
            <a:endParaRPr lang="ja-JP" sz="1500" dirty="0"/>
          </a:p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恒等関数とソフトマックス</a:t>
            </a:r>
            <a:endParaRPr lang="ja-JP" sz="1200" dirty="0"/>
          </a:p>
        </p:txBody>
      </p:sp>
      <p:sp>
        <p:nvSpPr>
          <p:cNvPr id="21" name="Shape 21"/>
          <p:cNvSpPr txBox="1"/>
          <p:nvPr/>
        </p:nvSpPr>
        <p:spPr>
          <a:xfrm>
            <a:off x="8961120" y="493776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04</a:t>
            </a:r>
            <a:endParaRPr lang="ja-JP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手書き数字の推論</a:t>
            </a:r>
            <a:endParaRPr lang="ja-JP" sz="1500" dirty="0"/>
          </a:p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MNIST とバッチ処理</a:t>
            </a:r>
            <a:endParaRPr lang="ja-JP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ACTIVATION FUNCTION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活性化関数 ― 入力の合計を出力に変える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12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パーセプトロンの式を 2 段階に分けて書く</a:t>
            </a:r>
            <a:endParaRPr lang="ja-JP" sz="1400" dirty="0"/>
          </a:p>
        </p:txBody>
      </p:sp>
      <p:sp>
        <p:nvSpPr>
          <p:cNvPr id="9" name="Shape 9"/>
          <p:cNvSpPr txBox="1"/>
          <p:nvPr/>
        </p:nvSpPr>
        <p:spPr>
          <a:xfrm>
            <a:off x="1051560" y="242316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 = </a:t>
            </a:r>
            <a:r>
              <a:rPr lang="ja-JP" altLang="en-US" sz="2200" dirty="0">
                <a:solidFill>
                  <a:srgbClr val="C9D4EA"/>
                </a:solidFill>
                <a:latin typeface="Noto Sans CJK JP"/>
                <a:ea typeface="Noto Sans CJK JP"/>
                <a:cs typeface="Noto Sans CJK JP"/>
              </a:rPr>
              <a:t>b + w₁x₁ + w₂x₂</a:t>
            </a:r>
            <a:endParaRPr lang="ja-JP" sz="2200" dirty="0"/>
          </a:p>
        </p:txBody>
      </p:sp>
      <p:sp>
        <p:nvSpPr>
          <p:cNvPr id="10" name="Shape 10"/>
          <p:cNvSpPr txBox="1"/>
          <p:nvPr/>
        </p:nvSpPr>
        <p:spPr>
          <a:xfrm>
            <a:off x="1051560" y="29718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 = </a:t>
            </a: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h(a)</a:t>
            </a:r>
            <a:endParaRPr lang="ja-JP" sz="2200" dirty="0"/>
          </a:p>
        </p:txBody>
      </p:sp>
      <p:sp>
        <p:nvSpPr>
          <p:cNvPr id="11" name="Shape 11"/>
          <p:cNvSpPr txBox="1"/>
          <p:nvPr/>
        </p:nvSpPr>
        <p:spPr>
          <a:xfrm>
            <a:off x="868680" y="36118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h( ) を「活性化関数」と呼ぶ。合計 a をどう出力するかを決める。</a:t>
            </a:r>
            <a:endParaRPr lang="ja-JP" sz="1200" dirty="0"/>
          </a:p>
        </p:txBody>
      </p:sp>
      <p:sp>
        <p:nvSpPr>
          <p:cNvPr id="12" name="Shape 12"/>
          <p:cNvSpPr/>
          <p:nvPr/>
        </p:nvSpPr>
        <p:spPr>
          <a:xfrm>
            <a:off x="6327648" y="1737360"/>
            <a:ext cx="5294376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 txBox="1"/>
          <p:nvPr/>
        </p:nvSpPr>
        <p:spPr>
          <a:xfrm>
            <a:off x="6675120" y="1965960"/>
            <a:ext cx="457200" cy="457200"/>
          </a:xfrm>
          <a:prstGeom prst="ellipse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400" dirty="0"/>
          </a:p>
        </p:txBody>
      </p:sp>
      <p:cxnSp>
        <p:nvCxnSpPr>
          <p:cNvPr id="14" name="Line 14"/>
          <p:cNvCxnSpPr/>
          <p:nvPr/>
        </p:nvCxnSpPr>
        <p:spPr>
          <a:xfrm>
            <a:off x="7132320" y="2194560"/>
            <a:ext cx="1325880" cy="77724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6675120" y="2697480"/>
            <a:ext cx="457200" cy="45720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x₁</a:t>
            </a:r>
            <a:endParaRPr lang="ja-JP" sz="1400" dirty="0"/>
          </a:p>
        </p:txBody>
      </p:sp>
      <p:cxnSp>
        <p:nvCxnSpPr>
          <p:cNvPr id="16" name="Line 16"/>
          <p:cNvCxnSpPr/>
          <p:nvPr/>
        </p:nvCxnSpPr>
        <p:spPr>
          <a:xfrm>
            <a:off x="7132320" y="2926080"/>
            <a:ext cx="1325880" cy="4572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sp>
        <p:nvSpPr>
          <p:cNvPr id="17" name="Shape 17"/>
          <p:cNvSpPr txBox="1"/>
          <p:nvPr/>
        </p:nvSpPr>
        <p:spPr>
          <a:xfrm>
            <a:off x="6675120" y="3429000"/>
            <a:ext cx="457200" cy="45720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x₂</a:t>
            </a:r>
            <a:endParaRPr lang="ja-JP" sz="1400" dirty="0"/>
          </a:p>
        </p:txBody>
      </p:sp>
      <p:cxnSp>
        <p:nvCxnSpPr>
          <p:cNvPr id="18" name="Line 18"/>
          <p:cNvCxnSpPr/>
          <p:nvPr/>
        </p:nvCxnSpPr>
        <p:spPr>
          <a:xfrm flipV="1">
            <a:off x="7132320" y="2971800"/>
            <a:ext cx="1325880" cy="68580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sp>
        <p:nvSpPr>
          <p:cNvPr id="19" name="Shape 19"/>
          <p:cNvSpPr txBox="1"/>
          <p:nvPr/>
        </p:nvSpPr>
        <p:spPr>
          <a:xfrm>
            <a:off x="7452360" y="2057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b</a:t>
            </a:r>
            <a:endParaRPr lang="ja-JP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7452360" y="25877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w₁</a:t>
            </a:r>
            <a:endParaRPr lang="ja-JP" sz="1200" dirty="0"/>
          </a:p>
        </p:txBody>
      </p:sp>
      <p:sp>
        <p:nvSpPr>
          <p:cNvPr id="21" name="Shape 21"/>
          <p:cNvSpPr txBox="1"/>
          <p:nvPr/>
        </p:nvSpPr>
        <p:spPr>
          <a:xfrm>
            <a:off x="7452360" y="3429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w₂</a:t>
            </a:r>
            <a:endParaRPr lang="ja-JP" sz="1200" dirty="0"/>
          </a:p>
        </p:txBody>
      </p:sp>
      <p:sp>
        <p:nvSpPr>
          <p:cNvPr id="22" name="Shape 22"/>
          <p:cNvSpPr/>
          <p:nvPr/>
        </p:nvSpPr>
        <p:spPr>
          <a:xfrm>
            <a:off x="8275320" y="2103120"/>
            <a:ext cx="1965960" cy="1737360"/>
          </a:xfrm>
          <a:prstGeom prst="roundRect">
            <a:avLst>
              <a:gd name="adj" fmla="val 7894"/>
            </a:avLst>
          </a:prstGeom>
          <a:noFill/>
          <a:ln w="15875">
            <a:solidFill>
              <a:srgbClr val="C9D4EA"/>
            </a:solidFill>
            <a:prstDash val="dash"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3" name="Shape 23"/>
          <p:cNvSpPr txBox="1"/>
          <p:nvPr/>
        </p:nvSpPr>
        <p:spPr>
          <a:xfrm>
            <a:off x="8458200" y="2697480"/>
            <a:ext cx="548640" cy="54864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</a:t>
            </a:r>
            <a:endParaRPr lang="ja-JP" sz="1600" dirty="0"/>
          </a:p>
        </p:txBody>
      </p:sp>
      <p:sp>
        <p:nvSpPr>
          <p:cNvPr id="24" name="Shape 24"/>
          <p:cNvSpPr txBox="1"/>
          <p:nvPr/>
        </p:nvSpPr>
        <p:spPr>
          <a:xfrm>
            <a:off x="9509760" y="2697480"/>
            <a:ext cx="548640" cy="5486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</a:t>
            </a:r>
            <a:endParaRPr lang="ja-JP" sz="1600" dirty="0"/>
          </a:p>
        </p:txBody>
      </p:sp>
      <p:cxnSp>
        <p:nvCxnSpPr>
          <p:cNvPr id="25" name="Line 25"/>
          <p:cNvCxnSpPr/>
          <p:nvPr/>
        </p:nvCxnSpPr>
        <p:spPr>
          <a:xfrm>
            <a:off x="9006840" y="2971800"/>
            <a:ext cx="502920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26" name="Shape 26"/>
          <p:cNvSpPr txBox="1"/>
          <p:nvPr/>
        </p:nvSpPr>
        <p:spPr>
          <a:xfrm>
            <a:off x="8961120" y="23317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h( )</a:t>
            </a:r>
            <a:endParaRPr lang="ja-JP" sz="1200" dirty="0"/>
          </a:p>
        </p:txBody>
      </p:sp>
      <p:cxnSp>
        <p:nvCxnSpPr>
          <p:cNvPr id="27" name="Line 27"/>
          <p:cNvCxnSpPr/>
          <p:nvPr/>
        </p:nvCxnSpPr>
        <p:spPr>
          <a:xfrm>
            <a:off x="10058400" y="2971800"/>
            <a:ext cx="640080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28" name="Shape 28"/>
          <p:cNvSpPr txBox="1"/>
          <p:nvPr/>
        </p:nvSpPr>
        <p:spPr>
          <a:xfrm>
            <a:off x="8275320" y="38404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ニューロンの中身</a:t>
            </a:r>
            <a:endParaRPr lang="ja-JP" sz="1100" dirty="0"/>
          </a:p>
        </p:txBody>
      </p:sp>
      <p:sp>
        <p:nvSpPr>
          <p:cNvPr id="29" name="Shape 29"/>
          <p:cNvSpPr/>
          <p:nvPr/>
        </p:nvSpPr>
        <p:spPr>
          <a:xfrm>
            <a:off x="566928" y="448056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0" name="Shape 30"/>
          <p:cNvSpPr txBox="1"/>
          <p:nvPr/>
        </p:nvSpPr>
        <p:spPr>
          <a:xfrm>
            <a:off x="841248" y="4736592"/>
            <a:ext cx="457200" cy="457200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a</a:t>
            </a:r>
            <a:endParaRPr lang="ja-JP" sz="1500" dirty="0"/>
          </a:p>
        </p:txBody>
      </p:sp>
      <p:sp>
        <p:nvSpPr>
          <p:cNvPr id="31" name="Shape 31"/>
          <p:cNvSpPr txBox="1"/>
          <p:nvPr/>
        </p:nvSpPr>
        <p:spPr>
          <a:xfrm>
            <a:off x="1435608" y="4736592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重み付き和 a</a:t>
            </a:r>
            <a:endParaRPr lang="ja-JP" sz="1500" dirty="0"/>
          </a:p>
        </p:txBody>
      </p:sp>
      <p:sp>
        <p:nvSpPr>
          <p:cNvPr id="32" name="Shape 32"/>
          <p:cNvSpPr txBox="1"/>
          <p:nvPr/>
        </p:nvSpPr>
        <p:spPr>
          <a:xfrm>
            <a:off x="841248" y="53492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3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入力に重みを掛けて合計し、バイアス b を足した値。</a:t>
            </a:r>
            <a:endParaRPr lang="ja-JP" sz="1300" dirty="0"/>
          </a:p>
        </p:txBody>
      </p:sp>
      <p:sp>
        <p:nvSpPr>
          <p:cNvPr id="33" name="Shape 33"/>
          <p:cNvSpPr/>
          <p:nvPr/>
        </p:nvSpPr>
        <p:spPr>
          <a:xfrm>
            <a:off x="4343400" y="448056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4" name="Shape 34"/>
          <p:cNvSpPr txBox="1"/>
          <p:nvPr/>
        </p:nvSpPr>
        <p:spPr>
          <a:xfrm>
            <a:off x="4617720" y="4736592"/>
            <a:ext cx="457200" cy="457200"/>
          </a:xfrm>
          <a:prstGeom prst="ellipse">
            <a:avLst/>
          </a:prstGeom>
          <a:solidFill>
            <a:srgbClr val="FCEBC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h</a:t>
            </a:r>
            <a:endParaRPr lang="ja-JP" sz="1500" dirty="0"/>
          </a:p>
        </p:txBody>
      </p:sp>
      <p:sp>
        <p:nvSpPr>
          <p:cNvPr id="35" name="Shape 35"/>
          <p:cNvSpPr txBox="1"/>
          <p:nvPr/>
        </p:nvSpPr>
        <p:spPr>
          <a:xfrm>
            <a:off x="5212080" y="4736592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活性化関数 h</a:t>
            </a:r>
            <a:endParaRPr lang="ja-JP" sz="1500" dirty="0"/>
          </a:p>
        </p:txBody>
      </p:sp>
      <p:sp>
        <p:nvSpPr>
          <p:cNvPr id="36" name="Shape 36"/>
          <p:cNvSpPr txBox="1"/>
          <p:nvPr/>
        </p:nvSpPr>
        <p:spPr>
          <a:xfrm>
            <a:off x="4617720" y="53492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3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a を、どんな出力 y に変えるかを決める関数。</a:t>
            </a:r>
            <a:endParaRPr lang="ja-JP" sz="1300" dirty="0"/>
          </a:p>
        </p:txBody>
      </p:sp>
      <p:sp>
        <p:nvSpPr>
          <p:cNvPr id="37" name="Shape 37"/>
          <p:cNvSpPr/>
          <p:nvPr/>
        </p:nvSpPr>
        <p:spPr>
          <a:xfrm>
            <a:off x="8119872" y="448056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8" name="Shape 38"/>
          <p:cNvSpPr txBox="1"/>
          <p:nvPr/>
        </p:nvSpPr>
        <p:spPr>
          <a:xfrm>
            <a:off x="8394192" y="4736592"/>
            <a:ext cx="457200" cy="457200"/>
          </a:xfrm>
          <a:prstGeom prst="ellipse">
            <a:avLst/>
          </a:prstGeom>
          <a:solidFill>
            <a:srgbClr val="F8DDD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E8553A"/>
                </a:solidFill>
                <a:latin typeface="Noto Sans CJK JP"/>
                <a:ea typeface="Noto Sans CJK JP"/>
                <a:cs typeface="Noto Sans CJK JP"/>
              </a:rPr>
              <a:t>≠</a:t>
            </a:r>
            <a:endParaRPr lang="ja-JP" sz="1500" dirty="0"/>
          </a:p>
        </p:txBody>
      </p:sp>
      <p:sp>
        <p:nvSpPr>
          <p:cNvPr id="39" name="Shape 39"/>
          <p:cNvSpPr txBox="1"/>
          <p:nvPr/>
        </p:nvSpPr>
        <p:spPr>
          <a:xfrm>
            <a:off x="8988552" y="4736592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パーセプトロンとの違い</a:t>
            </a:r>
            <a:endParaRPr lang="ja-JP" sz="1500" dirty="0"/>
          </a:p>
        </p:txBody>
      </p:sp>
      <p:sp>
        <p:nvSpPr>
          <p:cNvPr id="40" name="Shape 40"/>
          <p:cNvSpPr txBox="1"/>
          <p:nvPr/>
        </p:nvSpPr>
        <p:spPr>
          <a:xfrm>
            <a:off x="8394192" y="53492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3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パーセプトロンの h はステップ関数。NN ではシグモイドなど、なめらかな関数を使う。</a:t>
            </a:r>
            <a:endParaRPr lang="ja-JP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ACTIVATION FUNCTIONS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ステップ・シグモイド・ReLU を比べる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13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41248" y="1874520"/>
            <a:ext cx="29535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6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ステップ関数</a:t>
            </a:r>
            <a:endParaRPr lang="ja-JP" sz="1600" dirty="0"/>
          </a:p>
        </p:txBody>
      </p:sp>
      <p:sp>
        <p:nvSpPr>
          <p:cNvPr id="9" name="Shape 9"/>
          <p:cNvSpPr/>
          <p:nvPr/>
        </p:nvSpPr>
        <p:spPr>
          <a:xfrm>
            <a:off x="841248" y="2377440"/>
            <a:ext cx="2953512" cy="137160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10" name="Line 10"/>
          <p:cNvCxnSpPr/>
          <p:nvPr/>
        </p:nvCxnSpPr>
        <p:spPr>
          <a:xfrm>
            <a:off x="841248" y="3520440"/>
            <a:ext cx="2953512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318004" y="2377440"/>
            <a:ext cx="0" cy="137160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12" name="Shape 12"/>
          <p:cNvSpPr/>
          <p:nvPr/>
        </p:nvSpPr>
        <p:spPr>
          <a:xfrm>
            <a:off x="841248" y="2377440"/>
            <a:ext cx="2953512" cy="13716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83333"/>
                </a:moveTo>
                <a:lnTo>
                  <a:pt x="250" y="83333"/>
                </a:lnTo>
                <a:lnTo>
                  <a:pt x="499" y="83333"/>
                </a:lnTo>
                <a:lnTo>
                  <a:pt x="750" y="83333"/>
                </a:lnTo>
                <a:lnTo>
                  <a:pt x="999" y="83333"/>
                </a:lnTo>
                <a:lnTo>
                  <a:pt x="1250" y="83333"/>
                </a:lnTo>
                <a:lnTo>
                  <a:pt x="1500" y="83333"/>
                </a:lnTo>
                <a:lnTo>
                  <a:pt x="1749" y="83333"/>
                </a:lnTo>
                <a:lnTo>
                  <a:pt x="2000" y="83333"/>
                </a:lnTo>
                <a:lnTo>
                  <a:pt x="2249" y="83333"/>
                </a:lnTo>
                <a:lnTo>
                  <a:pt x="2500" y="83333"/>
                </a:lnTo>
                <a:lnTo>
                  <a:pt x="2750" y="83333"/>
                </a:lnTo>
                <a:lnTo>
                  <a:pt x="2999" y="83333"/>
                </a:lnTo>
                <a:lnTo>
                  <a:pt x="3250" y="83333"/>
                </a:lnTo>
                <a:lnTo>
                  <a:pt x="3499" y="83333"/>
                </a:lnTo>
                <a:lnTo>
                  <a:pt x="3750" y="83333"/>
                </a:lnTo>
                <a:lnTo>
                  <a:pt x="4000" y="83333"/>
                </a:lnTo>
                <a:lnTo>
                  <a:pt x="4249" y="83333"/>
                </a:lnTo>
                <a:lnTo>
                  <a:pt x="4500" y="83333"/>
                </a:lnTo>
                <a:lnTo>
                  <a:pt x="4749" y="83333"/>
                </a:lnTo>
                <a:lnTo>
                  <a:pt x="5000" y="83333"/>
                </a:lnTo>
                <a:lnTo>
                  <a:pt x="5250" y="83333"/>
                </a:lnTo>
                <a:lnTo>
                  <a:pt x="5499" y="83333"/>
                </a:lnTo>
                <a:lnTo>
                  <a:pt x="5750" y="83333"/>
                </a:lnTo>
                <a:lnTo>
                  <a:pt x="5999" y="83333"/>
                </a:lnTo>
                <a:lnTo>
                  <a:pt x="6250" y="83333"/>
                </a:lnTo>
                <a:lnTo>
                  <a:pt x="6500" y="83333"/>
                </a:lnTo>
                <a:lnTo>
                  <a:pt x="6749" y="83333"/>
                </a:lnTo>
                <a:lnTo>
                  <a:pt x="7000" y="83333"/>
                </a:lnTo>
                <a:lnTo>
                  <a:pt x="7249" y="83333"/>
                </a:lnTo>
                <a:lnTo>
                  <a:pt x="7500" y="83333"/>
                </a:lnTo>
                <a:lnTo>
                  <a:pt x="7750" y="83333"/>
                </a:lnTo>
                <a:lnTo>
                  <a:pt x="7999" y="83333"/>
                </a:lnTo>
                <a:lnTo>
                  <a:pt x="8250" y="83333"/>
                </a:lnTo>
                <a:lnTo>
                  <a:pt x="8499" y="83333"/>
                </a:lnTo>
                <a:lnTo>
                  <a:pt x="8750" y="83333"/>
                </a:lnTo>
                <a:lnTo>
                  <a:pt x="9000" y="83333"/>
                </a:lnTo>
                <a:lnTo>
                  <a:pt x="9249" y="83333"/>
                </a:lnTo>
                <a:lnTo>
                  <a:pt x="9500" y="83333"/>
                </a:lnTo>
                <a:lnTo>
                  <a:pt x="9749" y="83333"/>
                </a:lnTo>
                <a:lnTo>
                  <a:pt x="10000" y="83333"/>
                </a:lnTo>
                <a:lnTo>
                  <a:pt x="10250" y="83333"/>
                </a:lnTo>
                <a:lnTo>
                  <a:pt x="10499" y="83333"/>
                </a:lnTo>
                <a:lnTo>
                  <a:pt x="10750" y="83333"/>
                </a:lnTo>
                <a:lnTo>
                  <a:pt x="11000" y="83333"/>
                </a:lnTo>
                <a:lnTo>
                  <a:pt x="11250" y="83333"/>
                </a:lnTo>
                <a:lnTo>
                  <a:pt x="11500" y="83333"/>
                </a:lnTo>
                <a:lnTo>
                  <a:pt x="11749" y="83333"/>
                </a:lnTo>
                <a:lnTo>
                  <a:pt x="12000" y="83333"/>
                </a:lnTo>
                <a:lnTo>
                  <a:pt x="12250" y="83333"/>
                </a:lnTo>
                <a:lnTo>
                  <a:pt x="12500" y="83333"/>
                </a:lnTo>
                <a:lnTo>
                  <a:pt x="12750" y="83333"/>
                </a:lnTo>
                <a:lnTo>
                  <a:pt x="12999" y="83333"/>
                </a:lnTo>
                <a:lnTo>
                  <a:pt x="13250" y="83333"/>
                </a:lnTo>
                <a:lnTo>
                  <a:pt x="13500" y="83333"/>
                </a:lnTo>
                <a:lnTo>
                  <a:pt x="13750" y="83333"/>
                </a:lnTo>
                <a:lnTo>
                  <a:pt x="13999" y="83333"/>
                </a:lnTo>
                <a:lnTo>
                  <a:pt x="14249" y="83333"/>
                </a:lnTo>
                <a:lnTo>
                  <a:pt x="14500" y="83333"/>
                </a:lnTo>
                <a:lnTo>
                  <a:pt x="14750" y="83333"/>
                </a:lnTo>
                <a:lnTo>
                  <a:pt x="15000" y="83333"/>
                </a:lnTo>
                <a:lnTo>
                  <a:pt x="15250" y="83333"/>
                </a:lnTo>
                <a:lnTo>
                  <a:pt x="15499" y="83333"/>
                </a:lnTo>
                <a:lnTo>
                  <a:pt x="15750" y="83333"/>
                </a:lnTo>
                <a:lnTo>
                  <a:pt x="16000" y="83333"/>
                </a:lnTo>
                <a:lnTo>
                  <a:pt x="16250" y="83333"/>
                </a:lnTo>
                <a:lnTo>
                  <a:pt x="16499" y="83333"/>
                </a:lnTo>
                <a:lnTo>
                  <a:pt x="16750" y="83333"/>
                </a:lnTo>
                <a:lnTo>
                  <a:pt x="17000" y="83333"/>
                </a:lnTo>
                <a:lnTo>
                  <a:pt x="17250" y="83333"/>
                </a:lnTo>
                <a:lnTo>
                  <a:pt x="17500" y="83333"/>
                </a:lnTo>
                <a:lnTo>
                  <a:pt x="17750" y="83333"/>
                </a:lnTo>
                <a:lnTo>
                  <a:pt x="18000" y="83333"/>
                </a:lnTo>
                <a:lnTo>
                  <a:pt x="18250" y="83333"/>
                </a:lnTo>
                <a:lnTo>
                  <a:pt x="18500" y="83333"/>
                </a:lnTo>
                <a:lnTo>
                  <a:pt x="18750" y="83333"/>
                </a:lnTo>
                <a:lnTo>
                  <a:pt x="19000" y="83333"/>
                </a:lnTo>
                <a:lnTo>
                  <a:pt x="19249" y="83333"/>
                </a:lnTo>
                <a:lnTo>
                  <a:pt x="19500" y="83333"/>
                </a:lnTo>
                <a:lnTo>
                  <a:pt x="19750" y="83333"/>
                </a:lnTo>
                <a:lnTo>
                  <a:pt x="20000" y="83333"/>
                </a:lnTo>
                <a:lnTo>
                  <a:pt x="20250" y="83333"/>
                </a:lnTo>
                <a:lnTo>
                  <a:pt x="20500" y="83333"/>
                </a:lnTo>
                <a:lnTo>
                  <a:pt x="20750" y="83333"/>
                </a:lnTo>
                <a:lnTo>
                  <a:pt x="21000" y="83333"/>
                </a:lnTo>
                <a:lnTo>
                  <a:pt x="21250" y="83333"/>
                </a:lnTo>
                <a:lnTo>
                  <a:pt x="21500" y="83333"/>
                </a:lnTo>
                <a:lnTo>
                  <a:pt x="21749" y="83333"/>
                </a:lnTo>
                <a:lnTo>
                  <a:pt x="22000" y="83333"/>
                </a:lnTo>
                <a:lnTo>
                  <a:pt x="22250" y="83333"/>
                </a:lnTo>
                <a:lnTo>
                  <a:pt x="22500" y="83333"/>
                </a:lnTo>
                <a:lnTo>
                  <a:pt x="22749" y="83333"/>
                </a:lnTo>
                <a:lnTo>
                  <a:pt x="23000" y="83333"/>
                </a:lnTo>
                <a:lnTo>
                  <a:pt x="23250" y="83333"/>
                </a:lnTo>
                <a:lnTo>
                  <a:pt x="23500" y="83333"/>
                </a:lnTo>
                <a:lnTo>
                  <a:pt x="23750" y="83333"/>
                </a:lnTo>
                <a:lnTo>
                  <a:pt x="24000" y="83333"/>
                </a:lnTo>
                <a:lnTo>
                  <a:pt x="24250" y="83333"/>
                </a:lnTo>
                <a:lnTo>
                  <a:pt x="24500" y="83333"/>
                </a:lnTo>
                <a:lnTo>
                  <a:pt x="24750" y="83333"/>
                </a:lnTo>
                <a:lnTo>
                  <a:pt x="25000" y="83333"/>
                </a:lnTo>
                <a:lnTo>
                  <a:pt x="25250" y="83333"/>
                </a:lnTo>
                <a:lnTo>
                  <a:pt x="25500" y="83333"/>
                </a:lnTo>
                <a:lnTo>
                  <a:pt x="25750" y="83333"/>
                </a:lnTo>
                <a:lnTo>
                  <a:pt x="26000" y="83333"/>
                </a:lnTo>
                <a:lnTo>
                  <a:pt x="26250" y="83333"/>
                </a:lnTo>
                <a:lnTo>
                  <a:pt x="26500" y="83333"/>
                </a:lnTo>
                <a:lnTo>
                  <a:pt x="26749" y="83333"/>
                </a:lnTo>
                <a:lnTo>
                  <a:pt x="27000" y="83333"/>
                </a:lnTo>
                <a:lnTo>
                  <a:pt x="27250" y="83333"/>
                </a:lnTo>
                <a:lnTo>
                  <a:pt x="27500" y="83333"/>
                </a:lnTo>
                <a:lnTo>
                  <a:pt x="27749" y="83333"/>
                </a:lnTo>
                <a:lnTo>
                  <a:pt x="27999" y="83333"/>
                </a:lnTo>
                <a:lnTo>
                  <a:pt x="28250" y="83333"/>
                </a:lnTo>
                <a:lnTo>
                  <a:pt x="28500" y="83333"/>
                </a:lnTo>
                <a:lnTo>
                  <a:pt x="28749" y="83333"/>
                </a:lnTo>
                <a:lnTo>
                  <a:pt x="28999" y="83333"/>
                </a:lnTo>
                <a:lnTo>
                  <a:pt x="29250" y="83333"/>
                </a:lnTo>
                <a:lnTo>
                  <a:pt x="29500" y="83333"/>
                </a:lnTo>
                <a:lnTo>
                  <a:pt x="29750" y="83333"/>
                </a:lnTo>
                <a:lnTo>
                  <a:pt x="30000" y="83333"/>
                </a:lnTo>
                <a:lnTo>
                  <a:pt x="30250" y="83333"/>
                </a:lnTo>
                <a:lnTo>
                  <a:pt x="30500" y="83333"/>
                </a:lnTo>
                <a:lnTo>
                  <a:pt x="30750" y="83333"/>
                </a:lnTo>
                <a:lnTo>
                  <a:pt x="31000" y="83333"/>
                </a:lnTo>
                <a:lnTo>
                  <a:pt x="31250" y="83333"/>
                </a:lnTo>
                <a:lnTo>
                  <a:pt x="31500" y="83333"/>
                </a:lnTo>
                <a:lnTo>
                  <a:pt x="31750" y="83333"/>
                </a:lnTo>
                <a:lnTo>
                  <a:pt x="32000" y="83333"/>
                </a:lnTo>
                <a:lnTo>
                  <a:pt x="32250" y="83333"/>
                </a:lnTo>
                <a:lnTo>
                  <a:pt x="32500" y="83333"/>
                </a:lnTo>
                <a:lnTo>
                  <a:pt x="32750" y="83333"/>
                </a:lnTo>
                <a:lnTo>
                  <a:pt x="32999" y="83333"/>
                </a:lnTo>
                <a:lnTo>
                  <a:pt x="33250" y="83333"/>
                </a:lnTo>
                <a:lnTo>
                  <a:pt x="33500" y="83333"/>
                </a:lnTo>
                <a:lnTo>
                  <a:pt x="33750" y="83333"/>
                </a:lnTo>
                <a:lnTo>
                  <a:pt x="34000" y="83333"/>
                </a:lnTo>
                <a:lnTo>
                  <a:pt x="34250" y="83333"/>
                </a:lnTo>
                <a:lnTo>
                  <a:pt x="34500" y="83333"/>
                </a:lnTo>
                <a:lnTo>
                  <a:pt x="34750" y="83333"/>
                </a:lnTo>
                <a:lnTo>
                  <a:pt x="35000" y="83333"/>
                </a:lnTo>
                <a:lnTo>
                  <a:pt x="35250" y="83333"/>
                </a:lnTo>
                <a:lnTo>
                  <a:pt x="35500" y="83333"/>
                </a:lnTo>
                <a:lnTo>
                  <a:pt x="35750" y="83333"/>
                </a:lnTo>
                <a:lnTo>
                  <a:pt x="36000" y="83333"/>
                </a:lnTo>
                <a:lnTo>
                  <a:pt x="36250" y="83333"/>
                </a:lnTo>
                <a:lnTo>
                  <a:pt x="36500" y="83333"/>
                </a:lnTo>
                <a:lnTo>
                  <a:pt x="36750" y="83333"/>
                </a:lnTo>
                <a:lnTo>
                  <a:pt x="37000" y="83333"/>
                </a:lnTo>
                <a:lnTo>
                  <a:pt x="37250" y="83333"/>
                </a:lnTo>
                <a:lnTo>
                  <a:pt x="37500" y="83333"/>
                </a:lnTo>
                <a:lnTo>
                  <a:pt x="37750" y="83333"/>
                </a:lnTo>
                <a:lnTo>
                  <a:pt x="38000" y="83333"/>
                </a:lnTo>
                <a:lnTo>
                  <a:pt x="38250" y="83333"/>
                </a:lnTo>
                <a:lnTo>
                  <a:pt x="38500" y="83333"/>
                </a:lnTo>
                <a:lnTo>
                  <a:pt x="38750" y="83333"/>
                </a:lnTo>
                <a:lnTo>
                  <a:pt x="39000" y="83333"/>
                </a:lnTo>
                <a:lnTo>
                  <a:pt x="39249" y="83333"/>
                </a:lnTo>
                <a:lnTo>
                  <a:pt x="39500" y="83333"/>
                </a:lnTo>
                <a:lnTo>
                  <a:pt x="39750" y="83333"/>
                </a:lnTo>
                <a:lnTo>
                  <a:pt x="40000" y="83333"/>
                </a:lnTo>
                <a:lnTo>
                  <a:pt x="40250" y="83333"/>
                </a:lnTo>
                <a:lnTo>
                  <a:pt x="40500" y="83333"/>
                </a:lnTo>
                <a:lnTo>
                  <a:pt x="40750" y="83333"/>
                </a:lnTo>
                <a:lnTo>
                  <a:pt x="41000" y="83333"/>
                </a:lnTo>
                <a:lnTo>
                  <a:pt x="41250" y="83333"/>
                </a:lnTo>
                <a:lnTo>
                  <a:pt x="41500" y="83333"/>
                </a:lnTo>
                <a:lnTo>
                  <a:pt x="41750" y="83333"/>
                </a:lnTo>
                <a:lnTo>
                  <a:pt x="42000" y="83333"/>
                </a:lnTo>
                <a:lnTo>
                  <a:pt x="42250" y="83333"/>
                </a:lnTo>
                <a:lnTo>
                  <a:pt x="42500" y="83333"/>
                </a:lnTo>
                <a:lnTo>
                  <a:pt x="42750" y="83333"/>
                </a:lnTo>
                <a:lnTo>
                  <a:pt x="43000" y="83333"/>
                </a:lnTo>
                <a:lnTo>
                  <a:pt x="43250" y="83333"/>
                </a:lnTo>
                <a:lnTo>
                  <a:pt x="43499" y="83333"/>
                </a:lnTo>
                <a:lnTo>
                  <a:pt x="43750" y="83333"/>
                </a:lnTo>
                <a:lnTo>
                  <a:pt x="44000" y="83333"/>
                </a:lnTo>
                <a:lnTo>
                  <a:pt x="44250" y="83333"/>
                </a:lnTo>
                <a:lnTo>
                  <a:pt x="44500" y="83333"/>
                </a:lnTo>
                <a:lnTo>
                  <a:pt x="44749" y="83333"/>
                </a:lnTo>
                <a:lnTo>
                  <a:pt x="45000" y="83333"/>
                </a:lnTo>
                <a:lnTo>
                  <a:pt x="45250" y="83333"/>
                </a:lnTo>
                <a:lnTo>
                  <a:pt x="45499" y="83333"/>
                </a:lnTo>
                <a:lnTo>
                  <a:pt x="45750" y="83333"/>
                </a:lnTo>
                <a:lnTo>
                  <a:pt x="46000" y="83333"/>
                </a:lnTo>
                <a:lnTo>
                  <a:pt x="46250" y="83333"/>
                </a:lnTo>
                <a:lnTo>
                  <a:pt x="46500" y="83333"/>
                </a:lnTo>
                <a:lnTo>
                  <a:pt x="46750" y="83333"/>
                </a:lnTo>
                <a:lnTo>
                  <a:pt x="47000" y="83333"/>
                </a:lnTo>
                <a:lnTo>
                  <a:pt x="47250" y="83333"/>
                </a:lnTo>
                <a:lnTo>
                  <a:pt x="47500" y="83333"/>
                </a:lnTo>
                <a:lnTo>
                  <a:pt x="47750" y="83333"/>
                </a:lnTo>
                <a:lnTo>
                  <a:pt x="48000" y="83333"/>
                </a:lnTo>
                <a:lnTo>
                  <a:pt x="48250" y="83333"/>
                </a:lnTo>
                <a:lnTo>
                  <a:pt x="48500" y="83333"/>
                </a:lnTo>
                <a:lnTo>
                  <a:pt x="48750" y="83333"/>
                </a:lnTo>
                <a:lnTo>
                  <a:pt x="49000" y="83333"/>
                </a:lnTo>
                <a:lnTo>
                  <a:pt x="49250" y="83333"/>
                </a:lnTo>
                <a:lnTo>
                  <a:pt x="49500" y="83333"/>
                </a:lnTo>
                <a:lnTo>
                  <a:pt x="49749" y="83333"/>
                </a:lnTo>
                <a:lnTo>
                  <a:pt x="50000" y="83333"/>
                </a:lnTo>
                <a:lnTo>
                  <a:pt x="50250" y="16666"/>
                </a:lnTo>
                <a:lnTo>
                  <a:pt x="50500" y="16666"/>
                </a:lnTo>
                <a:lnTo>
                  <a:pt x="50750" y="16666"/>
                </a:lnTo>
                <a:lnTo>
                  <a:pt x="51000" y="16666"/>
                </a:lnTo>
                <a:lnTo>
                  <a:pt x="51249" y="16666"/>
                </a:lnTo>
                <a:lnTo>
                  <a:pt x="51500" y="16666"/>
                </a:lnTo>
                <a:lnTo>
                  <a:pt x="51749" y="16666"/>
                </a:lnTo>
                <a:lnTo>
                  <a:pt x="52000" y="16666"/>
                </a:lnTo>
                <a:lnTo>
                  <a:pt x="52250" y="16666"/>
                </a:lnTo>
                <a:lnTo>
                  <a:pt x="52500" y="16666"/>
                </a:lnTo>
                <a:lnTo>
                  <a:pt x="52750" y="16666"/>
                </a:lnTo>
                <a:lnTo>
                  <a:pt x="53000" y="16666"/>
                </a:lnTo>
                <a:lnTo>
                  <a:pt x="53250" y="16666"/>
                </a:lnTo>
                <a:lnTo>
                  <a:pt x="53499" y="16666"/>
                </a:lnTo>
                <a:lnTo>
                  <a:pt x="53750" y="16666"/>
                </a:lnTo>
                <a:lnTo>
                  <a:pt x="54000" y="16666"/>
                </a:lnTo>
                <a:lnTo>
                  <a:pt x="54250" y="16666"/>
                </a:lnTo>
                <a:lnTo>
                  <a:pt x="54500" y="16666"/>
                </a:lnTo>
                <a:lnTo>
                  <a:pt x="54750" y="16666"/>
                </a:lnTo>
                <a:lnTo>
                  <a:pt x="55000" y="16666"/>
                </a:lnTo>
                <a:lnTo>
                  <a:pt x="55250" y="16666"/>
                </a:lnTo>
                <a:lnTo>
                  <a:pt x="55499" y="16666"/>
                </a:lnTo>
                <a:lnTo>
                  <a:pt x="55750" y="16666"/>
                </a:lnTo>
                <a:lnTo>
                  <a:pt x="55999" y="16666"/>
                </a:lnTo>
                <a:lnTo>
                  <a:pt x="56250" y="16666"/>
                </a:lnTo>
                <a:lnTo>
                  <a:pt x="56500" y="16666"/>
                </a:lnTo>
                <a:lnTo>
                  <a:pt x="56750" y="16666"/>
                </a:lnTo>
                <a:lnTo>
                  <a:pt x="57000" y="16666"/>
                </a:lnTo>
                <a:lnTo>
                  <a:pt x="57250" y="16666"/>
                </a:lnTo>
                <a:lnTo>
                  <a:pt x="57499" y="16666"/>
                </a:lnTo>
                <a:lnTo>
                  <a:pt x="57750" y="16666"/>
                </a:lnTo>
                <a:lnTo>
                  <a:pt x="57999" y="16666"/>
                </a:lnTo>
                <a:lnTo>
                  <a:pt x="58250" y="16666"/>
                </a:lnTo>
                <a:lnTo>
                  <a:pt x="58500" y="16666"/>
                </a:lnTo>
                <a:lnTo>
                  <a:pt x="58750" y="16666"/>
                </a:lnTo>
                <a:lnTo>
                  <a:pt x="59000" y="16666"/>
                </a:lnTo>
                <a:lnTo>
                  <a:pt x="59250" y="16666"/>
                </a:lnTo>
                <a:lnTo>
                  <a:pt x="59500" y="16666"/>
                </a:lnTo>
                <a:lnTo>
                  <a:pt x="59749" y="16666"/>
                </a:lnTo>
                <a:lnTo>
                  <a:pt x="60000" y="16666"/>
                </a:lnTo>
                <a:lnTo>
                  <a:pt x="60250" y="16666"/>
                </a:lnTo>
                <a:lnTo>
                  <a:pt x="60500" y="16666"/>
                </a:lnTo>
                <a:lnTo>
                  <a:pt x="60750" y="16666"/>
                </a:lnTo>
                <a:lnTo>
                  <a:pt x="61000" y="16666"/>
                </a:lnTo>
                <a:lnTo>
                  <a:pt x="61250" y="16666"/>
                </a:lnTo>
                <a:lnTo>
                  <a:pt x="61500" y="16666"/>
                </a:lnTo>
                <a:lnTo>
                  <a:pt x="61749" y="16666"/>
                </a:lnTo>
                <a:lnTo>
                  <a:pt x="62000" y="16666"/>
                </a:lnTo>
                <a:lnTo>
                  <a:pt x="62249" y="16666"/>
                </a:lnTo>
                <a:lnTo>
                  <a:pt x="62500" y="16666"/>
                </a:lnTo>
                <a:lnTo>
                  <a:pt x="62750" y="16666"/>
                </a:lnTo>
                <a:lnTo>
                  <a:pt x="63000" y="16666"/>
                </a:lnTo>
                <a:lnTo>
                  <a:pt x="63250" y="16666"/>
                </a:lnTo>
                <a:lnTo>
                  <a:pt x="63500" y="16666"/>
                </a:lnTo>
                <a:lnTo>
                  <a:pt x="63749" y="16666"/>
                </a:lnTo>
                <a:lnTo>
                  <a:pt x="64000" y="16666"/>
                </a:lnTo>
                <a:lnTo>
                  <a:pt x="64249" y="16666"/>
                </a:lnTo>
                <a:lnTo>
                  <a:pt x="64500" y="16666"/>
                </a:lnTo>
                <a:lnTo>
                  <a:pt x="64750" y="16666"/>
                </a:lnTo>
                <a:lnTo>
                  <a:pt x="65000" y="16666"/>
                </a:lnTo>
                <a:lnTo>
                  <a:pt x="65250" y="16666"/>
                </a:lnTo>
                <a:lnTo>
                  <a:pt x="65500" y="16666"/>
                </a:lnTo>
                <a:lnTo>
                  <a:pt x="65750" y="16666"/>
                </a:lnTo>
                <a:lnTo>
                  <a:pt x="65999" y="16666"/>
                </a:lnTo>
                <a:lnTo>
                  <a:pt x="66250" y="16666"/>
                </a:lnTo>
                <a:lnTo>
                  <a:pt x="66500" y="16666"/>
                </a:lnTo>
                <a:lnTo>
                  <a:pt x="66750" y="16666"/>
                </a:lnTo>
                <a:lnTo>
                  <a:pt x="67000" y="16666"/>
                </a:lnTo>
                <a:lnTo>
                  <a:pt x="67250" y="16666"/>
                </a:lnTo>
                <a:lnTo>
                  <a:pt x="67500" y="16666"/>
                </a:lnTo>
                <a:lnTo>
                  <a:pt x="67750" y="16666"/>
                </a:lnTo>
                <a:lnTo>
                  <a:pt x="68000" y="16666"/>
                </a:lnTo>
                <a:lnTo>
                  <a:pt x="68250" y="16666"/>
                </a:lnTo>
                <a:lnTo>
                  <a:pt x="68500" y="16666"/>
                </a:lnTo>
                <a:lnTo>
                  <a:pt x="68750" y="16666"/>
                </a:lnTo>
                <a:lnTo>
                  <a:pt x="69000" y="16666"/>
                </a:lnTo>
                <a:lnTo>
                  <a:pt x="69250" y="16666"/>
                </a:lnTo>
                <a:lnTo>
                  <a:pt x="69500" y="16666"/>
                </a:lnTo>
                <a:lnTo>
                  <a:pt x="69750" y="16666"/>
                </a:lnTo>
                <a:lnTo>
                  <a:pt x="70000" y="16666"/>
                </a:lnTo>
                <a:lnTo>
                  <a:pt x="70250" y="16666"/>
                </a:lnTo>
                <a:lnTo>
                  <a:pt x="70500" y="16666"/>
                </a:lnTo>
                <a:lnTo>
                  <a:pt x="70750" y="16666"/>
                </a:lnTo>
                <a:lnTo>
                  <a:pt x="71000" y="16666"/>
                </a:lnTo>
                <a:lnTo>
                  <a:pt x="71250" y="16666"/>
                </a:lnTo>
                <a:lnTo>
                  <a:pt x="71500" y="16666"/>
                </a:lnTo>
                <a:lnTo>
                  <a:pt x="71750" y="16666"/>
                </a:lnTo>
                <a:lnTo>
                  <a:pt x="72000" y="16666"/>
                </a:lnTo>
                <a:lnTo>
                  <a:pt x="72249" y="16666"/>
                </a:lnTo>
                <a:lnTo>
                  <a:pt x="72500" y="16666"/>
                </a:lnTo>
                <a:lnTo>
                  <a:pt x="72750" y="16666"/>
                </a:lnTo>
                <a:lnTo>
                  <a:pt x="73000" y="16666"/>
                </a:lnTo>
                <a:lnTo>
                  <a:pt x="73250" y="16666"/>
                </a:lnTo>
                <a:lnTo>
                  <a:pt x="73500" y="16666"/>
                </a:lnTo>
                <a:lnTo>
                  <a:pt x="73750" y="16666"/>
                </a:lnTo>
                <a:lnTo>
                  <a:pt x="74000" y="16666"/>
                </a:lnTo>
                <a:lnTo>
                  <a:pt x="74250" y="16666"/>
                </a:lnTo>
                <a:lnTo>
                  <a:pt x="74500" y="16666"/>
                </a:lnTo>
                <a:lnTo>
                  <a:pt x="74750" y="16666"/>
                </a:lnTo>
                <a:lnTo>
                  <a:pt x="75000" y="16666"/>
                </a:lnTo>
                <a:lnTo>
                  <a:pt x="75250" y="16666"/>
                </a:lnTo>
                <a:lnTo>
                  <a:pt x="75500" y="16666"/>
                </a:lnTo>
                <a:lnTo>
                  <a:pt x="75750" y="16666"/>
                </a:lnTo>
                <a:lnTo>
                  <a:pt x="76000" y="16666"/>
                </a:lnTo>
                <a:lnTo>
                  <a:pt x="76250" y="16666"/>
                </a:lnTo>
                <a:lnTo>
                  <a:pt x="76500" y="16666"/>
                </a:lnTo>
                <a:lnTo>
                  <a:pt x="76750" y="16666"/>
                </a:lnTo>
                <a:lnTo>
                  <a:pt x="77000" y="16666"/>
                </a:lnTo>
                <a:lnTo>
                  <a:pt x="77250" y="16666"/>
                </a:lnTo>
                <a:lnTo>
                  <a:pt x="77500" y="16666"/>
                </a:lnTo>
                <a:lnTo>
                  <a:pt x="77750" y="16666"/>
                </a:lnTo>
                <a:lnTo>
                  <a:pt x="78000" y="16666"/>
                </a:lnTo>
                <a:lnTo>
                  <a:pt x="78250" y="16666"/>
                </a:lnTo>
                <a:lnTo>
                  <a:pt x="78499" y="16666"/>
                </a:lnTo>
                <a:lnTo>
                  <a:pt x="78750" y="16666"/>
                </a:lnTo>
                <a:lnTo>
                  <a:pt x="79000" y="16666"/>
                </a:lnTo>
                <a:lnTo>
                  <a:pt x="79250" y="16666"/>
                </a:lnTo>
                <a:lnTo>
                  <a:pt x="79500" y="16666"/>
                </a:lnTo>
                <a:lnTo>
                  <a:pt x="79750" y="16666"/>
                </a:lnTo>
                <a:lnTo>
                  <a:pt x="80000" y="16666"/>
                </a:lnTo>
                <a:lnTo>
                  <a:pt x="80250" y="16666"/>
                </a:lnTo>
                <a:lnTo>
                  <a:pt x="80500" y="16666"/>
                </a:lnTo>
                <a:lnTo>
                  <a:pt x="80749" y="16666"/>
                </a:lnTo>
                <a:lnTo>
                  <a:pt x="81000" y="16666"/>
                </a:lnTo>
                <a:lnTo>
                  <a:pt x="81250" y="16666"/>
                </a:lnTo>
                <a:lnTo>
                  <a:pt x="81500" y="16666"/>
                </a:lnTo>
                <a:lnTo>
                  <a:pt x="81750" y="16666"/>
                </a:lnTo>
                <a:lnTo>
                  <a:pt x="82000" y="16666"/>
                </a:lnTo>
                <a:lnTo>
                  <a:pt x="82250" y="16666"/>
                </a:lnTo>
                <a:lnTo>
                  <a:pt x="82500" y="16666"/>
                </a:lnTo>
                <a:lnTo>
                  <a:pt x="82750" y="16666"/>
                </a:lnTo>
                <a:lnTo>
                  <a:pt x="83000" y="16666"/>
                </a:lnTo>
                <a:lnTo>
                  <a:pt x="83249" y="16666"/>
                </a:lnTo>
                <a:lnTo>
                  <a:pt x="83500" y="16666"/>
                </a:lnTo>
                <a:lnTo>
                  <a:pt x="83750" y="16666"/>
                </a:lnTo>
                <a:lnTo>
                  <a:pt x="84000" y="16666"/>
                </a:lnTo>
                <a:lnTo>
                  <a:pt x="84250" y="16666"/>
                </a:lnTo>
                <a:lnTo>
                  <a:pt x="84500" y="16666"/>
                </a:lnTo>
                <a:lnTo>
                  <a:pt x="84749" y="16666"/>
                </a:lnTo>
                <a:lnTo>
                  <a:pt x="85000" y="16666"/>
                </a:lnTo>
                <a:lnTo>
                  <a:pt x="85250" y="16666"/>
                </a:lnTo>
                <a:lnTo>
                  <a:pt x="85500" y="16666"/>
                </a:lnTo>
                <a:lnTo>
                  <a:pt x="85750" y="16666"/>
                </a:lnTo>
                <a:lnTo>
                  <a:pt x="86000" y="16666"/>
                </a:lnTo>
                <a:lnTo>
                  <a:pt x="86250" y="16666"/>
                </a:lnTo>
                <a:lnTo>
                  <a:pt x="86500" y="16666"/>
                </a:lnTo>
                <a:lnTo>
                  <a:pt x="86750" y="16666"/>
                </a:lnTo>
                <a:lnTo>
                  <a:pt x="86999" y="16666"/>
                </a:lnTo>
                <a:lnTo>
                  <a:pt x="87250" y="16666"/>
                </a:lnTo>
                <a:lnTo>
                  <a:pt x="87500" y="16666"/>
                </a:lnTo>
                <a:lnTo>
                  <a:pt x="87750" y="16666"/>
                </a:lnTo>
                <a:lnTo>
                  <a:pt x="88000" y="16666"/>
                </a:lnTo>
                <a:lnTo>
                  <a:pt x="88250" y="16666"/>
                </a:lnTo>
                <a:lnTo>
                  <a:pt x="88500" y="16666"/>
                </a:lnTo>
                <a:lnTo>
                  <a:pt x="88750" y="16666"/>
                </a:lnTo>
                <a:lnTo>
                  <a:pt x="89000" y="16666"/>
                </a:lnTo>
                <a:lnTo>
                  <a:pt x="89250" y="16666"/>
                </a:lnTo>
                <a:lnTo>
                  <a:pt x="89499" y="16666"/>
                </a:lnTo>
                <a:lnTo>
                  <a:pt x="89750" y="16666"/>
                </a:lnTo>
                <a:lnTo>
                  <a:pt x="90000" y="16666"/>
                </a:lnTo>
                <a:lnTo>
                  <a:pt x="90250" y="16666"/>
                </a:lnTo>
                <a:lnTo>
                  <a:pt x="90500" y="16666"/>
                </a:lnTo>
                <a:lnTo>
                  <a:pt x="90750" y="16666"/>
                </a:lnTo>
                <a:lnTo>
                  <a:pt x="90999" y="16666"/>
                </a:lnTo>
                <a:lnTo>
                  <a:pt x="91250" y="16666"/>
                </a:lnTo>
                <a:lnTo>
                  <a:pt x="91500" y="16666"/>
                </a:lnTo>
                <a:lnTo>
                  <a:pt x="91750" y="16666"/>
                </a:lnTo>
                <a:lnTo>
                  <a:pt x="92000" y="16666"/>
                </a:lnTo>
                <a:lnTo>
                  <a:pt x="92250" y="16666"/>
                </a:lnTo>
                <a:lnTo>
                  <a:pt x="92500" y="16666"/>
                </a:lnTo>
                <a:lnTo>
                  <a:pt x="92750" y="16666"/>
                </a:lnTo>
                <a:lnTo>
                  <a:pt x="93000" y="16666"/>
                </a:lnTo>
                <a:lnTo>
                  <a:pt x="93249" y="16666"/>
                </a:lnTo>
                <a:lnTo>
                  <a:pt x="93500" y="16666"/>
                </a:lnTo>
                <a:lnTo>
                  <a:pt x="93750" y="16666"/>
                </a:lnTo>
                <a:lnTo>
                  <a:pt x="94000" y="16666"/>
                </a:lnTo>
                <a:lnTo>
                  <a:pt x="94250" y="16666"/>
                </a:lnTo>
                <a:lnTo>
                  <a:pt x="94500" y="16666"/>
                </a:lnTo>
                <a:lnTo>
                  <a:pt x="94750" y="16666"/>
                </a:lnTo>
                <a:lnTo>
                  <a:pt x="95000" y="16666"/>
                </a:lnTo>
                <a:lnTo>
                  <a:pt x="95250" y="16666"/>
                </a:lnTo>
                <a:lnTo>
                  <a:pt x="95500" y="16666"/>
                </a:lnTo>
                <a:lnTo>
                  <a:pt x="95749" y="16666"/>
                </a:lnTo>
                <a:lnTo>
                  <a:pt x="96000" y="16666"/>
                </a:lnTo>
                <a:lnTo>
                  <a:pt x="96250" y="16666"/>
                </a:lnTo>
                <a:lnTo>
                  <a:pt x="96500" y="16666"/>
                </a:lnTo>
                <a:lnTo>
                  <a:pt x="96750" y="16666"/>
                </a:lnTo>
                <a:lnTo>
                  <a:pt x="97000" y="16666"/>
                </a:lnTo>
                <a:lnTo>
                  <a:pt x="97249" y="16666"/>
                </a:lnTo>
                <a:lnTo>
                  <a:pt x="97500" y="16666"/>
                </a:lnTo>
                <a:lnTo>
                  <a:pt x="97750" y="16666"/>
                </a:lnTo>
                <a:lnTo>
                  <a:pt x="98000" y="16666"/>
                </a:lnTo>
                <a:lnTo>
                  <a:pt x="98250" y="16666"/>
                </a:lnTo>
                <a:lnTo>
                  <a:pt x="98500" y="16666"/>
                </a:lnTo>
                <a:lnTo>
                  <a:pt x="98750" y="16666"/>
                </a:lnTo>
                <a:lnTo>
                  <a:pt x="99000" y="16666"/>
                </a:lnTo>
                <a:lnTo>
                  <a:pt x="99250" y="16666"/>
                </a:lnTo>
                <a:lnTo>
                  <a:pt x="99499" y="16666"/>
                </a:lnTo>
                <a:lnTo>
                  <a:pt x="99750" y="16666"/>
                </a:lnTo>
                <a:lnTo>
                  <a:pt x="100000" y="16666"/>
                </a:lnTo>
              </a:path>
            </a:pathLst>
          </a:custGeom>
          <a:noFill/>
          <a:ln w="31750">
            <a:solidFill>
              <a:srgbClr val="13B5A6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 txBox="1"/>
          <p:nvPr/>
        </p:nvSpPr>
        <p:spPr>
          <a:xfrm>
            <a:off x="841248" y="3840480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h(x) = 1 (x&gt;0)、0 (x≤0)</a:t>
            </a:r>
            <a:endParaRPr lang="ja-JP" sz="1400" dirty="0"/>
          </a:p>
        </p:txBody>
      </p:sp>
      <p:sp>
        <p:nvSpPr>
          <p:cNvPr id="14" name="Shape 14"/>
          <p:cNvSpPr txBox="1"/>
          <p:nvPr/>
        </p:nvSpPr>
        <p:spPr>
          <a:xfrm>
            <a:off x="841248" y="4297680"/>
            <a:ext cx="2953512" cy="384048"/>
          </a:xfrm>
          <a:prstGeom prst="roundRect">
            <a:avLst>
              <a:gd name="adj" fmla="val 14285"/>
            </a:avLst>
          </a:prstGeom>
          <a:solidFill>
            <a:srgbClr val="0B13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np.array(x &gt; 0, dtype=np.int32)</a:t>
            </a:r>
            <a:endParaRPr lang="ja-JP" sz="1050" dirty="0"/>
          </a:p>
        </p:txBody>
      </p:sp>
      <p:sp>
        <p:nvSpPr>
          <p:cNvPr id="15" name="Shape 15"/>
          <p:cNvSpPr txBox="1"/>
          <p:nvPr/>
        </p:nvSpPr>
        <p:spPr>
          <a:xfrm>
            <a:off x="841248" y="480060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0 か 1 の 2 値だけを出す。パーセプトロンで使う。</a:t>
            </a:r>
            <a:endParaRPr lang="ja-JP" sz="1200" dirty="0"/>
          </a:p>
        </p:txBody>
      </p:sp>
      <p:sp>
        <p:nvSpPr>
          <p:cNvPr id="16" name="Shape 16"/>
          <p:cNvSpPr/>
          <p:nvPr/>
        </p:nvSpPr>
        <p:spPr>
          <a:xfrm>
            <a:off x="4343400" y="173736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 txBox="1"/>
          <p:nvPr/>
        </p:nvSpPr>
        <p:spPr>
          <a:xfrm>
            <a:off x="4617720" y="1874520"/>
            <a:ext cx="29535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6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シグモイド関数</a:t>
            </a:r>
            <a:endParaRPr lang="ja-JP" sz="1600" dirty="0"/>
          </a:p>
        </p:txBody>
      </p:sp>
      <p:sp>
        <p:nvSpPr>
          <p:cNvPr id="18" name="Shape 18"/>
          <p:cNvSpPr/>
          <p:nvPr/>
        </p:nvSpPr>
        <p:spPr>
          <a:xfrm>
            <a:off x="4617720" y="2377440"/>
            <a:ext cx="2953512" cy="137160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19" name="Line 19"/>
          <p:cNvCxnSpPr/>
          <p:nvPr/>
        </p:nvCxnSpPr>
        <p:spPr>
          <a:xfrm>
            <a:off x="4617720" y="3520440"/>
            <a:ext cx="2953512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094476" y="2377440"/>
            <a:ext cx="0" cy="137160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4617720" y="2377440"/>
            <a:ext cx="2953512" cy="13716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82887"/>
                </a:moveTo>
                <a:lnTo>
                  <a:pt x="833" y="82848"/>
                </a:lnTo>
                <a:lnTo>
                  <a:pt x="1666" y="82806"/>
                </a:lnTo>
                <a:lnTo>
                  <a:pt x="2500" y="82761"/>
                </a:lnTo>
                <a:lnTo>
                  <a:pt x="3333" y="82712"/>
                </a:lnTo>
                <a:lnTo>
                  <a:pt x="4166" y="82658"/>
                </a:lnTo>
                <a:lnTo>
                  <a:pt x="5000" y="82600"/>
                </a:lnTo>
                <a:lnTo>
                  <a:pt x="5833" y="82537"/>
                </a:lnTo>
                <a:lnTo>
                  <a:pt x="6666" y="82469"/>
                </a:lnTo>
                <a:lnTo>
                  <a:pt x="7500" y="82395"/>
                </a:lnTo>
                <a:lnTo>
                  <a:pt x="8333" y="82315"/>
                </a:lnTo>
                <a:lnTo>
                  <a:pt x="9166" y="82228"/>
                </a:lnTo>
                <a:lnTo>
                  <a:pt x="10000" y="82134"/>
                </a:lnTo>
                <a:lnTo>
                  <a:pt x="10833" y="82032"/>
                </a:lnTo>
                <a:lnTo>
                  <a:pt x="11666" y="81921"/>
                </a:lnTo>
                <a:lnTo>
                  <a:pt x="12500" y="81801"/>
                </a:lnTo>
                <a:lnTo>
                  <a:pt x="13333" y="81671"/>
                </a:lnTo>
                <a:lnTo>
                  <a:pt x="14166" y="81531"/>
                </a:lnTo>
                <a:lnTo>
                  <a:pt x="15000" y="81379"/>
                </a:lnTo>
                <a:lnTo>
                  <a:pt x="15833" y="81214"/>
                </a:lnTo>
                <a:lnTo>
                  <a:pt x="16666" y="81036"/>
                </a:lnTo>
                <a:lnTo>
                  <a:pt x="17500" y="80844"/>
                </a:lnTo>
                <a:lnTo>
                  <a:pt x="18333" y="80637"/>
                </a:lnTo>
                <a:lnTo>
                  <a:pt x="19166" y="80413"/>
                </a:lnTo>
                <a:lnTo>
                  <a:pt x="20000" y="80171"/>
                </a:lnTo>
                <a:lnTo>
                  <a:pt x="20833" y="79910"/>
                </a:lnTo>
                <a:lnTo>
                  <a:pt x="21666" y="79630"/>
                </a:lnTo>
                <a:lnTo>
                  <a:pt x="22500" y="79327"/>
                </a:lnTo>
                <a:lnTo>
                  <a:pt x="23333" y="79002"/>
                </a:lnTo>
                <a:lnTo>
                  <a:pt x="24166" y="78652"/>
                </a:lnTo>
                <a:lnTo>
                  <a:pt x="25000" y="78276"/>
                </a:lnTo>
                <a:lnTo>
                  <a:pt x="25833" y="77872"/>
                </a:lnTo>
                <a:lnTo>
                  <a:pt x="26666" y="77440"/>
                </a:lnTo>
                <a:lnTo>
                  <a:pt x="27500" y="76976"/>
                </a:lnTo>
                <a:lnTo>
                  <a:pt x="28333" y="76481"/>
                </a:lnTo>
                <a:lnTo>
                  <a:pt x="29166" y="75951"/>
                </a:lnTo>
                <a:lnTo>
                  <a:pt x="30000" y="75386"/>
                </a:lnTo>
                <a:lnTo>
                  <a:pt x="30833" y="74784"/>
                </a:lnTo>
                <a:lnTo>
                  <a:pt x="31666" y="74143"/>
                </a:lnTo>
                <a:lnTo>
                  <a:pt x="32500" y="73463"/>
                </a:lnTo>
                <a:lnTo>
                  <a:pt x="33333" y="72742"/>
                </a:lnTo>
                <a:lnTo>
                  <a:pt x="34166" y="71978"/>
                </a:lnTo>
                <a:lnTo>
                  <a:pt x="35000" y="71171"/>
                </a:lnTo>
                <a:lnTo>
                  <a:pt x="35833" y="70321"/>
                </a:lnTo>
                <a:lnTo>
                  <a:pt x="36666" y="69426"/>
                </a:lnTo>
                <a:lnTo>
                  <a:pt x="37500" y="68486"/>
                </a:lnTo>
                <a:lnTo>
                  <a:pt x="38333" y="67502"/>
                </a:lnTo>
                <a:lnTo>
                  <a:pt x="39166" y="66474"/>
                </a:lnTo>
                <a:lnTo>
                  <a:pt x="40000" y="65403"/>
                </a:lnTo>
                <a:lnTo>
                  <a:pt x="40833" y="64290"/>
                </a:lnTo>
                <a:lnTo>
                  <a:pt x="41666" y="63137"/>
                </a:lnTo>
                <a:lnTo>
                  <a:pt x="42500" y="61945"/>
                </a:lnTo>
                <a:lnTo>
                  <a:pt x="43333" y="60717"/>
                </a:lnTo>
                <a:lnTo>
                  <a:pt x="44166" y="59455"/>
                </a:lnTo>
                <a:lnTo>
                  <a:pt x="45000" y="58163"/>
                </a:lnTo>
                <a:lnTo>
                  <a:pt x="45833" y="56845"/>
                </a:lnTo>
                <a:lnTo>
                  <a:pt x="46666" y="55504"/>
                </a:lnTo>
                <a:lnTo>
                  <a:pt x="47500" y="54145"/>
                </a:lnTo>
                <a:lnTo>
                  <a:pt x="48333" y="52771"/>
                </a:lnTo>
                <a:lnTo>
                  <a:pt x="49166" y="51388"/>
                </a:lnTo>
                <a:lnTo>
                  <a:pt x="50000" y="50000"/>
                </a:lnTo>
                <a:lnTo>
                  <a:pt x="50833" y="48611"/>
                </a:lnTo>
                <a:lnTo>
                  <a:pt x="51666" y="47228"/>
                </a:lnTo>
                <a:lnTo>
                  <a:pt x="52500" y="45854"/>
                </a:lnTo>
                <a:lnTo>
                  <a:pt x="53333" y="44495"/>
                </a:lnTo>
                <a:lnTo>
                  <a:pt x="54166" y="43154"/>
                </a:lnTo>
                <a:lnTo>
                  <a:pt x="55000" y="41836"/>
                </a:lnTo>
                <a:lnTo>
                  <a:pt x="55833" y="40544"/>
                </a:lnTo>
                <a:lnTo>
                  <a:pt x="56666" y="39282"/>
                </a:lnTo>
                <a:lnTo>
                  <a:pt x="57499" y="38054"/>
                </a:lnTo>
                <a:lnTo>
                  <a:pt x="58333" y="36862"/>
                </a:lnTo>
                <a:lnTo>
                  <a:pt x="59166" y="35709"/>
                </a:lnTo>
                <a:lnTo>
                  <a:pt x="60000" y="34596"/>
                </a:lnTo>
                <a:lnTo>
                  <a:pt x="60833" y="33525"/>
                </a:lnTo>
                <a:lnTo>
                  <a:pt x="61666" y="32497"/>
                </a:lnTo>
                <a:lnTo>
                  <a:pt x="62500" y="31513"/>
                </a:lnTo>
                <a:lnTo>
                  <a:pt x="63333" y="30573"/>
                </a:lnTo>
                <a:lnTo>
                  <a:pt x="64166" y="29678"/>
                </a:lnTo>
                <a:lnTo>
                  <a:pt x="65000" y="28828"/>
                </a:lnTo>
                <a:lnTo>
                  <a:pt x="65833" y="28021"/>
                </a:lnTo>
                <a:lnTo>
                  <a:pt x="66666" y="27257"/>
                </a:lnTo>
                <a:lnTo>
                  <a:pt x="67500" y="26536"/>
                </a:lnTo>
                <a:lnTo>
                  <a:pt x="68333" y="25856"/>
                </a:lnTo>
                <a:lnTo>
                  <a:pt x="69166" y="25215"/>
                </a:lnTo>
                <a:lnTo>
                  <a:pt x="70000" y="24613"/>
                </a:lnTo>
                <a:lnTo>
                  <a:pt x="70833" y="24048"/>
                </a:lnTo>
                <a:lnTo>
                  <a:pt x="71666" y="23518"/>
                </a:lnTo>
                <a:lnTo>
                  <a:pt x="72500" y="23023"/>
                </a:lnTo>
                <a:lnTo>
                  <a:pt x="73333" y="22559"/>
                </a:lnTo>
                <a:lnTo>
                  <a:pt x="74166" y="22127"/>
                </a:lnTo>
                <a:lnTo>
                  <a:pt x="75000" y="21723"/>
                </a:lnTo>
                <a:lnTo>
                  <a:pt x="75833" y="21347"/>
                </a:lnTo>
                <a:lnTo>
                  <a:pt x="76666" y="20997"/>
                </a:lnTo>
                <a:lnTo>
                  <a:pt x="77500" y="20672"/>
                </a:lnTo>
                <a:lnTo>
                  <a:pt x="78333" y="20369"/>
                </a:lnTo>
                <a:lnTo>
                  <a:pt x="79166" y="20089"/>
                </a:lnTo>
                <a:lnTo>
                  <a:pt x="80000" y="19828"/>
                </a:lnTo>
                <a:lnTo>
                  <a:pt x="80833" y="19586"/>
                </a:lnTo>
                <a:lnTo>
                  <a:pt x="81666" y="19362"/>
                </a:lnTo>
                <a:lnTo>
                  <a:pt x="82500" y="19155"/>
                </a:lnTo>
                <a:lnTo>
                  <a:pt x="83333" y="18963"/>
                </a:lnTo>
                <a:lnTo>
                  <a:pt x="84166" y="18785"/>
                </a:lnTo>
                <a:lnTo>
                  <a:pt x="85000" y="18620"/>
                </a:lnTo>
                <a:lnTo>
                  <a:pt x="85833" y="18468"/>
                </a:lnTo>
                <a:lnTo>
                  <a:pt x="86666" y="18328"/>
                </a:lnTo>
                <a:lnTo>
                  <a:pt x="87500" y="18198"/>
                </a:lnTo>
                <a:lnTo>
                  <a:pt x="88333" y="18078"/>
                </a:lnTo>
                <a:lnTo>
                  <a:pt x="89166" y="17967"/>
                </a:lnTo>
                <a:lnTo>
                  <a:pt x="90000" y="17865"/>
                </a:lnTo>
                <a:lnTo>
                  <a:pt x="90833" y="17771"/>
                </a:lnTo>
                <a:lnTo>
                  <a:pt x="91666" y="17684"/>
                </a:lnTo>
                <a:lnTo>
                  <a:pt x="92500" y="17604"/>
                </a:lnTo>
                <a:lnTo>
                  <a:pt x="93333" y="17530"/>
                </a:lnTo>
                <a:lnTo>
                  <a:pt x="94166" y="17462"/>
                </a:lnTo>
                <a:lnTo>
                  <a:pt x="95000" y="17399"/>
                </a:lnTo>
                <a:lnTo>
                  <a:pt x="95833" y="17341"/>
                </a:lnTo>
                <a:lnTo>
                  <a:pt x="96666" y="17287"/>
                </a:lnTo>
                <a:lnTo>
                  <a:pt x="97500" y="17238"/>
                </a:lnTo>
                <a:lnTo>
                  <a:pt x="98333" y="17193"/>
                </a:lnTo>
                <a:lnTo>
                  <a:pt x="99166" y="17151"/>
                </a:lnTo>
                <a:lnTo>
                  <a:pt x="100000" y="17112"/>
                </a:lnTo>
              </a:path>
            </a:pathLst>
          </a:custGeom>
          <a:noFill/>
          <a:ln w="31750">
            <a:solidFill>
              <a:srgbClr val="13B5A6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2" name="Shape 22"/>
          <p:cNvSpPr txBox="1"/>
          <p:nvPr/>
        </p:nvSpPr>
        <p:spPr>
          <a:xfrm>
            <a:off x="4617720" y="3840480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h(x) = 1 / (1 + exp(−x))</a:t>
            </a:r>
            <a:endParaRPr lang="ja-JP" sz="1400" dirty="0"/>
          </a:p>
        </p:txBody>
      </p:sp>
      <p:sp>
        <p:nvSpPr>
          <p:cNvPr id="23" name="Shape 23"/>
          <p:cNvSpPr txBox="1"/>
          <p:nvPr/>
        </p:nvSpPr>
        <p:spPr>
          <a:xfrm>
            <a:off x="4617720" y="4297680"/>
            <a:ext cx="2953512" cy="384048"/>
          </a:xfrm>
          <a:prstGeom prst="roundRect">
            <a:avLst>
              <a:gd name="adj" fmla="val 14285"/>
            </a:avLst>
          </a:prstGeom>
          <a:solidFill>
            <a:srgbClr val="0B13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1 / (1 + np.exp(-x))</a:t>
            </a:r>
            <a:endParaRPr lang="ja-JP" sz="1050" dirty="0"/>
          </a:p>
        </p:txBody>
      </p:sp>
      <p:sp>
        <p:nvSpPr>
          <p:cNvPr id="24" name="Shape 24"/>
          <p:cNvSpPr txBox="1"/>
          <p:nvPr/>
        </p:nvSpPr>
        <p:spPr>
          <a:xfrm>
            <a:off x="4617720" y="480060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0〜1 のなめらかな値を出す。入力に応じて連続的に変わる。</a:t>
            </a:r>
            <a:endParaRPr lang="ja-JP" sz="1200" dirty="0"/>
          </a:p>
        </p:txBody>
      </p:sp>
      <p:sp>
        <p:nvSpPr>
          <p:cNvPr id="25" name="Shape 25"/>
          <p:cNvSpPr/>
          <p:nvPr/>
        </p:nvSpPr>
        <p:spPr>
          <a:xfrm>
            <a:off x="8119872" y="173736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6" name="Shape 26"/>
          <p:cNvSpPr txBox="1"/>
          <p:nvPr/>
        </p:nvSpPr>
        <p:spPr>
          <a:xfrm>
            <a:off x="8394192" y="1874520"/>
            <a:ext cx="29535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6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ReLU 関数</a:t>
            </a:r>
            <a:endParaRPr lang="ja-JP" sz="1600" dirty="0"/>
          </a:p>
        </p:txBody>
      </p:sp>
      <p:sp>
        <p:nvSpPr>
          <p:cNvPr id="27" name="Shape 27"/>
          <p:cNvSpPr/>
          <p:nvPr/>
        </p:nvSpPr>
        <p:spPr>
          <a:xfrm>
            <a:off x="8394192" y="2377440"/>
            <a:ext cx="2953512" cy="137160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28" name="Line 28"/>
          <p:cNvCxnSpPr/>
          <p:nvPr/>
        </p:nvCxnSpPr>
        <p:spPr>
          <a:xfrm>
            <a:off x="8394192" y="3538025"/>
            <a:ext cx="2953512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870948" y="2377440"/>
            <a:ext cx="0" cy="137160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8394192" y="2377440"/>
            <a:ext cx="2953512" cy="13716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84615"/>
                </a:moveTo>
                <a:lnTo>
                  <a:pt x="833" y="84615"/>
                </a:lnTo>
                <a:lnTo>
                  <a:pt x="1666" y="84615"/>
                </a:lnTo>
                <a:lnTo>
                  <a:pt x="2500" y="84615"/>
                </a:lnTo>
                <a:lnTo>
                  <a:pt x="3333" y="84615"/>
                </a:lnTo>
                <a:lnTo>
                  <a:pt x="4166" y="84615"/>
                </a:lnTo>
                <a:lnTo>
                  <a:pt x="5000" y="84615"/>
                </a:lnTo>
                <a:lnTo>
                  <a:pt x="5833" y="84615"/>
                </a:lnTo>
                <a:lnTo>
                  <a:pt x="6666" y="84615"/>
                </a:lnTo>
                <a:lnTo>
                  <a:pt x="7500" y="84615"/>
                </a:lnTo>
                <a:lnTo>
                  <a:pt x="8333" y="84615"/>
                </a:lnTo>
                <a:lnTo>
                  <a:pt x="9166" y="84615"/>
                </a:lnTo>
                <a:lnTo>
                  <a:pt x="10000" y="84615"/>
                </a:lnTo>
                <a:lnTo>
                  <a:pt x="10833" y="84615"/>
                </a:lnTo>
                <a:lnTo>
                  <a:pt x="11666" y="84615"/>
                </a:lnTo>
                <a:lnTo>
                  <a:pt x="12500" y="84615"/>
                </a:lnTo>
                <a:lnTo>
                  <a:pt x="13333" y="84615"/>
                </a:lnTo>
                <a:lnTo>
                  <a:pt x="14166" y="84615"/>
                </a:lnTo>
                <a:lnTo>
                  <a:pt x="15000" y="84615"/>
                </a:lnTo>
                <a:lnTo>
                  <a:pt x="15833" y="84615"/>
                </a:lnTo>
                <a:lnTo>
                  <a:pt x="16666" y="84615"/>
                </a:lnTo>
                <a:lnTo>
                  <a:pt x="17500" y="84615"/>
                </a:lnTo>
                <a:lnTo>
                  <a:pt x="18333" y="84615"/>
                </a:lnTo>
                <a:lnTo>
                  <a:pt x="19166" y="84615"/>
                </a:lnTo>
                <a:lnTo>
                  <a:pt x="20000" y="84615"/>
                </a:lnTo>
                <a:lnTo>
                  <a:pt x="20833" y="84615"/>
                </a:lnTo>
                <a:lnTo>
                  <a:pt x="21666" y="84615"/>
                </a:lnTo>
                <a:lnTo>
                  <a:pt x="22500" y="84615"/>
                </a:lnTo>
                <a:lnTo>
                  <a:pt x="23333" y="84615"/>
                </a:lnTo>
                <a:lnTo>
                  <a:pt x="24166" y="84615"/>
                </a:lnTo>
                <a:lnTo>
                  <a:pt x="25000" y="84615"/>
                </a:lnTo>
                <a:lnTo>
                  <a:pt x="25833" y="84615"/>
                </a:lnTo>
                <a:lnTo>
                  <a:pt x="26666" y="84615"/>
                </a:lnTo>
                <a:lnTo>
                  <a:pt x="27500" y="84615"/>
                </a:lnTo>
                <a:lnTo>
                  <a:pt x="28333" y="84615"/>
                </a:lnTo>
                <a:lnTo>
                  <a:pt x="29166" y="84615"/>
                </a:lnTo>
                <a:lnTo>
                  <a:pt x="30000" y="84615"/>
                </a:lnTo>
                <a:lnTo>
                  <a:pt x="30833" y="84615"/>
                </a:lnTo>
                <a:lnTo>
                  <a:pt x="31666" y="84615"/>
                </a:lnTo>
                <a:lnTo>
                  <a:pt x="32500" y="84615"/>
                </a:lnTo>
                <a:lnTo>
                  <a:pt x="33333" y="84615"/>
                </a:lnTo>
                <a:lnTo>
                  <a:pt x="34166" y="84615"/>
                </a:lnTo>
                <a:lnTo>
                  <a:pt x="35000" y="84615"/>
                </a:lnTo>
                <a:lnTo>
                  <a:pt x="35833" y="84615"/>
                </a:lnTo>
                <a:lnTo>
                  <a:pt x="36666" y="84615"/>
                </a:lnTo>
                <a:lnTo>
                  <a:pt x="37500" y="84615"/>
                </a:lnTo>
                <a:lnTo>
                  <a:pt x="38333" y="84615"/>
                </a:lnTo>
                <a:lnTo>
                  <a:pt x="39166" y="84615"/>
                </a:lnTo>
                <a:lnTo>
                  <a:pt x="40000" y="84615"/>
                </a:lnTo>
                <a:lnTo>
                  <a:pt x="40833" y="84615"/>
                </a:lnTo>
                <a:lnTo>
                  <a:pt x="41666" y="84615"/>
                </a:lnTo>
                <a:lnTo>
                  <a:pt x="42500" y="84615"/>
                </a:lnTo>
                <a:lnTo>
                  <a:pt x="43333" y="84615"/>
                </a:lnTo>
                <a:lnTo>
                  <a:pt x="44166" y="84615"/>
                </a:lnTo>
                <a:lnTo>
                  <a:pt x="45000" y="84615"/>
                </a:lnTo>
                <a:lnTo>
                  <a:pt x="45833" y="84615"/>
                </a:lnTo>
                <a:lnTo>
                  <a:pt x="46666" y="84615"/>
                </a:lnTo>
                <a:lnTo>
                  <a:pt x="47500" y="84615"/>
                </a:lnTo>
                <a:lnTo>
                  <a:pt x="48333" y="84615"/>
                </a:lnTo>
                <a:lnTo>
                  <a:pt x="49166" y="84615"/>
                </a:lnTo>
                <a:lnTo>
                  <a:pt x="50000" y="84615"/>
                </a:lnTo>
                <a:lnTo>
                  <a:pt x="50833" y="83333"/>
                </a:lnTo>
                <a:lnTo>
                  <a:pt x="51666" y="82051"/>
                </a:lnTo>
                <a:lnTo>
                  <a:pt x="52500" y="80769"/>
                </a:lnTo>
                <a:lnTo>
                  <a:pt x="53333" y="79487"/>
                </a:lnTo>
                <a:lnTo>
                  <a:pt x="54166" y="78205"/>
                </a:lnTo>
                <a:lnTo>
                  <a:pt x="55000" y="76923"/>
                </a:lnTo>
                <a:lnTo>
                  <a:pt x="55833" y="75641"/>
                </a:lnTo>
                <a:lnTo>
                  <a:pt x="56666" y="74358"/>
                </a:lnTo>
                <a:lnTo>
                  <a:pt x="57499" y="73076"/>
                </a:lnTo>
                <a:lnTo>
                  <a:pt x="58333" y="71794"/>
                </a:lnTo>
                <a:lnTo>
                  <a:pt x="59166" y="70512"/>
                </a:lnTo>
                <a:lnTo>
                  <a:pt x="60000" y="69230"/>
                </a:lnTo>
                <a:lnTo>
                  <a:pt x="60833" y="67948"/>
                </a:lnTo>
                <a:lnTo>
                  <a:pt x="61666" y="66666"/>
                </a:lnTo>
                <a:lnTo>
                  <a:pt x="62500" y="65384"/>
                </a:lnTo>
                <a:lnTo>
                  <a:pt x="63333" y="64102"/>
                </a:lnTo>
                <a:lnTo>
                  <a:pt x="64166" y="62820"/>
                </a:lnTo>
                <a:lnTo>
                  <a:pt x="65000" y="61538"/>
                </a:lnTo>
                <a:lnTo>
                  <a:pt x="65833" y="60256"/>
                </a:lnTo>
                <a:lnTo>
                  <a:pt x="66666" y="58974"/>
                </a:lnTo>
                <a:lnTo>
                  <a:pt x="67500" y="57692"/>
                </a:lnTo>
                <a:lnTo>
                  <a:pt x="68333" y="56410"/>
                </a:lnTo>
                <a:lnTo>
                  <a:pt x="69166" y="55128"/>
                </a:lnTo>
                <a:lnTo>
                  <a:pt x="70000" y="53846"/>
                </a:lnTo>
                <a:lnTo>
                  <a:pt x="70833" y="52564"/>
                </a:lnTo>
                <a:lnTo>
                  <a:pt x="71666" y="51282"/>
                </a:lnTo>
                <a:lnTo>
                  <a:pt x="72500" y="50000"/>
                </a:lnTo>
                <a:lnTo>
                  <a:pt x="73333" y="48717"/>
                </a:lnTo>
                <a:lnTo>
                  <a:pt x="74166" y="47435"/>
                </a:lnTo>
                <a:lnTo>
                  <a:pt x="75000" y="46153"/>
                </a:lnTo>
                <a:lnTo>
                  <a:pt x="75833" y="44871"/>
                </a:lnTo>
                <a:lnTo>
                  <a:pt x="76666" y="43589"/>
                </a:lnTo>
                <a:lnTo>
                  <a:pt x="77500" y="42307"/>
                </a:lnTo>
                <a:lnTo>
                  <a:pt x="78333" y="41025"/>
                </a:lnTo>
                <a:lnTo>
                  <a:pt x="79166" y="39743"/>
                </a:lnTo>
                <a:lnTo>
                  <a:pt x="80000" y="38461"/>
                </a:lnTo>
                <a:lnTo>
                  <a:pt x="80833" y="37179"/>
                </a:lnTo>
                <a:lnTo>
                  <a:pt x="81666" y="35897"/>
                </a:lnTo>
                <a:lnTo>
                  <a:pt x="82500" y="34615"/>
                </a:lnTo>
                <a:lnTo>
                  <a:pt x="83333" y="33333"/>
                </a:lnTo>
                <a:lnTo>
                  <a:pt x="84166" y="32051"/>
                </a:lnTo>
                <a:lnTo>
                  <a:pt x="85000" y="30769"/>
                </a:lnTo>
                <a:lnTo>
                  <a:pt x="85833" y="29487"/>
                </a:lnTo>
                <a:lnTo>
                  <a:pt x="86666" y="28205"/>
                </a:lnTo>
                <a:lnTo>
                  <a:pt x="87500" y="26923"/>
                </a:lnTo>
                <a:lnTo>
                  <a:pt x="88333" y="25641"/>
                </a:lnTo>
                <a:lnTo>
                  <a:pt x="89166" y="24358"/>
                </a:lnTo>
                <a:lnTo>
                  <a:pt x="90000" y="23076"/>
                </a:lnTo>
                <a:lnTo>
                  <a:pt x="90833" y="21794"/>
                </a:lnTo>
                <a:lnTo>
                  <a:pt x="91666" y="20512"/>
                </a:lnTo>
                <a:lnTo>
                  <a:pt x="92500" y="19230"/>
                </a:lnTo>
                <a:lnTo>
                  <a:pt x="93333" y="17948"/>
                </a:lnTo>
                <a:lnTo>
                  <a:pt x="94166" y="16666"/>
                </a:lnTo>
                <a:lnTo>
                  <a:pt x="95000" y="15384"/>
                </a:lnTo>
                <a:lnTo>
                  <a:pt x="95833" y="14102"/>
                </a:lnTo>
                <a:lnTo>
                  <a:pt x="96666" y="12820"/>
                </a:lnTo>
                <a:lnTo>
                  <a:pt x="97500" y="11538"/>
                </a:lnTo>
                <a:lnTo>
                  <a:pt x="98333" y="10256"/>
                </a:lnTo>
                <a:lnTo>
                  <a:pt x="99166" y="8974"/>
                </a:lnTo>
                <a:lnTo>
                  <a:pt x="100000" y="7692"/>
                </a:lnTo>
              </a:path>
            </a:pathLst>
          </a:custGeom>
          <a:noFill/>
          <a:ln w="31750">
            <a:solidFill>
              <a:srgbClr val="13B5A6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1" name="Shape 31"/>
          <p:cNvSpPr txBox="1"/>
          <p:nvPr/>
        </p:nvSpPr>
        <p:spPr>
          <a:xfrm>
            <a:off x="8394192" y="3840480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h(x) = max(0, x)</a:t>
            </a:r>
            <a:endParaRPr lang="ja-JP" sz="1400" dirty="0"/>
          </a:p>
        </p:txBody>
      </p:sp>
      <p:sp>
        <p:nvSpPr>
          <p:cNvPr id="32" name="Shape 32"/>
          <p:cNvSpPr txBox="1"/>
          <p:nvPr/>
        </p:nvSpPr>
        <p:spPr>
          <a:xfrm>
            <a:off x="8394192" y="4297680"/>
            <a:ext cx="2953512" cy="384048"/>
          </a:xfrm>
          <a:prstGeom prst="roundRect">
            <a:avLst>
              <a:gd name="adj" fmla="val 14285"/>
            </a:avLst>
          </a:prstGeom>
          <a:solidFill>
            <a:srgbClr val="0B13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np.maximum(0, x)</a:t>
            </a:r>
            <a:endParaRPr lang="ja-JP" sz="1050" dirty="0"/>
          </a:p>
        </p:txBody>
      </p:sp>
      <p:sp>
        <p:nvSpPr>
          <p:cNvPr id="33" name="Shape 33"/>
          <p:cNvSpPr txBox="1"/>
          <p:nvPr/>
        </p:nvSpPr>
        <p:spPr>
          <a:xfrm>
            <a:off x="8394192" y="480060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0 以下なら 0、正ならそのまま出す。現在よく使われる。</a:t>
            </a:r>
            <a:endParaRPr lang="ja-JP" sz="1200" dirty="0"/>
          </a:p>
        </p:txBody>
      </p:sp>
      <p:sp>
        <p:nvSpPr>
          <p:cNvPr id="34" name="Shape 34"/>
          <p:cNvSpPr/>
          <p:nvPr/>
        </p:nvSpPr>
        <p:spPr>
          <a:xfrm>
            <a:off x="566928" y="5669280"/>
            <a:ext cx="11055096" cy="731520"/>
          </a:xfrm>
          <a:prstGeom prst="roundRect">
            <a:avLst>
              <a:gd name="adj" fmla="val 15000"/>
            </a:avLst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5" name="Shape 35"/>
          <p:cNvSpPr txBox="1"/>
          <p:nvPr/>
        </p:nvSpPr>
        <p:spPr>
          <a:xfrm>
            <a:off x="868680" y="5669280"/>
            <a:ext cx="1050645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3 つとも「非線形関数」。h(x) = cx のような線形関数だと、何層重ねても y = c·c·c·x = ax と 1 層と同じになり、層を深くする意味がない。</a:t>
            </a:r>
            <a:endParaRPr lang="ja-JP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NUMPY ARRAYS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多次元配列と行列の積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14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120640" cy="4663440"/>
          </a:xfrm>
          <a:prstGeom prst="roundRect">
            <a:avLst>
              <a:gd name="adj" fmla="val 2352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/>
          <p:nvPr/>
        </p:nvSpPr>
        <p:spPr>
          <a:xfrm>
            <a:off x="813816" y="1956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9" name="Shape 9"/>
          <p:cNvSpPr/>
          <p:nvPr/>
        </p:nvSpPr>
        <p:spPr>
          <a:xfrm>
            <a:off x="1042416" y="1956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0" name="Shape 10"/>
          <p:cNvSpPr/>
          <p:nvPr/>
        </p:nvSpPr>
        <p:spPr>
          <a:xfrm>
            <a:off x="1271016" y="1956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1572768" y="185623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mdarray.py（抜粋）</a:t>
            </a:r>
            <a:endParaRPr lang="ja-JP" sz="1400" dirty="0"/>
          </a:p>
        </p:txBody>
      </p:sp>
      <p:sp>
        <p:nvSpPr>
          <p:cNvPr id="12" name="Shape 12"/>
          <p:cNvSpPr txBox="1"/>
          <p:nvPr/>
        </p:nvSpPr>
        <p:spPr>
          <a:xfrm>
            <a:off x="841248" y="2304288"/>
            <a:ext cx="4663440" cy="3959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ndim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(A)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1    次元数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A.shape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(4,) 形状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5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6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ndim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(B)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2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B.shape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(3, 2)  3行2列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5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6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7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8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(A, B)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行列の積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[[19 22]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 [43 50]]</a:t>
            </a:r>
            <a:endParaRPr lang="ja-JP" sz="1100" dirty="0"/>
          </a:p>
        </p:txBody>
      </p:sp>
      <p:sp>
        <p:nvSpPr>
          <p:cNvPr id="13" name="Shape 13"/>
          <p:cNvSpPr/>
          <p:nvPr/>
        </p:nvSpPr>
        <p:spPr>
          <a:xfrm>
            <a:off x="5961888" y="1737360"/>
            <a:ext cx="5660136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4" name="Shape 14"/>
          <p:cNvSpPr txBox="1"/>
          <p:nvPr/>
        </p:nvSpPr>
        <p:spPr>
          <a:xfrm>
            <a:off x="6236208" y="1874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行列の積の計算</a:t>
            </a:r>
            <a:endParaRPr lang="ja-JP" sz="1500" dirty="0"/>
          </a:p>
        </p:txBody>
      </p:sp>
      <p:sp>
        <p:nvSpPr>
          <p:cNvPr id="15" name="Shape 15"/>
          <p:cNvSpPr txBox="1"/>
          <p:nvPr/>
        </p:nvSpPr>
        <p:spPr>
          <a:xfrm>
            <a:off x="6355080" y="2514600"/>
            <a:ext cx="457200" cy="384048"/>
          </a:xfrm>
          <a:prstGeom prst="rect">
            <a:avLst/>
          </a:prstGeom>
          <a:solidFill>
            <a:srgbClr val="13B5A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300" dirty="0"/>
          </a:p>
        </p:txBody>
      </p:sp>
      <p:sp>
        <p:nvSpPr>
          <p:cNvPr id="16" name="Shape 16"/>
          <p:cNvSpPr txBox="1"/>
          <p:nvPr/>
        </p:nvSpPr>
        <p:spPr>
          <a:xfrm>
            <a:off x="6812280" y="2514600"/>
            <a:ext cx="457200" cy="384048"/>
          </a:xfrm>
          <a:prstGeom prst="rect">
            <a:avLst/>
          </a:prstGeom>
          <a:solidFill>
            <a:srgbClr val="13B5A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300" dirty="0"/>
          </a:p>
        </p:txBody>
      </p:sp>
      <p:sp>
        <p:nvSpPr>
          <p:cNvPr id="17" name="Shape 17"/>
          <p:cNvSpPr txBox="1"/>
          <p:nvPr/>
        </p:nvSpPr>
        <p:spPr>
          <a:xfrm>
            <a:off x="6355080" y="2898648"/>
            <a:ext cx="45720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ja-JP" sz="1300" dirty="0"/>
          </a:p>
        </p:txBody>
      </p:sp>
      <p:sp>
        <p:nvSpPr>
          <p:cNvPr id="18" name="Shape 18"/>
          <p:cNvSpPr txBox="1"/>
          <p:nvPr/>
        </p:nvSpPr>
        <p:spPr>
          <a:xfrm>
            <a:off x="6812280" y="2898648"/>
            <a:ext cx="45720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ja-JP" sz="1300" dirty="0"/>
          </a:p>
        </p:txBody>
      </p:sp>
      <p:sp>
        <p:nvSpPr>
          <p:cNvPr id="19" name="Shape 19"/>
          <p:cNvSpPr txBox="1"/>
          <p:nvPr/>
        </p:nvSpPr>
        <p:spPr>
          <a:xfrm>
            <a:off x="7315200" y="2514600"/>
            <a:ext cx="36576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·</a:t>
            </a:r>
            <a:endParaRPr lang="ja-JP" sz="2200" dirty="0"/>
          </a:p>
        </p:txBody>
      </p:sp>
      <p:sp>
        <p:nvSpPr>
          <p:cNvPr id="20" name="Shape 20"/>
          <p:cNvSpPr txBox="1"/>
          <p:nvPr/>
        </p:nvSpPr>
        <p:spPr>
          <a:xfrm>
            <a:off x="7726680" y="2514600"/>
            <a:ext cx="457200" cy="384048"/>
          </a:xfrm>
          <a:prstGeom prst="rect">
            <a:avLst/>
          </a:prstGeom>
          <a:solidFill>
            <a:srgbClr val="13B5A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  <a:endParaRPr lang="ja-JP" sz="1300" dirty="0"/>
          </a:p>
        </p:txBody>
      </p:sp>
      <p:sp>
        <p:nvSpPr>
          <p:cNvPr id="21" name="Shape 21"/>
          <p:cNvSpPr txBox="1"/>
          <p:nvPr/>
        </p:nvSpPr>
        <p:spPr>
          <a:xfrm>
            <a:off x="8183880" y="2514600"/>
            <a:ext cx="45720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6</a:t>
            </a:r>
            <a:endParaRPr lang="ja-JP" sz="1300" dirty="0"/>
          </a:p>
        </p:txBody>
      </p:sp>
      <p:sp>
        <p:nvSpPr>
          <p:cNvPr id="22" name="Shape 22"/>
          <p:cNvSpPr txBox="1"/>
          <p:nvPr/>
        </p:nvSpPr>
        <p:spPr>
          <a:xfrm>
            <a:off x="7726680" y="2898648"/>
            <a:ext cx="457200" cy="384048"/>
          </a:xfrm>
          <a:prstGeom prst="rect">
            <a:avLst/>
          </a:prstGeom>
          <a:solidFill>
            <a:srgbClr val="13B5A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  <a:endParaRPr lang="ja-JP" sz="1300" dirty="0"/>
          </a:p>
        </p:txBody>
      </p:sp>
      <p:sp>
        <p:nvSpPr>
          <p:cNvPr id="23" name="Shape 23"/>
          <p:cNvSpPr txBox="1"/>
          <p:nvPr/>
        </p:nvSpPr>
        <p:spPr>
          <a:xfrm>
            <a:off x="8183880" y="2898648"/>
            <a:ext cx="45720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8</a:t>
            </a:r>
            <a:endParaRPr lang="ja-JP" sz="1300" dirty="0"/>
          </a:p>
        </p:txBody>
      </p:sp>
      <p:sp>
        <p:nvSpPr>
          <p:cNvPr id="24" name="Shape 24"/>
          <p:cNvSpPr txBox="1"/>
          <p:nvPr/>
        </p:nvSpPr>
        <p:spPr>
          <a:xfrm>
            <a:off x="8686800" y="2514600"/>
            <a:ext cx="36576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=</a:t>
            </a:r>
            <a:endParaRPr lang="ja-JP" sz="2200" dirty="0"/>
          </a:p>
        </p:txBody>
      </p:sp>
      <p:sp>
        <p:nvSpPr>
          <p:cNvPr id="25" name="Shape 25"/>
          <p:cNvSpPr txBox="1"/>
          <p:nvPr/>
        </p:nvSpPr>
        <p:spPr>
          <a:xfrm>
            <a:off x="9098280" y="2514600"/>
            <a:ext cx="548640" cy="384048"/>
          </a:xfrm>
          <a:prstGeom prst="rect">
            <a:avLst/>
          </a:prstGeom>
          <a:solidFill>
            <a:srgbClr val="F39C1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  <a:endParaRPr lang="ja-JP" sz="1300" dirty="0"/>
          </a:p>
        </p:txBody>
      </p:sp>
      <p:sp>
        <p:nvSpPr>
          <p:cNvPr id="26" name="Shape 26"/>
          <p:cNvSpPr txBox="1"/>
          <p:nvPr/>
        </p:nvSpPr>
        <p:spPr>
          <a:xfrm>
            <a:off x="9646920" y="2514600"/>
            <a:ext cx="54864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22</a:t>
            </a:r>
            <a:endParaRPr lang="ja-JP" sz="1300" dirty="0"/>
          </a:p>
        </p:txBody>
      </p:sp>
      <p:sp>
        <p:nvSpPr>
          <p:cNvPr id="27" name="Shape 27"/>
          <p:cNvSpPr txBox="1"/>
          <p:nvPr/>
        </p:nvSpPr>
        <p:spPr>
          <a:xfrm>
            <a:off x="9098280" y="2898648"/>
            <a:ext cx="54864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43</a:t>
            </a:r>
            <a:endParaRPr lang="ja-JP" sz="1300" dirty="0"/>
          </a:p>
        </p:txBody>
      </p:sp>
      <p:sp>
        <p:nvSpPr>
          <p:cNvPr id="28" name="Shape 28"/>
          <p:cNvSpPr txBox="1"/>
          <p:nvPr/>
        </p:nvSpPr>
        <p:spPr>
          <a:xfrm>
            <a:off x="9646920" y="2898648"/>
            <a:ext cx="548640" cy="384048"/>
          </a:xfrm>
          <a:prstGeom prst="rect">
            <a:avLst/>
          </a:prstGeom>
          <a:solidFill>
            <a:srgbClr val="EEF2F9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50</a:t>
            </a:r>
            <a:endParaRPr lang="ja-JP" sz="1300" dirty="0"/>
          </a:p>
        </p:txBody>
      </p:sp>
      <p:sp>
        <p:nvSpPr>
          <p:cNvPr id="29" name="Shape 29"/>
          <p:cNvSpPr txBox="1"/>
          <p:nvPr/>
        </p:nvSpPr>
        <p:spPr>
          <a:xfrm>
            <a:off x="6236208" y="347472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19 = 1×5 + 2×7</a:t>
            </a: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　A の「行」× B の「列」を掛けて足す</a:t>
            </a:r>
            <a:endParaRPr lang="ja-JP" sz="1400" dirty="0"/>
          </a:p>
        </p:txBody>
      </p:sp>
      <p:sp>
        <p:nvSpPr>
          <p:cNvPr id="30" name="Shape 30"/>
          <p:cNvSpPr/>
          <p:nvPr/>
        </p:nvSpPr>
        <p:spPr>
          <a:xfrm>
            <a:off x="5961888" y="4434840"/>
            <a:ext cx="566013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1" name="Shape 31"/>
          <p:cNvSpPr txBox="1"/>
          <p:nvPr/>
        </p:nvSpPr>
        <p:spPr>
          <a:xfrm>
            <a:off x="6236208" y="45720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形状のルール</a:t>
            </a:r>
            <a:endParaRPr lang="ja-JP" sz="1500" dirty="0"/>
          </a:p>
        </p:txBody>
      </p:sp>
      <p:sp>
        <p:nvSpPr>
          <p:cNvPr id="32" name="Shape 32"/>
          <p:cNvSpPr txBox="1"/>
          <p:nvPr/>
        </p:nvSpPr>
        <p:spPr>
          <a:xfrm>
            <a:off x="6236208" y="502920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(2 × </a:t>
            </a:r>
            <a:r>
              <a:rPr lang="ja-JP" altLang="en-US" sz="2000" b="1" dirty="0">
                <a:solidFill>
                  <a:srgbClr val="13B5A6"/>
                </a:solidFill>
                <a:latin typeface="Noto Sans CJK JP"/>
                <a:ea typeface="Noto Sans CJK JP"/>
                <a:cs typeface="Noto Sans CJK JP"/>
              </a:rPr>
              <a:t>3</a:t>
            </a:r>
            <a:r>
              <a:rPr lang="ja-JP" altLang="en-US" sz="20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)  ·  (</a:t>
            </a:r>
            <a:r>
              <a:rPr lang="ja-JP" altLang="en-US" sz="2000" b="1" dirty="0">
                <a:solidFill>
                  <a:srgbClr val="13B5A6"/>
                </a:solidFill>
                <a:latin typeface="Noto Sans CJK JP"/>
                <a:ea typeface="Noto Sans CJK JP"/>
                <a:cs typeface="Noto Sans CJK JP"/>
              </a:rPr>
              <a:t>3</a:t>
            </a:r>
            <a:r>
              <a:rPr lang="ja-JP" altLang="en-US" sz="20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 × 2)  →  </a:t>
            </a:r>
            <a:r>
              <a:rPr lang="ja-JP" altLang="en-US" sz="2000" b="1" dirty="0">
                <a:solidFill>
                  <a:srgbClr val="F39C12"/>
                </a:solidFill>
                <a:latin typeface="Noto Sans CJK JP"/>
                <a:ea typeface="Noto Sans CJK JP"/>
                <a:cs typeface="Noto Sans CJK JP"/>
              </a:rPr>
              <a:t>(2 × 2)</a:t>
            </a:r>
            <a:endParaRPr lang="ja-JP" sz="2000" dirty="0"/>
          </a:p>
        </p:txBody>
      </p:sp>
      <p:sp>
        <p:nvSpPr>
          <p:cNvPr id="33" name="Shape 33"/>
          <p:cNvSpPr txBox="1"/>
          <p:nvPr/>
        </p:nvSpPr>
        <p:spPr>
          <a:xfrm>
            <a:off x="6236208" y="562356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左の列数と右の行数をそろえる（違うと ValueError）。結果の形は（左の行数 × 右の列数）になる。</a:t>
            </a:r>
            <a:endParaRPr lang="ja-JP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NETWORK × MATRIX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行列の積でニューラルネットを計算する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15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120640" cy="466344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8" name="Line 8"/>
          <p:cNvCxnSpPr/>
          <p:nvPr/>
        </p:nvCxnSpPr>
        <p:spPr>
          <a:xfrm flipV="1">
            <a:off x="1691640" y="2446020"/>
            <a:ext cx="2286000" cy="594360"/>
          </a:xfrm>
          <a:prstGeom prst="line">
            <a:avLst/>
          </a:prstGeom>
          <a:ln w="22225">
            <a:solidFill>
              <a:srgbClr val="13B5A6"/>
            </a:solidFill>
            <a:tailEnd type="triangle" w="med" len="med"/>
          </a:ln>
        </p:spPr>
      </p:cxnSp>
      <p:sp>
        <p:nvSpPr>
          <p:cNvPr id="9" name="Shape 9"/>
          <p:cNvSpPr txBox="1"/>
          <p:nvPr/>
        </p:nvSpPr>
        <p:spPr>
          <a:xfrm>
            <a:off x="2194560" y="258135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200" dirty="0"/>
          </a:p>
        </p:txBody>
      </p:sp>
      <p:cxnSp>
        <p:nvCxnSpPr>
          <p:cNvPr id="10" name="Line 10"/>
          <p:cNvCxnSpPr/>
          <p:nvPr/>
        </p:nvCxnSpPr>
        <p:spPr>
          <a:xfrm>
            <a:off x="1691640" y="3040380"/>
            <a:ext cx="2286000" cy="868680"/>
          </a:xfrm>
          <a:prstGeom prst="line">
            <a:avLst/>
          </a:prstGeom>
          <a:ln w="22225">
            <a:solidFill>
              <a:srgbClr val="13B5A6"/>
            </a:solidFill>
            <a:tailEnd type="triangle" w="med" len="med"/>
          </a:ln>
        </p:spPr>
      </p:cxnSp>
      <p:sp>
        <p:nvSpPr>
          <p:cNvPr id="11" name="Shape 11"/>
          <p:cNvSpPr txBox="1"/>
          <p:nvPr/>
        </p:nvSpPr>
        <p:spPr>
          <a:xfrm>
            <a:off x="2194560" y="299100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ja-JP" sz="1200" dirty="0"/>
          </a:p>
        </p:txBody>
      </p:sp>
      <p:cxnSp>
        <p:nvCxnSpPr>
          <p:cNvPr id="12" name="Line 12"/>
          <p:cNvCxnSpPr/>
          <p:nvPr/>
        </p:nvCxnSpPr>
        <p:spPr>
          <a:xfrm>
            <a:off x="1691640" y="3040380"/>
            <a:ext cx="2286000" cy="2331720"/>
          </a:xfrm>
          <a:prstGeom prst="line">
            <a:avLst/>
          </a:prstGeom>
          <a:ln w="22225">
            <a:solidFill>
              <a:srgbClr val="13B5A6"/>
            </a:solidFill>
            <a:tailEnd type="triangle" w="med" len="med"/>
          </a:ln>
        </p:spPr>
      </p:cxnSp>
      <p:sp>
        <p:nvSpPr>
          <p:cNvPr id="13" name="Shape 13"/>
          <p:cNvSpPr txBox="1"/>
          <p:nvPr/>
        </p:nvSpPr>
        <p:spPr>
          <a:xfrm>
            <a:off x="2194560" y="340065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5</a:t>
            </a:r>
            <a:endParaRPr lang="ja-JP" sz="1200" dirty="0"/>
          </a:p>
        </p:txBody>
      </p:sp>
      <p:cxnSp>
        <p:nvCxnSpPr>
          <p:cNvPr id="14" name="Line 14"/>
          <p:cNvCxnSpPr/>
          <p:nvPr/>
        </p:nvCxnSpPr>
        <p:spPr>
          <a:xfrm flipV="1">
            <a:off x="1691640" y="2446020"/>
            <a:ext cx="2286000" cy="2331720"/>
          </a:xfrm>
          <a:prstGeom prst="line">
            <a:avLst/>
          </a:prstGeom>
          <a:ln w="22225">
            <a:solidFill>
              <a:srgbClr val="F39C12"/>
            </a:solidFill>
            <a:tailEnd type="triangl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2194560" y="383225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200" dirty="0"/>
          </a:p>
        </p:txBody>
      </p:sp>
      <p:cxnSp>
        <p:nvCxnSpPr>
          <p:cNvPr id="16" name="Line 16"/>
          <p:cNvCxnSpPr/>
          <p:nvPr/>
        </p:nvCxnSpPr>
        <p:spPr>
          <a:xfrm flipV="1">
            <a:off x="1691640" y="3909060"/>
            <a:ext cx="2286000" cy="868680"/>
          </a:xfrm>
          <a:prstGeom prst="line">
            <a:avLst/>
          </a:prstGeom>
          <a:ln w="22225">
            <a:solidFill>
              <a:srgbClr val="F39C12"/>
            </a:solidFill>
            <a:tailEnd type="triangle" w="med" len="med"/>
          </a:ln>
        </p:spPr>
      </p:cxnSp>
      <p:sp>
        <p:nvSpPr>
          <p:cNvPr id="17" name="Shape 17"/>
          <p:cNvSpPr txBox="1"/>
          <p:nvPr/>
        </p:nvSpPr>
        <p:spPr>
          <a:xfrm>
            <a:off x="2194560" y="424190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ja-JP" sz="1200" dirty="0"/>
          </a:p>
        </p:txBody>
      </p:sp>
      <p:cxnSp>
        <p:nvCxnSpPr>
          <p:cNvPr id="18" name="Line 18"/>
          <p:cNvCxnSpPr/>
          <p:nvPr/>
        </p:nvCxnSpPr>
        <p:spPr>
          <a:xfrm>
            <a:off x="1691640" y="4777740"/>
            <a:ext cx="2286000" cy="594360"/>
          </a:xfrm>
          <a:prstGeom prst="line">
            <a:avLst/>
          </a:prstGeom>
          <a:ln w="22225">
            <a:solidFill>
              <a:srgbClr val="F39C12"/>
            </a:solidFill>
            <a:tailEnd type="triangle" w="med" len="med"/>
          </a:ln>
        </p:spPr>
      </p:cxnSp>
      <p:sp>
        <p:nvSpPr>
          <p:cNvPr id="19" name="Shape 19"/>
          <p:cNvSpPr txBox="1"/>
          <p:nvPr/>
        </p:nvSpPr>
        <p:spPr>
          <a:xfrm>
            <a:off x="2194560" y="465155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6</a:t>
            </a:r>
            <a:endParaRPr lang="ja-JP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1097280" y="2743200"/>
            <a:ext cx="594360" cy="59436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x₁</a:t>
            </a:r>
            <a:endParaRPr lang="ja-JP" sz="1500" dirty="0"/>
          </a:p>
        </p:txBody>
      </p:sp>
      <p:sp>
        <p:nvSpPr>
          <p:cNvPr id="21" name="Shape 21"/>
          <p:cNvSpPr txBox="1"/>
          <p:nvPr/>
        </p:nvSpPr>
        <p:spPr>
          <a:xfrm>
            <a:off x="1097280" y="4480560"/>
            <a:ext cx="594360" cy="59436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x₂</a:t>
            </a:r>
            <a:endParaRPr lang="ja-JP" sz="1500" dirty="0"/>
          </a:p>
        </p:txBody>
      </p:sp>
      <p:sp>
        <p:nvSpPr>
          <p:cNvPr id="22" name="Shape 22"/>
          <p:cNvSpPr txBox="1"/>
          <p:nvPr/>
        </p:nvSpPr>
        <p:spPr>
          <a:xfrm>
            <a:off x="3977640" y="2148840"/>
            <a:ext cx="594360" cy="594360"/>
          </a:xfrm>
          <a:prstGeom prst="ellipse">
            <a:avLst/>
          </a:prstGeom>
          <a:solidFill>
            <a:srgbClr val="27324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y₁</a:t>
            </a:r>
            <a:endParaRPr lang="ja-JP" sz="1500" dirty="0"/>
          </a:p>
        </p:txBody>
      </p:sp>
      <p:sp>
        <p:nvSpPr>
          <p:cNvPr id="23" name="Shape 23"/>
          <p:cNvSpPr txBox="1"/>
          <p:nvPr/>
        </p:nvSpPr>
        <p:spPr>
          <a:xfrm>
            <a:off x="3977640" y="3611880"/>
            <a:ext cx="594360" cy="594360"/>
          </a:xfrm>
          <a:prstGeom prst="ellipse">
            <a:avLst/>
          </a:prstGeom>
          <a:solidFill>
            <a:srgbClr val="27324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y₂</a:t>
            </a:r>
            <a:endParaRPr lang="ja-JP" sz="1500" dirty="0"/>
          </a:p>
        </p:txBody>
      </p:sp>
      <p:sp>
        <p:nvSpPr>
          <p:cNvPr id="24" name="Shape 24"/>
          <p:cNvSpPr txBox="1"/>
          <p:nvPr/>
        </p:nvSpPr>
        <p:spPr>
          <a:xfrm>
            <a:off x="3977640" y="5074920"/>
            <a:ext cx="594360" cy="594360"/>
          </a:xfrm>
          <a:prstGeom prst="ellipse">
            <a:avLst/>
          </a:prstGeom>
          <a:solidFill>
            <a:srgbClr val="27324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y₃</a:t>
            </a:r>
            <a:endParaRPr lang="ja-JP" sz="1500" dirty="0"/>
          </a:p>
        </p:txBody>
      </p:sp>
      <p:sp>
        <p:nvSpPr>
          <p:cNvPr id="25" name="Shape 25"/>
          <p:cNvSpPr txBox="1"/>
          <p:nvPr/>
        </p:nvSpPr>
        <p:spPr>
          <a:xfrm>
            <a:off x="868680" y="5852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入力 2 個 → 出力 3 個（バイアスと活性化関数は省略）</a:t>
            </a:r>
            <a:endParaRPr lang="ja-JP" sz="1200" dirty="0"/>
          </a:p>
        </p:txBody>
      </p:sp>
      <p:sp>
        <p:nvSpPr>
          <p:cNvPr id="26" name="Shape 26"/>
          <p:cNvSpPr/>
          <p:nvPr/>
        </p:nvSpPr>
        <p:spPr>
          <a:xfrm>
            <a:off x="5961888" y="1737360"/>
            <a:ext cx="5660136" cy="2697480"/>
          </a:xfrm>
          <a:prstGeom prst="roundRect">
            <a:avLst>
              <a:gd name="adj" fmla="val 406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7" name="Shape 27"/>
          <p:cNvSpPr txBox="1"/>
          <p:nvPr/>
        </p:nvSpPr>
        <p:spPr>
          <a:xfrm>
            <a:off x="6263640" y="19202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Y = np.dot(X, W)</a:t>
            </a:r>
            <a:endParaRPr lang="ja-JP" sz="1500" dirty="0"/>
          </a:p>
        </p:txBody>
      </p:sp>
      <p:sp>
        <p:nvSpPr>
          <p:cNvPr id="28" name="Shape 28"/>
          <p:cNvSpPr txBox="1"/>
          <p:nvPr/>
        </p:nvSpPr>
        <p:spPr>
          <a:xfrm>
            <a:off x="6263640" y="2880360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300" dirty="0"/>
          </a:p>
        </p:txBody>
      </p:sp>
      <p:sp>
        <p:nvSpPr>
          <p:cNvPr id="29" name="Shape 29"/>
          <p:cNvSpPr txBox="1"/>
          <p:nvPr/>
        </p:nvSpPr>
        <p:spPr>
          <a:xfrm>
            <a:off x="6720840" y="2880360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5A742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300" dirty="0"/>
          </a:p>
        </p:txBody>
      </p:sp>
      <p:sp>
        <p:nvSpPr>
          <p:cNvPr id="30" name="Shape 30"/>
          <p:cNvSpPr txBox="1"/>
          <p:nvPr/>
        </p:nvSpPr>
        <p:spPr>
          <a:xfrm>
            <a:off x="7178040" y="2651760"/>
            <a:ext cx="32004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·</a:t>
            </a:r>
            <a:endParaRPr lang="ja-JP" sz="2200" dirty="0"/>
          </a:p>
        </p:txBody>
      </p:sp>
      <p:sp>
        <p:nvSpPr>
          <p:cNvPr id="31" name="Shape 31"/>
          <p:cNvSpPr txBox="1"/>
          <p:nvPr/>
        </p:nvSpPr>
        <p:spPr>
          <a:xfrm>
            <a:off x="7498080" y="2688336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300" dirty="0"/>
          </a:p>
        </p:txBody>
      </p:sp>
      <p:sp>
        <p:nvSpPr>
          <p:cNvPr id="32" name="Shape 32"/>
          <p:cNvSpPr txBox="1"/>
          <p:nvPr/>
        </p:nvSpPr>
        <p:spPr>
          <a:xfrm>
            <a:off x="7955280" y="2688336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ja-JP" sz="1300" dirty="0"/>
          </a:p>
        </p:txBody>
      </p:sp>
      <p:sp>
        <p:nvSpPr>
          <p:cNvPr id="33" name="Shape 33"/>
          <p:cNvSpPr txBox="1"/>
          <p:nvPr/>
        </p:nvSpPr>
        <p:spPr>
          <a:xfrm>
            <a:off x="8412480" y="2688336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5</a:t>
            </a:r>
            <a:endParaRPr lang="ja-JP" sz="1300" dirty="0"/>
          </a:p>
        </p:txBody>
      </p:sp>
      <p:sp>
        <p:nvSpPr>
          <p:cNvPr id="34" name="Shape 34"/>
          <p:cNvSpPr txBox="1"/>
          <p:nvPr/>
        </p:nvSpPr>
        <p:spPr>
          <a:xfrm>
            <a:off x="7498080" y="3072384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5A742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300" dirty="0"/>
          </a:p>
        </p:txBody>
      </p:sp>
      <p:sp>
        <p:nvSpPr>
          <p:cNvPr id="35" name="Shape 35"/>
          <p:cNvSpPr txBox="1"/>
          <p:nvPr/>
        </p:nvSpPr>
        <p:spPr>
          <a:xfrm>
            <a:off x="7955280" y="3072384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5A742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ja-JP" sz="1300" dirty="0"/>
          </a:p>
        </p:txBody>
      </p:sp>
      <p:sp>
        <p:nvSpPr>
          <p:cNvPr id="36" name="Shape 36"/>
          <p:cNvSpPr txBox="1"/>
          <p:nvPr/>
        </p:nvSpPr>
        <p:spPr>
          <a:xfrm>
            <a:off x="8412480" y="3072384"/>
            <a:ext cx="457200" cy="384048"/>
          </a:xfrm>
          <a:prstGeom prst="rect">
            <a:avLst/>
          </a:prstGeom>
          <a:solidFill>
            <a:srgbClr val="1A254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5A742"/>
                </a:solidFill>
                <a:latin typeface="Noto Sans CJK JP"/>
                <a:ea typeface="Noto Sans CJK JP"/>
                <a:cs typeface="Noto Sans CJK JP"/>
              </a:rPr>
              <a:t>6</a:t>
            </a:r>
            <a:endParaRPr lang="ja-JP" sz="1300" dirty="0"/>
          </a:p>
        </p:txBody>
      </p:sp>
      <p:sp>
        <p:nvSpPr>
          <p:cNvPr id="37" name="Shape 37"/>
          <p:cNvSpPr txBox="1"/>
          <p:nvPr/>
        </p:nvSpPr>
        <p:spPr>
          <a:xfrm>
            <a:off x="8869680" y="2651760"/>
            <a:ext cx="36576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=</a:t>
            </a:r>
            <a:endParaRPr lang="ja-JP" sz="2200" dirty="0"/>
          </a:p>
        </p:txBody>
      </p:sp>
      <p:sp>
        <p:nvSpPr>
          <p:cNvPr id="38" name="Shape 38"/>
          <p:cNvSpPr txBox="1"/>
          <p:nvPr/>
        </p:nvSpPr>
        <p:spPr>
          <a:xfrm>
            <a:off x="9235440" y="2880360"/>
            <a:ext cx="566928" cy="384048"/>
          </a:xfrm>
          <a:prstGeom prst="rect">
            <a:avLst/>
          </a:prstGeom>
          <a:solidFill>
            <a:srgbClr val="0C85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  <a:endParaRPr lang="ja-JP" sz="1300" dirty="0"/>
          </a:p>
        </p:txBody>
      </p:sp>
      <p:sp>
        <p:nvSpPr>
          <p:cNvPr id="39" name="Shape 39"/>
          <p:cNvSpPr txBox="1"/>
          <p:nvPr/>
        </p:nvSpPr>
        <p:spPr>
          <a:xfrm>
            <a:off x="9802368" y="2880360"/>
            <a:ext cx="566928" cy="384048"/>
          </a:xfrm>
          <a:prstGeom prst="rect">
            <a:avLst/>
          </a:prstGeom>
          <a:solidFill>
            <a:srgbClr val="0C85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  <a:endParaRPr lang="ja-JP" sz="1300" dirty="0"/>
          </a:p>
        </p:txBody>
      </p:sp>
      <p:sp>
        <p:nvSpPr>
          <p:cNvPr id="40" name="Shape 40"/>
          <p:cNvSpPr txBox="1"/>
          <p:nvPr/>
        </p:nvSpPr>
        <p:spPr>
          <a:xfrm>
            <a:off x="10369296" y="2880360"/>
            <a:ext cx="566928" cy="384048"/>
          </a:xfrm>
          <a:prstGeom prst="rect">
            <a:avLst/>
          </a:prstGeom>
          <a:solidFill>
            <a:srgbClr val="0C85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  <a:endParaRPr lang="ja-JP" sz="1300" dirty="0"/>
          </a:p>
        </p:txBody>
      </p:sp>
      <p:sp>
        <p:nvSpPr>
          <p:cNvPr id="41" name="Shape 41"/>
          <p:cNvSpPr txBox="1"/>
          <p:nvPr/>
        </p:nvSpPr>
        <p:spPr>
          <a:xfrm>
            <a:off x="6263640" y="3611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rgbClr val="9FB0CC"/>
                </a:solidFill>
                <a:latin typeface="Courier New"/>
                <a:ea typeface="Noto Sans CJK JP"/>
                <a:cs typeface="Courier New"/>
              </a:rPr>
              <a:t>X  (2,)</a:t>
            </a:r>
            <a:endParaRPr lang="ja-JP" sz="1200" dirty="0"/>
          </a:p>
        </p:txBody>
      </p:sp>
      <p:sp>
        <p:nvSpPr>
          <p:cNvPr id="42" name="Shape 42"/>
          <p:cNvSpPr txBox="1"/>
          <p:nvPr/>
        </p:nvSpPr>
        <p:spPr>
          <a:xfrm>
            <a:off x="7498080" y="3611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rgbClr val="9FB0CC"/>
                </a:solidFill>
                <a:latin typeface="Courier New"/>
                <a:ea typeface="Noto Sans CJK JP"/>
                <a:cs typeface="Courier New"/>
              </a:rPr>
              <a:t>W  (2, 3)</a:t>
            </a:r>
            <a:endParaRPr lang="ja-JP" sz="1200" dirty="0"/>
          </a:p>
        </p:txBody>
      </p:sp>
      <p:sp>
        <p:nvSpPr>
          <p:cNvPr id="43" name="Shape 43"/>
          <p:cNvSpPr txBox="1"/>
          <p:nvPr/>
        </p:nvSpPr>
        <p:spPr>
          <a:xfrm>
            <a:off x="9235440" y="3611880"/>
            <a:ext cx="17007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rgbClr val="9FB0CC"/>
                </a:solidFill>
                <a:latin typeface="Courier New"/>
                <a:ea typeface="Noto Sans CJK JP"/>
                <a:cs typeface="Courier New"/>
              </a:rPr>
              <a:t>Y  (3,)</a:t>
            </a:r>
            <a:endParaRPr lang="ja-JP" sz="1200" dirty="0"/>
          </a:p>
        </p:txBody>
      </p:sp>
      <p:sp>
        <p:nvSpPr>
          <p:cNvPr id="44" name="Shape 44"/>
          <p:cNvSpPr txBox="1"/>
          <p:nvPr/>
        </p:nvSpPr>
        <p:spPr>
          <a:xfrm>
            <a:off x="6263640" y="3977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内側の次元 2 がそろっているので計算できる</a:t>
            </a:r>
            <a:endParaRPr lang="ja-JP" sz="1200" dirty="0"/>
          </a:p>
        </p:txBody>
      </p:sp>
      <p:sp>
        <p:nvSpPr>
          <p:cNvPr id="45" name="Shape 45"/>
          <p:cNvSpPr/>
          <p:nvPr/>
        </p:nvSpPr>
        <p:spPr>
          <a:xfrm>
            <a:off x="5961888" y="4663440"/>
            <a:ext cx="5660136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6" name="Shape 46"/>
          <p:cNvSpPr txBox="1"/>
          <p:nvPr/>
        </p:nvSpPr>
        <p:spPr>
          <a:xfrm>
            <a:off x="6236208" y="4919472"/>
            <a:ext cx="457200" cy="457200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!</a:t>
            </a:r>
            <a:endParaRPr lang="ja-JP" sz="1500" dirty="0"/>
          </a:p>
        </p:txBody>
      </p:sp>
      <p:sp>
        <p:nvSpPr>
          <p:cNvPr id="47" name="Shape 47"/>
          <p:cNvSpPr txBox="1"/>
          <p:nvPr/>
        </p:nvSpPr>
        <p:spPr>
          <a:xfrm>
            <a:off x="6830568" y="4919472"/>
            <a:ext cx="460857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ポイント</a:t>
            </a:r>
            <a:endParaRPr lang="ja-JP" sz="1500" dirty="0"/>
          </a:p>
        </p:txBody>
      </p:sp>
      <p:sp>
        <p:nvSpPr>
          <p:cNvPr id="48" name="Shape 48"/>
          <p:cNvSpPr txBox="1"/>
          <p:nvPr/>
        </p:nvSpPr>
        <p:spPr>
          <a:xfrm>
            <a:off x="6236208" y="5532120"/>
            <a:ext cx="511149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3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y₁ = 1·x₁ + 2·x₂ = 5 のように、各出力は「入力 × 重みの列」の合計。ニューロンが何個あっても np.dot 1 回でまとめて計算できる。</a:t>
            </a:r>
            <a:endParaRPr lang="ja-JP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3-LAYER NETWORK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3層ニューラルネットワークの信号伝達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16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11055096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8" name="Line 8"/>
          <p:cNvCxnSpPr/>
          <p:nvPr/>
        </p:nvCxnSpPr>
        <p:spPr>
          <a:xfrm flipV="1">
            <a:off x="1714500" y="2446020"/>
            <a:ext cx="2834640" cy="41148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714500" y="2857500"/>
            <a:ext cx="2834640" cy="2743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714500" y="2857500"/>
            <a:ext cx="2834640" cy="9601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1" name="Line 11"/>
          <p:cNvCxnSpPr/>
          <p:nvPr/>
        </p:nvCxnSpPr>
        <p:spPr>
          <a:xfrm flipV="1">
            <a:off x="1714500" y="2446020"/>
            <a:ext cx="2834640" cy="11430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2" name="Line 12"/>
          <p:cNvCxnSpPr/>
          <p:nvPr/>
        </p:nvCxnSpPr>
        <p:spPr>
          <a:xfrm flipV="1">
            <a:off x="1714500" y="3131820"/>
            <a:ext cx="2834640" cy="4572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714500" y="3589020"/>
            <a:ext cx="2834640" cy="2286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549140" y="2446020"/>
            <a:ext cx="2834640" cy="41148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549140" y="2446020"/>
            <a:ext cx="2834640" cy="11430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6" name="Line 16"/>
          <p:cNvCxnSpPr/>
          <p:nvPr/>
        </p:nvCxnSpPr>
        <p:spPr>
          <a:xfrm flipV="1">
            <a:off x="4549140" y="2857500"/>
            <a:ext cx="2834640" cy="2743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549140" y="3131820"/>
            <a:ext cx="2834640" cy="4572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4549140" y="2857500"/>
            <a:ext cx="2834640" cy="9601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19" name="Line 19"/>
          <p:cNvCxnSpPr/>
          <p:nvPr/>
        </p:nvCxnSpPr>
        <p:spPr>
          <a:xfrm flipV="1">
            <a:off x="4549140" y="3589020"/>
            <a:ext cx="2834640" cy="22860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383780" y="2857500"/>
            <a:ext cx="2834640" cy="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383780" y="2857500"/>
            <a:ext cx="2834640" cy="7315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22" name="Line 22"/>
          <p:cNvCxnSpPr/>
          <p:nvPr/>
        </p:nvCxnSpPr>
        <p:spPr>
          <a:xfrm flipV="1">
            <a:off x="7383780" y="2857500"/>
            <a:ext cx="2834640" cy="73152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7383780" y="3589020"/>
            <a:ext cx="2834640" cy="0"/>
          </a:xfrm>
          <a:prstGeom prst="line">
            <a:avLst/>
          </a:prstGeom>
          <a:ln w="15875">
            <a:solidFill>
              <a:srgbClr val="C9D4EA"/>
            </a:solidFill>
          </a:ln>
        </p:spPr>
      </p:cxnSp>
      <p:sp>
        <p:nvSpPr>
          <p:cNvPr id="24" name="Shape 24"/>
          <p:cNvSpPr txBox="1"/>
          <p:nvPr/>
        </p:nvSpPr>
        <p:spPr>
          <a:xfrm>
            <a:off x="1463040" y="2606040"/>
            <a:ext cx="502920" cy="50292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x₁</a:t>
            </a:r>
            <a:endParaRPr lang="ja-JP" sz="1300" dirty="0"/>
          </a:p>
        </p:txBody>
      </p:sp>
      <p:sp>
        <p:nvSpPr>
          <p:cNvPr id="25" name="Shape 25"/>
          <p:cNvSpPr txBox="1"/>
          <p:nvPr/>
        </p:nvSpPr>
        <p:spPr>
          <a:xfrm>
            <a:off x="1463040" y="3337560"/>
            <a:ext cx="502920" cy="502920"/>
          </a:xfrm>
          <a:prstGeom prst="ellipse">
            <a:avLst/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x₂</a:t>
            </a:r>
            <a:endParaRPr lang="ja-JP" sz="1300" dirty="0"/>
          </a:p>
        </p:txBody>
      </p:sp>
      <p:sp>
        <p:nvSpPr>
          <p:cNvPr id="26" name="Shape 26"/>
          <p:cNvSpPr txBox="1"/>
          <p:nvPr/>
        </p:nvSpPr>
        <p:spPr>
          <a:xfrm>
            <a:off x="4297680" y="2194560"/>
            <a:ext cx="502920" cy="50292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300" dirty="0"/>
          </a:p>
        </p:txBody>
      </p:sp>
      <p:sp>
        <p:nvSpPr>
          <p:cNvPr id="27" name="Shape 27"/>
          <p:cNvSpPr txBox="1"/>
          <p:nvPr/>
        </p:nvSpPr>
        <p:spPr>
          <a:xfrm>
            <a:off x="4297680" y="2880360"/>
            <a:ext cx="502920" cy="50292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300" dirty="0"/>
          </a:p>
        </p:txBody>
      </p:sp>
      <p:sp>
        <p:nvSpPr>
          <p:cNvPr id="28" name="Shape 28"/>
          <p:cNvSpPr txBox="1"/>
          <p:nvPr/>
        </p:nvSpPr>
        <p:spPr>
          <a:xfrm>
            <a:off x="4297680" y="3566160"/>
            <a:ext cx="502920" cy="50292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300" dirty="0"/>
          </a:p>
        </p:txBody>
      </p:sp>
      <p:sp>
        <p:nvSpPr>
          <p:cNvPr id="29" name="Shape 29"/>
          <p:cNvSpPr txBox="1"/>
          <p:nvPr/>
        </p:nvSpPr>
        <p:spPr>
          <a:xfrm>
            <a:off x="7132320" y="2606040"/>
            <a:ext cx="502920" cy="50292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300" dirty="0"/>
          </a:p>
        </p:txBody>
      </p:sp>
      <p:sp>
        <p:nvSpPr>
          <p:cNvPr id="30" name="Shape 30"/>
          <p:cNvSpPr txBox="1"/>
          <p:nvPr/>
        </p:nvSpPr>
        <p:spPr>
          <a:xfrm>
            <a:off x="7132320" y="3337560"/>
            <a:ext cx="502920" cy="50292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300" dirty="0"/>
          </a:p>
        </p:txBody>
      </p:sp>
      <p:sp>
        <p:nvSpPr>
          <p:cNvPr id="31" name="Shape 31"/>
          <p:cNvSpPr txBox="1"/>
          <p:nvPr/>
        </p:nvSpPr>
        <p:spPr>
          <a:xfrm>
            <a:off x="9966960" y="260604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y₁</a:t>
            </a:r>
            <a:endParaRPr lang="ja-JP" sz="1300" dirty="0"/>
          </a:p>
        </p:txBody>
      </p:sp>
      <p:sp>
        <p:nvSpPr>
          <p:cNvPr id="32" name="Shape 32"/>
          <p:cNvSpPr txBox="1"/>
          <p:nvPr/>
        </p:nvSpPr>
        <p:spPr>
          <a:xfrm>
            <a:off x="9966960" y="333756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y₂</a:t>
            </a:r>
            <a:endParaRPr lang="ja-JP" sz="1300" dirty="0"/>
          </a:p>
        </p:txBody>
      </p:sp>
      <p:sp>
        <p:nvSpPr>
          <p:cNvPr id="33" name="Shape 33"/>
          <p:cNvSpPr txBox="1"/>
          <p:nvPr/>
        </p:nvSpPr>
        <p:spPr>
          <a:xfrm>
            <a:off x="2148840" y="1828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W1 (2×3), b1</a:t>
            </a:r>
            <a:endParaRPr lang="ja-JP" sz="1100" dirty="0"/>
          </a:p>
        </p:txBody>
      </p:sp>
      <p:sp>
        <p:nvSpPr>
          <p:cNvPr id="34" name="Shape 34"/>
          <p:cNvSpPr txBox="1"/>
          <p:nvPr/>
        </p:nvSpPr>
        <p:spPr>
          <a:xfrm>
            <a:off x="4983480" y="1828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W2 (3×2), b2</a:t>
            </a:r>
            <a:endParaRPr lang="ja-JP" sz="1100" dirty="0"/>
          </a:p>
        </p:txBody>
      </p:sp>
      <p:sp>
        <p:nvSpPr>
          <p:cNvPr id="35" name="Shape 35"/>
          <p:cNvSpPr txBox="1"/>
          <p:nvPr/>
        </p:nvSpPr>
        <p:spPr>
          <a:xfrm>
            <a:off x="7818120" y="1828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W3 (2×2), b3</a:t>
            </a:r>
            <a:endParaRPr lang="ja-JP" sz="1100" dirty="0"/>
          </a:p>
        </p:txBody>
      </p:sp>
      <p:sp>
        <p:nvSpPr>
          <p:cNvPr id="36" name="Shape 36"/>
          <p:cNvSpPr txBox="1"/>
          <p:nvPr/>
        </p:nvSpPr>
        <p:spPr>
          <a:xfrm>
            <a:off x="822960" y="4206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入力層 (2)</a:t>
            </a:r>
            <a:endParaRPr lang="ja-JP" sz="1200" dirty="0"/>
          </a:p>
        </p:txBody>
      </p:sp>
      <p:sp>
        <p:nvSpPr>
          <p:cNvPr id="37" name="Shape 37"/>
          <p:cNvSpPr txBox="1"/>
          <p:nvPr/>
        </p:nvSpPr>
        <p:spPr>
          <a:xfrm>
            <a:off x="3657600" y="4206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第1層 (3)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sigmoid</a:t>
            </a:r>
            <a:endParaRPr lang="ja-JP" sz="1200" dirty="0"/>
          </a:p>
        </p:txBody>
      </p:sp>
      <p:sp>
        <p:nvSpPr>
          <p:cNvPr id="38" name="Shape 38"/>
          <p:cNvSpPr txBox="1"/>
          <p:nvPr/>
        </p:nvSpPr>
        <p:spPr>
          <a:xfrm>
            <a:off x="6492240" y="4206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第2層 (2)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sigmoid</a:t>
            </a:r>
            <a:endParaRPr lang="ja-JP" sz="1200" dirty="0"/>
          </a:p>
        </p:txBody>
      </p:sp>
      <p:sp>
        <p:nvSpPr>
          <p:cNvPr id="39" name="Shape 39"/>
          <p:cNvSpPr txBox="1"/>
          <p:nvPr/>
        </p:nvSpPr>
        <p:spPr>
          <a:xfrm>
            <a:off x="9326880" y="4206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出力層 (2)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恒等関数</a:t>
            </a:r>
            <a:endParaRPr lang="ja-JP" sz="1200" dirty="0"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3502152" cy="1463040"/>
          </a:xfrm>
          <a:prstGeom prst="roundRect">
            <a:avLst>
              <a:gd name="adj" fmla="val 750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1" name="Shape 41"/>
          <p:cNvSpPr txBox="1"/>
          <p:nvPr/>
        </p:nvSpPr>
        <p:spPr>
          <a:xfrm>
            <a:off x="841248" y="5010912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第1層</a:t>
            </a:r>
            <a:endParaRPr lang="ja-JP" sz="1300" dirty="0"/>
          </a:p>
        </p:txBody>
      </p:sp>
      <p:sp>
        <p:nvSpPr>
          <p:cNvPr id="42" name="Shape 42"/>
          <p:cNvSpPr txBox="1"/>
          <p:nvPr/>
        </p:nvSpPr>
        <p:spPr>
          <a:xfrm>
            <a:off x="841248" y="5376672"/>
            <a:ext cx="30449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a1 = np.dot(x, W1) + b1</a:t>
            </a:r>
            <a:endParaRPr lang="ja-JP" sz="1150" dirty="0"/>
          </a:p>
          <a:p>
            <a:pPr marL="0" indent="0" algn="l"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z1 = sigmoid(a1)</a:t>
            </a:r>
            <a:endParaRPr lang="ja-JP" sz="1150" dirty="0"/>
          </a:p>
        </p:txBody>
      </p:sp>
      <p:sp>
        <p:nvSpPr>
          <p:cNvPr id="43" name="Shape 43"/>
          <p:cNvSpPr txBox="1"/>
          <p:nvPr/>
        </p:nvSpPr>
        <p:spPr>
          <a:xfrm>
            <a:off x="841248" y="5943600"/>
            <a:ext cx="30449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(2,)·(2,3)+(3,) → (3,)</a:t>
            </a:r>
            <a:endParaRPr lang="ja-JP" sz="1100" dirty="0"/>
          </a:p>
        </p:txBody>
      </p:sp>
      <p:sp>
        <p:nvSpPr>
          <p:cNvPr id="44" name="Shape 44"/>
          <p:cNvSpPr/>
          <p:nvPr/>
        </p:nvSpPr>
        <p:spPr>
          <a:xfrm>
            <a:off x="4343400" y="4937760"/>
            <a:ext cx="3502152" cy="1463040"/>
          </a:xfrm>
          <a:prstGeom prst="roundRect">
            <a:avLst>
              <a:gd name="adj" fmla="val 750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5" name="Shape 45"/>
          <p:cNvSpPr txBox="1"/>
          <p:nvPr/>
        </p:nvSpPr>
        <p:spPr>
          <a:xfrm>
            <a:off x="4617720" y="5010912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第2層</a:t>
            </a:r>
            <a:endParaRPr lang="ja-JP" sz="1300" dirty="0"/>
          </a:p>
        </p:txBody>
      </p:sp>
      <p:sp>
        <p:nvSpPr>
          <p:cNvPr id="46" name="Shape 46"/>
          <p:cNvSpPr txBox="1"/>
          <p:nvPr/>
        </p:nvSpPr>
        <p:spPr>
          <a:xfrm>
            <a:off x="4617720" y="5376672"/>
            <a:ext cx="30449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a2 = np.dot(z1, W2) + b2</a:t>
            </a:r>
            <a:endParaRPr lang="ja-JP" sz="1150" dirty="0"/>
          </a:p>
          <a:p>
            <a:pPr marL="0" indent="0" algn="l"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z2 = sigmoid(a2)</a:t>
            </a:r>
            <a:endParaRPr lang="ja-JP" sz="1150" dirty="0"/>
          </a:p>
        </p:txBody>
      </p:sp>
      <p:sp>
        <p:nvSpPr>
          <p:cNvPr id="47" name="Shape 47"/>
          <p:cNvSpPr txBox="1"/>
          <p:nvPr/>
        </p:nvSpPr>
        <p:spPr>
          <a:xfrm>
            <a:off x="4617720" y="5943600"/>
            <a:ext cx="30449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(3,)·(3,2)+(2,) → (2,)</a:t>
            </a:r>
            <a:endParaRPr lang="ja-JP" sz="1100" dirty="0"/>
          </a:p>
        </p:txBody>
      </p:sp>
      <p:sp>
        <p:nvSpPr>
          <p:cNvPr id="48" name="Shape 48"/>
          <p:cNvSpPr/>
          <p:nvPr/>
        </p:nvSpPr>
        <p:spPr>
          <a:xfrm>
            <a:off x="8119872" y="4937760"/>
            <a:ext cx="3502152" cy="1463040"/>
          </a:xfrm>
          <a:prstGeom prst="roundRect">
            <a:avLst>
              <a:gd name="adj" fmla="val 750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9" name="Shape 49"/>
          <p:cNvSpPr txBox="1"/>
          <p:nvPr/>
        </p:nvSpPr>
        <p:spPr>
          <a:xfrm>
            <a:off x="8394192" y="5010912"/>
            <a:ext cx="2953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出力層</a:t>
            </a:r>
            <a:endParaRPr lang="ja-JP" sz="1300" dirty="0"/>
          </a:p>
        </p:txBody>
      </p:sp>
      <p:sp>
        <p:nvSpPr>
          <p:cNvPr id="50" name="Shape 50"/>
          <p:cNvSpPr txBox="1"/>
          <p:nvPr/>
        </p:nvSpPr>
        <p:spPr>
          <a:xfrm>
            <a:off x="8394192" y="5376672"/>
            <a:ext cx="30449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a3 = np.dot(z2, W3) + b3</a:t>
            </a:r>
            <a:endParaRPr lang="ja-JP" sz="1150" dirty="0"/>
          </a:p>
          <a:p>
            <a:pPr marL="0" indent="0" algn="l"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y = identity_function(a3)</a:t>
            </a:r>
            <a:endParaRPr lang="ja-JP" sz="1150" dirty="0"/>
          </a:p>
        </p:txBody>
      </p:sp>
      <p:sp>
        <p:nvSpPr>
          <p:cNvPr id="51" name="Shape 51"/>
          <p:cNvSpPr txBox="1"/>
          <p:nvPr/>
        </p:nvSpPr>
        <p:spPr>
          <a:xfrm>
            <a:off x="8394192" y="5943600"/>
            <a:ext cx="30449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(2,)·(2,2)+(2,) → (2,)</a:t>
            </a:r>
            <a:endParaRPr lang="ja-JP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CODE WALKTHROUGH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コード解説 ― three-layer-nn.py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17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6400800" cy="4663440"/>
          </a:xfrm>
          <a:prstGeom prst="roundRect">
            <a:avLst>
              <a:gd name="adj" fmla="val 2352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/>
          <p:nvPr/>
        </p:nvSpPr>
        <p:spPr>
          <a:xfrm>
            <a:off x="813816" y="1956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9" name="Shape 9"/>
          <p:cNvSpPr/>
          <p:nvPr/>
        </p:nvSpPr>
        <p:spPr>
          <a:xfrm>
            <a:off x="1042416" y="1956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0" name="Shape 10"/>
          <p:cNvSpPr/>
          <p:nvPr/>
        </p:nvSpPr>
        <p:spPr>
          <a:xfrm>
            <a:off x="1271016" y="1956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1572768" y="18562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three-layer-nn.py（抜粋）</a:t>
            </a:r>
            <a:endParaRPr lang="ja-JP" sz="1400" dirty="0"/>
          </a:p>
        </p:txBody>
      </p:sp>
      <p:sp>
        <p:nvSpPr>
          <p:cNvPr id="12" name="Shape 12"/>
          <p:cNvSpPr txBox="1"/>
          <p:nvPr/>
        </p:nvSpPr>
        <p:spPr>
          <a:xfrm>
            <a:off x="841248" y="2304288"/>
            <a:ext cx="5943600" cy="3959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init_network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network = {}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"W1"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0.5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                      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0.6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"b1"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W2, b2, W3, b3 も同様に設定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network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forward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(network, x):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W1, W2, W3 =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"W1"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"W2"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"W3"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b1, b2, b3 =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"b1"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"b2"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], network[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"b3"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a1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(x, W1) + b1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z1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sigmoid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(a1)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a2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(z1, W2) + b2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z2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sigmoid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(a2)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a3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(z2, W3) + b3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y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identity_function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(a3)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y</a:t>
            </a:r>
            <a:endParaRPr lang="ja-JP" sz="1100" dirty="0"/>
          </a:p>
        </p:txBody>
      </p:sp>
      <p:sp>
        <p:nvSpPr>
          <p:cNvPr id="13" name="Shape 13"/>
          <p:cNvSpPr/>
          <p:nvPr/>
        </p:nvSpPr>
        <p:spPr>
          <a:xfrm>
            <a:off x="7242048" y="1737360"/>
            <a:ext cx="4379976" cy="1783080"/>
          </a:xfrm>
          <a:prstGeom prst="roundRect">
            <a:avLst>
              <a:gd name="adj" fmla="val 6153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4" name="Shape 14"/>
          <p:cNvSpPr txBox="1"/>
          <p:nvPr/>
        </p:nvSpPr>
        <p:spPr>
          <a:xfrm>
            <a:off x="7498080" y="1828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実行例</a:t>
            </a:r>
            <a:endParaRPr lang="ja-JP" sz="1200" dirty="0"/>
          </a:p>
        </p:txBody>
      </p:sp>
      <p:sp>
        <p:nvSpPr>
          <p:cNvPr id="15" name="Shape 15"/>
          <p:cNvSpPr txBox="1"/>
          <p:nvPr/>
        </p:nvSpPr>
        <p:spPr>
          <a:xfrm>
            <a:off x="7498080" y="2212848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network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init_network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x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1.0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0.5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y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forward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(network, x)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print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(y)</a:t>
            </a:r>
            <a:endParaRPr lang="ja-JP" sz="1100" dirty="0"/>
          </a:p>
        </p:txBody>
      </p:sp>
      <p:sp>
        <p:nvSpPr>
          <p:cNvPr id="16" name="Shape 16"/>
          <p:cNvSpPr/>
          <p:nvPr/>
        </p:nvSpPr>
        <p:spPr>
          <a:xfrm>
            <a:off x="7242048" y="3703320"/>
            <a:ext cx="4379976" cy="868680"/>
          </a:xfrm>
          <a:prstGeom prst="roundRect">
            <a:avLst>
              <a:gd name="adj" fmla="val 12631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 txBox="1"/>
          <p:nvPr/>
        </p:nvSpPr>
        <p:spPr>
          <a:xfrm>
            <a:off x="7498080" y="3749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実行結果</a:t>
            </a:r>
            <a:endParaRPr lang="ja-JP" sz="1200" dirty="0"/>
          </a:p>
        </p:txBody>
      </p:sp>
      <p:sp>
        <p:nvSpPr>
          <p:cNvPr id="18" name="Shape 18"/>
          <p:cNvSpPr txBox="1"/>
          <p:nvPr/>
        </p:nvSpPr>
        <p:spPr>
          <a:xfrm>
            <a:off x="7498080" y="4069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[0.31682708 0.69627909]</a:t>
            </a:r>
            <a:endParaRPr lang="ja-JP" sz="1300" dirty="0"/>
          </a:p>
        </p:txBody>
      </p:sp>
      <p:sp>
        <p:nvSpPr>
          <p:cNvPr id="19" name="Shape 19"/>
          <p:cNvSpPr/>
          <p:nvPr/>
        </p:nvSpPr>
        <p:spPr>
          <a:xfrm>
            <a:off x="7242048" y="4754880"/>
            <a:ext cx="4379976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0" name="Shape 20"/>
          <p:cNvSpPr txBox="1"/>
          <p:nvPr/>
        </p:nvSpPr>
        <p:spPr>
          <a:xfrm>
            <a:off x="7498080" y="4892040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・init_network：重みとバイアスを辞書にまとめて準備する</a:t>
            </a:r>
            <a:endParaRPr lang="ja-JP" sz="1250" dirty="0"/>
          </a:p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・forward：入力から出力へ信号を伝える（順伝播）</a:t>
            </a:r>
            <a:endParaRPr lang="ja-JP" sz="1250" dirty="0"/>
          </a:p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・推論は「np.dot → 活性化関数」の繰り返し</a:t>
            </a:r>
            <a:endParaRPr lang="ja-JP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OUTPUT LAYER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出力層の設計 ― 恒等関数とソフトマックス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18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30352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41248" y="1993392"/>
            <a:ext cx="457200" cy="457200"/>
          </a:xfrm>
          <a:prstGeom prst="ellipse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=</a:t>
            </a:r>
            <a:endParaRPr lang="ja-JP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1435608" y="199339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恒等関数（回帰問題）</a:t>
            </a:r>
            <a:endParaRPr lang="ja-JP" sz="1500" dirty="0"/>
          </a:p>
        </p:txBody>
      </p:sp>
      <p:sp>
        <p:nvSpPr>
          <p:cNvPr id="10" name="Shape 10"/>
          <p:cNvSpPr txBox="1"/>
          <p:nvPr/>
        </p:nvSpPr>
        <p:spPr>
          <a:xfrm>
            <a:off x="841248" y="2606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3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入力をそのまま出力する（y = a）。数値を予測する問題で使う。</a:t>
            </a:r>
            <a:endParaRPr lang="ja-JP" sz="1300" dirty="0"/>
          </a:p>
        </p:txBody>
      </p:sp>
      <p:sp>
        <p:nvSpPr>
          <p:cNvPr id="11" name="Shape 11"/>
          <p:cNvSpPr/>
          <p:nvPr/>
        </p:nvSpPr>
        <p:spPr>
          <a:xfrm>
            <a:off x="566928" y="333756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2" name="Shape 12"/>
          <p:cNvSpPr txBox="1"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ソフトマックス関数（分類問題）</a:t>
            </a:r>
            <a:endParaRPr lang="ja-JP" sz="1400" dirty="0"/>
          </a:p>
        </p:txBody>
      </p:sp>
      <p:sp>
        <p:nvSpPr>
          <p:cNvPr id="13" name="Shape 13"/>
          <p:cNvSpPr txBox="1"/>
          <p:nvPr/>
        </p:nvSpPr>
        <p:spPr>
          <a:xfrm>
            <a:off x="1005840" y="38862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yₖ = </a:t>
            </a:r>
            <a:r>
              <a:rPr lang="ja-JP" altLang="en-US" sz="2000" dirty="0">
                <a:solidFill>
                  <a:srgbClr val="C9D4EA"/>
                </a:solidFill>
                <a:latin typeface="Noto Sans CJK JP"/>
                <a:ea typeface="Noto Sans CJK JP"/>
                <a:cs typeface="Noto Sans CJK JP"/>
              </a:rPr>
              <a:t>exp(aₖ) / Σᵢ exp(aᵢ)</a:t>
            </a:r>
            <a:endParaRPr lang="ja-JP" sz="2000" dirty="0"/>
          </a:p>
        </p:txBody>
      </p:sp>
      <p:sp>
        <p:nvSpPr>
          <p:cNvPr id="14" name="Shape 14"/>
          <p:cNvSpPr txBox="1"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出力は 0〜1 で合計は 1 → 「確率」として読める</a:t>
            </a:r>
            <a:endParaRPr lang="ja-JP" sz="1200" dirty="0"/>
          </a:p>
        </p:txBody>
      </p:sp>
      <p:sp>
        <p:nvSpPr>
          <p:cNvPr id="15" name="Shape 15"/>
          <p:cNvSpPr/>
          <p:nvPr/>
        </p:nvSpPr>
        <p:spPr>
          <a:xfrm>
            <a:off x="566928" y="512064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CEBC7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6" name="Shape 16"/>
          <p:cNvSpPr txBox="1"/>
          <p:nvPr/>
        </p:nvSpPr>
        <p:spPr>
          <a:xfrm>
            <a:off x="841248" y="52120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注意：オーバーフロー</a:t>
            </a:r>
            <a:endParaRPr lang="ja-JP" sz="1300" dirty="0"/>
          </a:p>
        </p:txBody>
      </p:sp>
      <p:sp>
        <p:nvSpPr>
          <p:cNvPr id="17" name="Shape 17"/>
          <p:cNvSpPr txBox="1"/>
          <p:nvPr/>
        </p:nvSpPr>
        <p:spPr>
          <a:xfrm>
            <a:off x="841248" y="5532120"/>
            <a:ext cx="4800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exp(1000) は inf になる。最大値を引いてから計算する：np.exp(a - np.max(a))。common/functions.py は対策済み、activate_functon.py は未対策。</a:t>
            </a:r>
            <a:endParaRPr lang="ja-JP" sz="1150" dirty="0"/>
          </a:p>
        </p:txBody>
      </p:sp>
      <p:sp>
        <p:nvSpPr>
          <p:cNvPr id="18" name="Shape 18"/>
          <p:cNvSpPr/>
          <p:nvPr/>
        </p:nvSpPr>
        <p:spPr>
          <a:xfrm>
            <a:off x="6144768" y="1737360"/>
            <a:ext cx="5477256" cy="466344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9" name="Shape 19"/>
          <p:cNvSpPr txBox="1"/>
          <p:nvPr/>
        </p:nvSpPr>
        <p:spPr>
          <a:xfrm>
            <a:off x="6419088" y="1874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例：a = [0.3, 2.9, 4.0] のとき</a:t>
            </a:r>
            <a:endParaRPr lang="ja-JP" sz="1500" dirty="0"/>
          </a:p>
        </p:txBody>
      </p:sp>
      <p:sp>
        <p:nvSpPr>
          <p:cNvPr id="20" name="Shape 20"/>
          <p:cNvSpPr txBox="1"/>
          <p:nvPr/>
        </p:nvSpPr>
        <p:spPr>
          <a:xfrm>
            <a:off x="6419088" y="251460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a = 0.3</a:t>
            </a:r>
            <a:endParaRPr lang="ja-JP" sz="1300" dirty="0"/>
          </a:p>
        </p:txBody>
      </p:sp>
      <p:sp>
        <p:nvSpPr>
          <p:cNvPr id="21" name="Shape 21"/>
          <p:cNvSpPr/>
          <p:nvPr/>
        </p:nvSpPr>
        <p:spPr>
          <a:xfrm>
            <a:off x="7726680" y="2606040"/>
            <a:ext cx="3017520" cy="32004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2" name="Shape 22"/>
          <p:cNvSpPr/>
          <p:nvPr/>
        </p:nvSpPr>
        <p:spPr>
          <a:xfrm>
            <a:off x="7726680" y="2606040"/>
            <a:ext cx="54315" cy="320040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3" name="Shape 23"/>
          <p:cNvSpPr txBox="1"/>
          <p:nvPr/>
        </p:nvSpPr>
        <p:spPr>
          <a:xfrm>
            <a:off x="10789920" y="25146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0.018</a:t>
            </a:r>
            <a:endParaRPr lang="ja-JP" sz="1300" dirty="0"/>
          </a:p>
        </p:txBody>
      </p:sp>
      <p:sp>
        <p:nvSpPr>
          <p:cNvPr id="24" name="Shape 24"/>
          <p:cNvSpPr txBox="1"/>
          <p:nvPr/>
        </p:nvSpPr>
        <p:spPr>
          <a:xfrm>
            <a:off x="6419088" y="329184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a = 2.9</a:t>
            </a:r>
            <a:endParaRPr lang="ja-JP" sz="1300" dirty="0"/>
          </a:p>
        </p:txBody>
      </p:sp>
      <p:sp>
        <p:nvSpPr>
          <p:cNvPr id="25" name="Shape 25"/>
          <p:cNvSpPr/>
          <p:nvPr/>
        </p:nvSpPr>
        <p:spPr>
          <a:xfrm>
            <a:off x="7726680" y="3383280"/>
            <a:ext cx="3017520" cy="32004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6" name="Shape 26"/>
          <p:cNvSpPr/>
          <p:nvPr/>
        </p:nvSpPr>
        <p:spPr>
          <a:xfrm>
            <a:off x="7726680" y="3383280"/>
            <a:ext cx="739292" cy="320040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7" name="Shape 27"/>
          <p:cNvSpPr txBox="1"/>
          <p:nvPr/>
        </p:nvSpPr>
        <p:spPr>
          <a:xfrm>
            <a:off x="10789920" y="329184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0.245</a:t>
            </a:r>
            <a:endParaRPr lang="ja-JP" sz="1300" dirty="0"/>
          </a:p>
        </p:txBody>
      </p:sp>
      <p:sp>
        <p:nvSpPr>
          <p:cNvPr id="28" name="Shape 28"/>
          <p:cNvSpPr txBox="1"/>
          <p:nvPr/>
        </p:nvSpPr>
        <p:spPr>
          <a:xfrm>
            <a:off x="6419088" y="40690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a = 4.0</a:t>
            </a:r>
            <a:endParaRPr lang="ja-JP" sz="1300" dirty="0"/>
          </a:p>
        </p:txBody>
      </p:sp>
      <p:sp>
        <p:nvSpPr>
          <p:cNvPr id="29" name="Shape 29"/>
          <p:cNvSpPr/>
          <p:nvPr/>
        </p:nvSpPr>
        <p:spPr>
          <a:xfrm>
            <a:off x="7726680" y="4160520"/>
            <a:ext cx="3017520" cy="32004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0" name="Shape 30"/>
          <p:cNvSpPr/>
          <p:nvPr/>
        </p:nvSpPr>
        <p:spPr>
          <a:xfrm>
            <a:off x="7726680" y="4160520"/>
            <a:ext cx="2223912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1" name="Shape 31"/>
          <p:cNvSpPr txBox="1"/>
          <p:nvPr/>
        </p:nvSpPr>
        <p:spPr>
          <a:xfrm>
            <a:off x="10789920" y="406908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0.737</a:t>
            </a:r>
            <a:endParaRPr lang="ja-JP" sz="1300" dirty="0"/>
          </a:p>
        </p:txBody>
      </p:sp>
      <p:sp>
        <p:nvSpPr>
          <p:cNvPr id="32" name="Shape 32"/>
          <p:cNvSpPr txBox="1"/>
          <p:nvPr/>
        </p:nvSpPr>
        <p:spPr>
          <a:xfrm>
            <a:off x="6419088" y="4800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合計 = 1.000</a:t>
            </a: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　大小の順番は a と同じ</a:t>
            </a:r>
            <a:endParaRPr lang="ja-JP" sz="1500" dirty="0"/>
          </a:p>
        </p:txBody>
      </p:sp>
      <p:sp>
        <p:nvSpPr>
          <p:cNvPr id="33" name="Shape 33"/>
          <p:cNvSpPr txBox="1"/>
          <p:nvPr/>
        </p:nvSpPr>
        <p:spPr>
          <a:xfrm>
            <a:off x="6419088" y="5440680"/>
            <a:ext cx="4937760" cy="640080"/>
          </a:xfrm>
          <a:prstGeom prst="roundRect">
            <a:avLst>
              <a:gd name="adj" fmla="val 11428"/>
            </a:avLst>
          </a:prstGeom>
          <a:solidFill>
            <a:srgbClr val="0B13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y = softmax(a)   # [0.018 0.245 0.737]</a:t>
            </a:r>
            <a:endParaRPr lang="ja-JP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DATASET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MNIST ― 手書き数字のデータセット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19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4572000" cy="46634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7048" y="1965960"/>
            <a:ext cx="2651760" cy="2651760"/>
          </a:xfrm>
          <a:prstGeom prst="rect">
            <a:avLst/>
          </a:prstGeom>
        </p:spPr>
      </p:pic>
      <p:sp>
        <p:nvSpPr>
          <p:cNvPr id="9" name="Shape 9"/>
          <p:cNvSpPr txBox="1"/>
          <p:nvPr/>
        </p:nvSpPr>
        <p:spPr>
          <a:xfrm>
            <a:off x="868680" y="466344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x_train[0]（正解ラベル 5）28 × 28 ピクセル</a:t>
            </a:r>
            <a:endParaRPr lang="ja-JP" sz="115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5166360"/>
            <a:ext cx="3931920" cy="393192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868680" y="566928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0〜9 の 10 クラスに分類する</a:t>
            </a:r>
            <a:endParaRPr lang="ja-JP" sz="1150" dirty="0"/>
          </a:p>
        </p:txBody>
      </p:sp>
      <p:sp>
        <p:nvSpPr>
          <p:cNvPr id="12" name="Shape 12"/>
          <p:cNvSpPr/>
          <p:nvPr/>
        </p:nvSpPr>
        <p:spPr>
          <a:xfrm>
            <a:off x="5413248" y="1737360"/>
            <a:ext cx="1886712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 txBox="1"/>
          <p:nvPr/>
        </p:nvSpPr>
        <p:spPr>
          <a:xfrm>
            <a:off x="5596128" y="1874520"/>
            <a:ext cx="152095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60,000</a:t>
            </a:r>
            <a:endParaRPr lang="ja-JP" sz="2800" dirty="0"/>
          </a:p>
        </p:txBody>
      </p:sp>
      <p:sp>
        <p:nvSpPr>
          <p:cNvPr id="14" name="Shape 14"/>
          <p:cNvSpPr txBox="1"/>
          <p:nvPr/>
        </p:nvSpPr>
        <p:spPr>
          <a:xfrm>
            <a:off x="5550408" y="2606040"/>
            <a:ext cx="16123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訓練画像</a:t>
            </a:r>
            <a:endParaRPr lang="ja-JP" sz="1150" dirty="0"/>
          </a:p>
        </p:txBody>
      </p:sp>
      <p:sp>
        <p:nvSpPr>
          <p:cNvPr id="15" name="Shape 15"/>
          <p:cNvSpPr/>
          <p:nvPr/>
        </p:nvSpPr>
        <p:spPr>
          <a:xfrm>
            <a:off x="7574280" y="1737360"/>
            <a:ext cx="1886712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6" name="Shape 16"/>
          <p:cNvSpPr txBox="1"/>
          <p:nvPr/>
        </p:nvSpPr>
        <p:spPr>
          <a:xfrm>
            <a:off x="7757160" y="1874520"/>
            <a:ext cx="152095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10,000</a:t>
            </a:r>
            <a:endParaRPr lang="ja-JP" sz="2800" dirty="0"/>
          </a:p>
        </p:txBody>
      </p:sp>
      <p:sp>
        <p:nvSpPr>
          <p:cNvPr id="17" name="Shape 17"/>
          <p:cNvSpPr txBox="1"/>
          <p:nvPr/>
        </p:nvSpPr>
        <p:spPr>
          <a:xfrm>
            <a:off x="7711440" y="2606040"/>
            <a:ext cx="16123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テスト画像</a:t>
            </a:r>
            <a:endParaRPr lang="ja-JP" sz="1150" dirty="0"/>
          </a:p>
        </p:txBody>
      </p:sp>
      <p:sp>
        <p:nvSpPr>
          <p:cNvPr id="18" name="Shape 18"/>
          <p:cNvSpPr/>
          <p:nvPr/>
        </p:nvSpPr>
        <p:spPr>
          <a:xfrm>
            <a:off x="9735312" y="1737360"/>
            <a:ext cx="1886712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9" name="Shape 19"/>
          <p:cNvSpPr txBox="1"/>
          <p:nvPr/>
        </p:nvSpPr>
        <p:spPr>
          <a:xfrm>
            <a:off x="9918192" y="1874520"/>
            <a:ext cx="152095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13B5A6"/>
                </a:solidFill>
                <a:latin typeface="Noto Sans CJK JP"/>
                <a:ea typeface="Noto Sans CJK JP"/>
                <a:cs typeface="Noto Sans CJK JP"/>
              </a:rPr>
              <a:t>784</a:t>
            </a:r>
            <a:endParaRPr lang="ja-JP" sz="2800" dirty="0"/>
          </a:p>
        </p:txBody>
      </p:sp>
      <p:sp>
        <p:nvSpPr>
          <p:cNvPr id="20" name="Shape 20"/>
          <p:cNvSpPr txBox="1"/>
          <p:nvPr/>
        </p:nvSpPr>
        <p:spPr>
          <a:xfrm>
            <a:off x="9872472" y="2606040"/>
            <a:ext cx="16123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1 枚の画素数（28×28）</a:t>
            </a:r>
            <a:endParaRPr lang="ja-JP" sz="1150" dirty="0"/>
          </a:p>
        </p:txBody>
      </p:sp>
      <p:sp>
        <p:nvSpPr>
          <p:cNvPr id="21" name="Shape 21"/>
          <p:cNvSpPr/>
          <p:nvPr/>
        </p:nvSpPr>
        <p:spPr>
          <a:xfrm>
            <a:off x="5413248" y="3474720"/>
            <a:ext cx="620877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2" name="Shape 22"/>
          <p:cNvSpPr txBox="1"/>
          <p:nvPr/>
        </p:nvSpPr>
        <p:spPr>
          <a:xfrm>
            <a:off x="5687568" y="361188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load_mnist(normalize, flatten, one_hot_label)</a:t>
            </a:r>
            <a:endParaRPr lang="ja-JP" sz="1300" dirty="0"/>
          </a:p>
        </p:txBody>
      </p:sp>
      <p:cxnSp>
        <p:nvCxnSpPr>
          <p:cNvPr id="23" name="Line 23"/>
          <p:cNvCxnSpPr/>
          <p:nvPr/>
        </p:nvCxnSpPr>
        <p:spPr>
          <a:xfrm>
            <a:off x="5687568" y="4105656"/>
            <a:ext cx="5660136" cy="0"/>
          </a:xfrm>
          <a:prstGeom prst="line">
            <a:avLst/>
          </a:prstGeom>
          <a:ln w="12700">
            <a:solidFill>
              <a:srgbClr val="EEF2F9"/>
            </a:solidFill>
          </a:ln>
        </p:spPr>
      </p:cxnSp>
      <p:sp>
        <p:nvSpPr>
          <p:cNvPr id="24" name="Shape 24"/>
          <p:cNvSpPr txBox="1"/>
          <p:nvPr/>
        </p:nvSpPr>
        <p:spPr>
          <a:xfrm>
            <a:off x="5687568" y="41605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normalize=True</a:t>
            </a:r>
            <a:endParaRPr lang="ja-JP" sz="1200" dirty="0"/>
          </a:p>
        </p:txBody>
      </p:sp>
      <p:sp>
        <p:nvSpPr>
          <p:cNvPr id="25" name="Shape 25"/>
          <p:cNvSpPr txBox="1"/>
          <p:nvPr/>
        </p:nvSpPr>
        <p:spPr>
          <a:xfrm>
            <a:off x="7955280" y="4160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画素値 0〜255 を 0.0〜1.0 に正規化する</a:t>
            </a:r>
            <a:endParaRPr lang="ja-JP" sz="1250" dirty="0"/>
          </a:p>
        </p:txBody>
      </p:sp>
      <p:cxnSp>
        <p:nvCxnSpPr>
          <p:cNvPr id="26" name="Line 26"/>
          <p:cNvCxnSpPr/>
          <p:nvPr/>
        </p:nvCxnSpPr>
        <p:spPr>
          <a:xfrm>
            <a:off x="5687568" y="4818888"/>
            <a:ext cx="5660136" cy="0"/>
          </a:xfrm>
          <a:prstGeom prst="line">
            <a:avLst/>
          </a:prstGeom>
          <a:ln w="12700">
            <a:solidFill>
              <a:srgbClr val="EEF2F9"/>
            </a:solidFill>
          </a:ln>
        </p:spPr>
      </p:cxnSp>
      <p:sp>
        <p:nvSpPr>
          <p:cNvPr id="27" name="Shape 27"/>
          <p:cNvSpPr txBox="1"/>
          <p:nvPr/>
        </p:nvSpPr>
        <p:spPr>
          <a:xfrm>
            <a:off x="5687568" y="4873752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flatten=True</a:t>
            </a:r>
            <a:endParaRPr lang="ja-JP" sz="1200" dirty="0"/>
          </a:p>
        </p:txBody>
      </p:sp>
      <p:sp>
        <p:nvSpPr>
          <p:cNvPr id="28" name="Shape 28"/>
          <p:cNvSpPr txBox="1"/>
          <p:nvPr/>
        </p:nvSpPr>
        <p:spPr>
          <a:xfrm>
            <a:off x="7955280" y="4873752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28×28 の画像を 784 個の 1 次元配列にする</a:t>
            </a:r>
            <a:endParaRPr lang="ja-JP" sz="1250" dirty="0"/>
          </a:p>
        </p:txBody>
      </p:sp>
      <p:cxnSp>
        <p:nvCxnSpPr>
          <p:cNvPr id="29" name="Line 29"/>
          <p:cNvCxnSpPr/>
          <p:nvPr/>
        </p:nvCxnSpPr>
        <p:spPr>
          <a:xfrm>
            <a:off x="5687568" y="5532120"/>
            <a:ext cx="5660136" cy="0"/>
          </a:xfrm>
          <a:prstGeom prst="line">
            <a:avLst/>
          </a:prstGeom>
          <a:ln w="12700">
            <a:solidFill>
              <a:srgbClr val="EEF2F9"/>
            </a:solidFill>
          </a:ln>
        </p:spPr>
      </p:cxnSp>
      <p:sp>
        <p:nvSpPr>
          <p:cNvPr id="30" name="Shape 30"/>
          <p:cNvSpPr txBox="1"/>
          <p:nvPr/>
        </p:nvSpPr>
        <p:spPr>
          <a:xfrm>
            <a:off x="5687568" y="5586984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one_hot_label=True</a:t>
            </a:r>
            <a:endParaRPr lang="ja-JP" sz="1200" dirty="0"/>
          </a:p>
        </p:txBody>
      </p:sp>
      <p:sp>
        <p:nvSpPr>
          <p:cNvPr id="31" name="Shape 31"/>
          <p:cNvSpPr txBox="1"/>
          <p:nvPr/>
        </p:nvSpPr>
        <p:spPr>
          <a:xfrm>
            <a:off x="7955280" y="5586984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正解を [0,0,1,0,…] の形（one-hot）にする</a:t>
            </a:r>
            <a:endParaRPr lang="ja-JP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INFERENCE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手書き数字を推論する ― 学習済みの重みを使う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20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1105509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207568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入力 x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784</a:t>
            </a:r>
            <a:endParaRPr lang="ja-JP" sz="1300" dirty="0"/>
          </a:p>
        </p:txBody>
      </p:sp>
      <p:sp>
        <p:nvSpPr>
          <p:cNvPr id="9" name="Shape 9"/>
          <p:cNvSpPr txBox="1"/>
          <p:nvPr/>
        </p:nvSpPr>
        <p:spPr>
          <a:xfrm>
            <a:off x="3950208" y="207568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第1層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</a:t>
            </a:r>
            <a:endParaRPr lang="ja-JP" sz="1300" dirty="0"/>
          </a:p>
        </p:txBody>
      </p:sp>
      <p:sp>
        <p:nvSpPr>
          <p:cNvPr id="10" name="Shape 10"/>
          <p:cNvSpPr txBox="1"/>
          <p:nvPr/>
        </p:nvSpPr>
        <p:spPr>
          <a:xfrm>
            <a:off x="7031736" y="207568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第2層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</a:t>
            </a:r>
            <a:endParaRPr lang="ja-JP" sz="1300" dirty="0"/>
          </a:p>
        </p:txBody>
      </p:sp>
      <p:sp>
        <p:nvSpPr>
          <p:cNvPr id="11" name="Shape 11"/>
          <p:cNvSpPr txBox="1"/>
          <p:nvPr/>
        </p:nvSpPr>
        <p:spPr>
          <a:xfrm>
            <a:off x="10113264" y="207568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出力 y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  <a:endParaRPr lang="ja-JP" sz="1300" dirty="0"/>
          </a:p>
        </p:txBody>
      </p:sp>
      <p:cxnSp>
        <p:nvCxnSpPr>
          <p:cNvPr id="12" name="Line 12"/>
          <p:cNvCxnSpPr/>
          <p:nvPr/>
        </p:nvCxnSpPr>
        <p:spPr>
          <a:xfrm>
            <a:off x="2240280" y="2532888"/>
            <a:ext cx="1572768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13" name="Shape 13"/>
          <p:cNvSpPr txBox="1"/>
          <p:nvPr/>
        </p:nvSpPr>
        <p:spPr>
          <a:xfrm>
            <a:off x="2240280" y="210312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W1 (784×50)</a:t>
            </a:r>
            <a:endParaRPr lang="ja-JP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2240280" y="260604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sigmoid</a:t>
            </a:r>
            <a:endParaRPr lang="ja-JP" sz="1100" dirty="0"/>
          </a:p>
        </p:txBody>
      </p:sp>
      <p:cxnSp>
        <p:nvCxnSpPr>
          <p:cNvPr id="15" name="Line 15"/>
          <p:cNvCxnSpPr/>
          <p:nvPr/>
        </p:nvCxnSpPr>
        <p:spPr>
          <a:xfrm>
            <a:off x="5321808" y="2532888"/>
            <a:ext cx="1572768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16" name="Shape 16"/>
          <p:cNvSpPr txBox="1"/>
          <p:nvPr/>
        </p:nvSpPr>
        <p:spPr>
          <a:xfrm>
            <a:off x="5321808" y="210312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W2 (50×100)</a:t>
            </a:r>
            <a:endParaRPr lang="ja-JP" sz="1100" dirty="0"/>
          </a:p>
        </p:txBody>
      </p:sp>
      <p:sp>
        <p:nvSpPr>
          <p:cNvPr id="17" name="Shape 17"/>
          <p:cNvSpPr txBox="1"/>
          <p:nvPr/>
        </p:nvSpPr>
        <p:spPr>
          <a:xfrm>
            <a:off x="5321808" y="260604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sigmoid</a:t>
            </a:r>
            <a:endParaRPr lang="ja-JP" sz="1100" dirty="0"/>
          </a:p>
        </p:txBody>
      </p:sp>
      <p:cxnSp>
        <p:nvCxnSpPr>
          <p:cNvPr id="18" name="Line 18"/>
          <p:cNvCxnSpPr/>
          <p:nvPr/>
        </p:nvCxnSpPr>
        <p:spPr>
          <a:xfrm>
            <a:off x="8403336" y="2532888"/>
            <a:ext cx="1572768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19" name="Shape 19"/>
          <p:cNvSpPr txBox="1"/>
          <p:nvPr/>
        </p:nvSpPr>
        <p:spPr>
          <a:xfrm>
            <a:off x="8403336" y="210312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W3 (100×10)</a:t>
            </a:r>
            <a:endParaRPr lang="ja-JP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8403336" y="260604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softmax</a:t>
            </a:r>
            <a:endParaRPr lang="ja-JP" sz="1100" dirty="0"/>
          </a:p>
        </p:txBody>
      </p:sp>
      <p:sp>
        <p:nvSpPr>
          <p:cNvPr id="21" name="Shape 21"/>
          <p:cNvSpPr/>
          <p:nvPr/>
        </p:nvSpPr>
        <p:spPr>
          <a:xfrm>
            <a:off x="566928" y="3566160"/>
            <a:ext cx="6400800" cy="2834640"/>
          </a:xfrm>
          <a:prstGeom prst="roundRect">
            <a:avLst>
              <a:gd name="adj" fmla="val 387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2" name="Shape 22"/>
          <p:cNvSpPr/>
          <p:nvPr/>
        </p:nvSpPr>
        <p:spPr>
          <a:xfrm>
            <a:off x="813816" y="37856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3" name="Shape 23"/>
          <p:cNvSpPr/>
          <p:nvPr/>
        </p:nvSpPr>
        <p:spPr>
          <a:xfrm>
            <a:off x="1042416" y="37856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4" name="Shape 24"/>
          <p:cNvSpPr/>
          <p:nvPr/>
        </p:nvSpPr>
        <p:spPr>
          <a:xfrm>
            <a:off x="1271016" y="37856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5" name="Shape 25"/>
          <p:cNvSpPr txBox="1"/>
          <p:nvPr/>
        </p:nvSpPr>
        <p:spPr>
          <a:xfrm>
            <a:off x="1572768" y="36850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hundwritten_digit（抜粋）</a:t>
            </a:r>
            <a:endParaRPr lang="ja-JP" sz="1400" dirty="0"/>
          </a:p>
        </p:txBody>
      </p:sp>
      <p:sp>
        <p:nvSpPr>
          <p:cNvPr id="26" name="Shape 26"/>
          <p:cNvSpPr txBox="1"/>
          <p:nvPr/>
        </p:nvSpPr>
        <p:spPr>
          <a:xfrm>
            <a:off x="841248" y="4133088"/>
            <a:ext cx="5943600" cy="2130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init_network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with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open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"sample_weight.pkl"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'rb'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as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f: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network = pickle.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load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(f)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学習済みの重み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network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predict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(network, x):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a1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(x, W1) + b1;   z1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sigmoid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(a1)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a2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(z1, W2) + b2;  z2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sigmoid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(a2)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a3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(z2, W3) + b3;  y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softmax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(a3)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y</a:t>
            </a:r>
            <a:endParaRPr lang="ja-JP" sz="1100" dirty="0"/>
          </a:p>
        </p:txBody>
      </p:sp>
      <p:sp>
        <p:nvSpPr>
          <p:cNvPr id="27" name="Shape 27"/>
          <p:cNvSpPr/>
          <p:nvPr/>
        </p:nvSpPr>
        <p:spPr>
          <a:xfrm>
            <a:off x="7242048" y="3566160"/>
            <a:ext cx="4379976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8" name="Shape 28"/>
          <p:cNvSpPr txBox="1"/>
          <p:nvPr/>
        </p:nvSpPr>
        <p:spPr>
          <a:xfrm>
            <a:off x="7498080" y="37033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ポイント</a:t>
            </a:r>
            <a:endParaRPr lang="ja-JP" sz="1500" dirty="0"/>
          </a:p>
        </p:txBody>
      </p:sp>
      <p:sp>
        <p:nvSpPr>
          <p:cNvPr id="29" name="Shape 29"/>
          <p:cNvSpPr txBox="1"/>
          <p:nvPr/>
        </p:nvSpPr>
        <p:spPr>
          <a:xfrm>
            <a:off x="7498080" y="4160520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・sample_weight.pkl は学習済みのパラメータ（W1〜W3, b1〜b3）</a:t>
            </a:r>
            <a:endParaRPr lang="ja-JP" sz="125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・ここでは学習せず、推論（順伝播）だけを行う</a:t>
            </a:r>
            <a:endParaRPr lang="ja-JP" sz="1250" dirty="0"/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ja-JP" altLang="en-US" sz="125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・y は 10 クラスの確率。np.argmax(y) で一番大きい位置 ＝ 予測した数字</a:t>
            </a:r>
            <a:endParaRPr lang="ja-JP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BATCH PROCESSING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バッチ処理 ― 100 枚まとめて推論する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21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1105509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100×784</a:t>
            </a:r>
            <a:endParaRPr lang="ja-JP" sz="1200" dirty="0"/>
          </a:p>
        </p:txBody>
      </p:sp>
      <p:sp>
        <p:nvSpPr>
          <p:cNvPr id="9" name="Shape 9"/>
          <p:cNvSpPr txBox="1"/>
          <p:nvPr/>
        </p:nvSpPr>
        <p:spPr>
          <a:xfrm>
            <a:off x="205740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·</a:t>
            </a:r>
            <a:endParaRPr lang="ja-JP" sz="1600" dirty="0"/>
          </a:p>
        </p:txBody>
      </p:sp>
      <p:sp>
        <p:nvSpPr>
          <p:cNvPr id="10" name="Shape 10"/>
          <p:cNvSpPr txBox="1"/>
          <p:nvPr/>
        </p:nvSpPr>
        <p:spPr>
          <a:xfrm>
            <a:off x="241554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W1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784×50</a:t>
            </a:r>
            <a:endParaRPr lang="ja-JP" sz="1200" dirty="0"/>
          </a:p>
        </p:txBody>
      </p:sp>
      <p:sp>
        <p:nvSpPr>
          <p:cNvPr id="11" name="Shape 11"/>
          <p:cNvSpPr txBox="1"/>
          <p:nvPr/>
        </p:nvSpPr>
        <p:spPr>
          <a:xfrm>
            <a:off x="360426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1600" dirty="0"/>
          </a:p>
        </p:txBody>
      </p:sp>
      <p:sp>
        <p:nvSpPr>
          <p:cNvPr id="12" name="Shape 12"/>
          <p:cNvSpPr txBox="1"/>
          <p:nvPr/>
        </p:nvSpPr>
        <p:spPr>
          <a:xfrm>
            <a:off x="396240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100×50</a:t>
            </a:r>
            <a:endParaRPr lang="ja-JP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15112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·</a:t>
            </a:r>
            <a:endParaRPr lang="ja-JP" sz="1600" dirty="0"/>
          </a:p>
        </p:txBody>
      </p:sp>
      <p:sp>
        <p:nvSpPr>
          <p:cNvPr id="14" name="Shape 14"/>
          <p:cNvSpPr txBox="1"/>
          <p:nvPr/>
        </p:nvSpPr>
        <p:spPr>
          <a:xfrm>
            <a:off x="550926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W2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50×100</a:t>
            </a:r>
            <a:endParaRPr lang="ja-JP" sz="1200" dirty="0"/>
          </a:p>
        </p:txBody>
      </p:sp>
      <p:sp>
        <p:nvSpPr>
          <p:cNvPr id="15" name="Shape 15"/>
          <p:cNvSpPr txBox="1"/>
          <p:nvPr/>
        </p:nvSpPr>
        <p:spPr>
          <a:xfrm>
            <a:off x="669798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1600" dirty="0"/>
          </a:p>
        </p:txBody>
      </p:sp>
      <p:sp>
        <p:nvSpPr>
          <p:cNvPr id="16" name="Shape 16"/>
          <p:cNvSpPr txBox="1"/>
          <p:nvPr/>
        </p:nvSpPr>
        <p:spPr>
          <a:xfrm>
            <a:off x="705612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100×100</a:t>
            </a:r>
            <a:endParaRPr lang="ja-JP" sz="1200" dirty="0"/>
          </a:p>
        </p:txBody>
      </p:sp>
      <p:sp>
        <p:nvSpPr>
          <p:cNvPr id="17" name="Shape 17"/>
          <p:cNvSpPr txBox="1"/>
          <p:nvPr/>
        </p:nvSpPr>
        <p:spPr>
          <a:xfrm>
            <a:off x="824484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·</a:t>
            </a:r>
            <a:endParaRPr lang="ja-JP" sz="1600" dirty="0"/>
          </a:p>
        </p:txBody>
      </p:sp>
      <p:sp>
        <p:nvSpPr>
          <p:cNvPr id="18" name="Shape 18"/>
          <p:cNvSpPr txBox="1"/>
          <p:nvPr/>
        </p:nvSpPr>
        <p:spPr>
          <a:xfrm>
            <a:off x="860298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W3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100×10</a:t>
            </a:r>
            <a:endParaRPr lang="ja-JP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9791700" y="1920240"/>
            <a:ext cx="3581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ja-JP" sz="1600" dirty="0"/>
          </a:p>
        </p:txBody>
      </p:sp>
      <p:sp>
        <p:nvSpPr>
          <p:cNvPr id="20" name="Shape 20"/>
          <p:cNvSpPr txBox="1"/>
          <p:nvPr/>
        </p:nvSpPr>
        <p:spPr>
          <a:xfrm>
            <a:off x="10149840" y="1920240"/>
            <a:ext cx="1188720" cy="777240"/>
          </a:xfrm>
          <a:prstGeom prst="roundRect">
            <a:avLst>
              <a:gd name="adj" fmla="val 9411"/>
            </a:avLst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Y</a:t>
            </a:r>
            <a:endParaRPr lang="ja-JP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100×10</a:t>
            </a:r>
            <a:endParaRPr lang="ja-JP" sz="1200" dirty="0"/>
          </a:p>
        </p:txBody>
      </p:sp>
      <p:sp>
        <p:nvSpPr>
          <p:cNvPr id="21" name="Shape 21"/>
          <p:cNvSpPr txBox="1"/>
          <p:nvPr/>
        </p:nvSpPr>
        <p:spPr>
          <a:xfrm>
            <a:off x="868680" y="280720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1 枚（784,）の代わりに 100 枚（100, 784）を一度に入力する。行列の内側の次元がそろうので、そのまま計算できる。</a:t>
            </a:r>
            <a:endParaRPr lang="ja-JP" sz="1200" dirty="0"/>
          </a:p>
        </p:txBody>
      </p:sp>
      <p:sp>
        <p:nvSpPr>
          <p:cNvPr id="22" name="Shape 22"/>
          <p:cNvSpPr/>
          <p:nvPr/>
        </p:nvSpPr>
        <p:spPr>
          <a:xfrm>
            <a:off x="566928" y="3566160"/>
            <a:ext cx="6400800" cy="2834640"/>
          </a:xfrm>
          <a:prstGeom prst="roundRect">
            <a:avLst>
              <a:gd name="adj" fmla="val 387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3" name="Shape 23"/>
          <p:cNvSpPr/>
          <p:nvPr/>
        </p:nvSpPr>
        <p:spPr>
          <a:xfrm>
            <a:off x="813816" y="37856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4" name="Shape 24"/>
          <p:cNvSpPr/>
          <p:nvPr/>
        </p:nvSpPr>
        <p:spPr>
          <a:xfrm>
            <a:off x="1042416" y="37856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5" name="Shape 25"/>
          <p:cNvSpPr/>
          <p:nvPr/>
        </p:nvSpPr>
        <p:spPr>
          <a:xfrm>
            <a:off x="1271016" y="37856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6" name="Shape 26"/>
          <p:cNvSpPr txBox="1"/>
          <p:nvPr/>
        </p:nvSpPr>
        <p:spPr>
          <a:xfrm>
            <a:off x="1572768" y="36850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hundwritten_digit（抜粋）</a:t>
            </a:r>
            <a:endParaRPr lang="ja-JP" sz="1400" dirty="0"/>
          </a:p>
        </p:txBody>
      </p:sp>
      <p:sp>
        <p:nvSpPr>
          <p:cNvPr id="27" name="Shape 27"/>
          <p:cNvSpPr txBox="1"/>
          <p:nvPr/>
        </p:nvSpPr>
        <p:spPr>
          <a:xfrm>
            <a:off x="841248" y="4133088"/>
            <a:ext cx="5943600" cy="2130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batch_size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100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バッチサイズ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accuracy_cnt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for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i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in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range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len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(x), batch_size):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x_batch = x[i:i+batch_size]    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(100, 784)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y_batch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predict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(network, x_batch)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(100, 10)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p_batch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argmax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(y_batch, axis=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行ごとの最大の位置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accuracy_cnt +=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sum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(p_batch == t[i:i+batch_size])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print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"Accuracy:"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+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str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float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(accuracy_cnt) /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len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(x)))</a:t>
            </a:r>
            <a:endParaRPr lang="ja-JP" sz="1100" dirty="0"/>
          </a:p>
        </p:txBody>
      </p:sp>
      <p:sp>
        <p:nvSpPr>
          <p:cNvPr id="28" name="Shape 28"/>
          <p:cNvSpPr/>
          <p:nvPr/>
        </p:nvSpPr>
        <p:spPr>
          <a:xfrm>
            <a:off x="7242048" y="3566160"/>
            <a:ext cx="4379976" cy="1600200"/>
          </a:xfrm>
          <a:prstGeom prst="roundRect">
            <a:avLst>
              <a:gd name="adj" fmla="val 685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9" name="Shape 29"/>
          <p:cNvSpPr txBox="1"/>
          <p:nvPr/>
        </p:nvSpPr>
        <p:spPr>
          <a:xfrm>
            <a:off x="7406640" y="3657600"/>
            <a:ext cx="4023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0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93.52%</a:t>
            </a:r>
            <a:endParaRPr lang="ja-JP" sz="4000" dirty="0"/>
          </a:p>
        </p:txBody>
      </p:sp>
      <p:sp>
        <p:nvSpPr>
          <p:cNvPr id="30" name="Shape 30"/>
          <p:cNvSpPr txBox="1"/>
          <p:nvPr/>
        </p:nvSpPr>
        <p:spPr>
          <a:xfrm>
            <a:off x="7406640" y="452628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テスト画像 10,000 枚の認識精度（Accuracy: 0.9352）</a:t>
            </a:r>
            <a:endParaRPr lang="ja-JP" sz="1150" dirty="0"/>
          </a:p>
        </p:txBody>
      </p:sp>
      <p:sp>
        <p:nvSpPr>
          <p:cNvPr id="31" name="Shape 31"/>
          <p:cNvSpPr/>
          <p:nvPr/>
        </p:nvSpPr>
        <p:spPr>
          <a:xfrm>
            <a:off x="7242048" y="5349240"/>
            <a:ext cx="4379976" cy="1051560"/>
          </a:xfrm>
          <a:prstGeom prst="roundRect">
            <a:avLst>
              <a:gd name="adj" fmla="val 10434"/>
            </a:avLst>
          </a:prstGeom>
          <a:solidFill>
            <a:srgbClr val="FCEBC7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2" name="Shape 32"/>
          <p:cNvSpPr txBox="1"/>
          <p:nvPr/>
        </p:nvSpPr>
        <p:spPr>
          <a:xfrm>
            <a:off x="7452360" y="539496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※ activate_functon.py の softmax はバッチ全体で合計するため、行ごとの確率にならない（argmax の結果は同じ）。common/functions.py 版は行ごとに計算する。</a:t>
            </a:r>
            <a:endParaRPr lang="ja-JP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CHAPTER 4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ニューラルネットワークの学習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22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11055096" cy="1371600"/>
          </a:xfrm>
          <a:prstGeom prst="roundRect">
            <a:avLst>
              <a:gd name="adj" fmla="val 8000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87452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学習とは</a:t>
            </a:r>
            <a:endParaRPr lang="ja-JP" sz="1400" dirty="0"/>
          </a:p>
        </p:txBody>
      </p:sp>
      <p:sp>
        <p:nvSpPr>
          <p:cNvPr id="9" name="Shape 9"/>
          <p:cNvSpPr txBox="1"/>
          <p:nvPr/>
        </p:nvSpPr>
        <p:spPr>
          <a:xfrm>
            <a:off x="868680" y="228600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損失関数</a:t>
            </a: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 の値が最小になる重みを、訓練データから自動で見つけること</a:t>
            </a:r>
            <a:endParaRPr lang="ja-JP" sz="2200" dirty="0"/>
          </a:p>
        </p:txBody>
      </p:sp>
      <p:sp>
        <p:nvSpPr>
          <p:cNvPr id="10" name="Shape 10"/>
          <p:cNvSpPr/>
          <p:nvPr/>
        </p:nvSpPr>
        <p:spPr>
          <a:xfrm>
            <a:off x="566928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795528" y="3566160"/>
            <a:ext cx="457200" cy="45720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1389888" y="35661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ミニバッチ</a:t>
            </a:r>
            <a:endParaRPr lang="ja-JP" sz="1500" dirty="0"/>
          </a:p>
        </p:txBody>
      </p:sp>
      <p:sp>
        <p:nvSpPr>
          <p:cNvPr id="13" name="Shape 13"/>
          <p:cNvSpPr txBox="1"/>
          <p:nvPr/>
        </p:nvSpPr>
        <p:spPr>
          <a:xfrm>
            <a:off x="795528" y="416052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訓練データからランダムに一部を選ぶ</a:t>
            </a:r>
            <a:endParaRPr lang="ja-JP" sz="1250" dirty="0"/>
          </a:p>
        </p:txBody>
      </p:sp>
      <p:cxnSp>
        <p:nvCxnSpPr>
          <p:cNvPr id="14" name="Line 14"/>
          <p:cNvCxnSpPr/>
          <p:nvPr/>
        </p:nvCxnSpPr>
        <p:spPr>
          <a:xfrm>
            <a:off x="3081528" y="4224528"/>
            <a:ext cx="301752" cy="0"/>
          </a:xfrm>
          <a:prstGeom prst="line">
            <a:avLst/>
          </a:prstGeom>
          <a:ln w="25400">
            <a:solidFill>
              <a:srgbClr val="13B5A6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3429000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6" name="Shape 16"/>
          <p:cNvSpPr txBox="1"/>
          <p:nvPr/>
        </p:nvSpPr>
        <p:spPr>
          <a:xfrm>
            <a:off x="3657600" y="3566160"/>
            <a:ext cx="457200" cy="45720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500" dirty="0"/>
          </a:p>
        </p:txBody>
      </p:sp>
      <p:sp>
        <p:nvSpPr>
          <p:cNvPr id="17" name="Shape 17"/>
          <p:cNvSpPr txBox="1"/>
          <p:nvPr/>
        </p:nvSpPr>
        <p:spPr>
          <a:xfrm>
            <a:off x="4251960" y="35661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損失関数</a:t>
            </a:r>
            <a:endParaRPr lang="ja-JP" sz="1500" dirty="0"/>
          </a:p>
        </p:txBody>
      </p:sp>
      <p:sp>
        <p:nvSpPr>
          <p:cNvPr id="18" name="Shape 18"/>
          <p:cNvSpPr txBox="1"/>
          <p:nvPr/>
        </p:nvSpPr>
        <p:spPr>
          <a:xfrm>
            <a:off x="3657600" y="416052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予測と正解のずれを数値にする</a:t>
            </a:r>
            <a:endParaRPr lang="ja-JP" sz="1250" dirty="0"/>
          </a:p>
        </p:txBody>
      </p:sp>
      <p:cxnSp>
        <p:nvCxnSpPr>
          <p:cNvPr id="19" name="Line 19"/>
          <p:cNvCxnSpPr/>
          <p:nvPr/>
        </p:nvCxnSpPr>
        <p:spPr>
          <a:xfrm>
            <a:off x="5943600" y="4224528"/>
            <a:ext cx="301752" cy="0"/>
          </a:xfrm>
          <a:prstGeom prst="line">
            <a:avLst/>
          </a:prstGeom>
          <a:ln w="25400">
            <a:solidFill>
              <a:srgbClr val="13B5A6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6291072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1" name="Shape 21"/>
          <p:cNvSpPr txBox="1"/>
          <p:nvPr/>
        </p:nvSpPr>
        <p:spPr>
          <a:xfrm>
            <a:off x="6519672" y="3566160"/>
            <a:ext cx="457200" cy="45720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ja-JP" sz="1500" dirty="0"/>
          </a:p>
        </p:txBody>
      </p:sp>
      <p:sp>
        <p:nvSpPr>
          <p:cNvPr id="22" name="Shape 22"/>
          <p:cNvSpPr txBox="1"/>
          <p:nvPr/>
        </p:nvSpPr>
        <p:spPr>
          <a:xfrm>
            <a:off x="7114032" y="35661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勾配</a:t>
            </a:r>
            <a:endParaRPr lang="ja-JP" sz="1500" dirty="0"/>
          </a:p>
        </p:txBody>
      </p:sp>
      <p:sp>
        <p:nvSpPr>
          <p:cNvPr id="23" name="Shape 23"/>
          <p:cNvSpPr txBox="1"/>
          <p:nvPr/>
        </p:nvSpPr>
        <p:spPr>
          <a:xfrm>
            <a:off x="6519672" y="416052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損失を減らす重みの方向を求める</a:t>
            </a:r>
            <a:endParaRPr lang="ja-JP" sz="1250" dirty="0"/>
          </a:p>
        </p:txBody>
      </p:sp>
      <p:cxnSp>
        <p:nvCxnSpPr>
          <p:cNvPr id="24" name="Line 24"/>
          <p:cNvCxnSpPr/>
          <p:nvPr/>
        </p:nvCxnSpPr>
        <p:spPr>
          <a:xfrm>
            <a:off x="8805672" y="4224528"/>
            <a:ext cx="301752" cy="0"/>
          </a:xfrm>
          <a:prstGeom prst="line">
            <a:avLst/>
          </a:prstGeom>
          <a:ln w="25400">
            <a:solidFill>
              <a:srgbClr val="13B5A6"/>
            </a:solidFill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9153144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6" name="Shape 26"/>
          <p:cNvSpPr txBox="1"/>
          <p:nvPr/>
        </p:nvSpPr>
        <p:spPr>
          <a:xfrm>
            <a:off x="9381744" y="3566160"/>
            <a:ext cx="457200" cy="457200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ja-JP" sz="1500" dirty="0"/>
          </a:p>
        </p:txBody>
      </p:sp>
      <p:sp>
        <p:nvSpPr>
          <p:cNvPr id="27" name="Shape 27"/>
          <p:cNvSpPr txBox="1"/>
          <p:nvPr/>
        </p:nvSpPr>
        <p:spPr>
          <a:xfrm>
            <a:off x="9976104" y="35661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更新</a:t>
            </a:r>
            <a:endParaRPr lang="ja-JP" sz="1500" dirty="0"/>
          </a:p>
        </p:txBody>
      </p:sp>
      <p:sp>
        <p:nvSpPr>
          <p:cNvPr id="28" name="Shape 28"/>
          <p:cNvSpPr txBox="1"/>
          <p:nvPr/>
        </p:nvSpPr>
        <p:spPr>
          <a:xfrm>
            <a:off x="9381744" y="416052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勾配の逆向きへ重みを少し動かす</a:t>
            </a:r>
            <a:endParaRPr lang="ja-JP" sz="1250" dirty="0"/>
          </a:p>
        </p:txBody>
      </p:sp>
      <p:cxnSp>
        <p:nvCxnSpPr>
          <p:cNvPr id="29" name="Line 29"/>
          <p:cNvCxnSpPr/>
          <p:nvPr/>
        </p:nvCxnSpPr>
        <p:spPr>
          <a:xfrm>
            <a:off x="10387584" y="5074920"/>
            <a:ext cx="0" cy="365760"/>
          </a:xfrm>
          <a:prstGeom prst="line">
            <a:avLst/>
          </a:prstGeom>
          <a:ln w="22225">
            <a:solidFill>
              <a:srgbClr val="13B5A6"/>
            </a:solidFill>
          </a:ln>
        </p:spPr>
      </p:cxnSp>
      <p:cxnSp>
        <p:nvCxnSpPr>
          <p:cNvPr id="30" name="Line 30"/>
          <p:cNvCxnSpPr/>
          <p:nvPr/>
        </p:nvCxnSpPr>
        <p:spPr>
          <a:xfrm flipH="1">
            <a:off x="1801368" y="5440680"/>
            <a:ext cx="8586216" cy="0"/>
          </a:xfrm>
          <a:prstGeom prst="line">
            <a:avLst/>
          </a:prstGeom>
          <a:ln w="22225">
            <a:solidFill>
              <a:srgbClr val="13B5A6"/>
            </a:solidFill>
          </a:ln>
        </p:spPr>
      </p:cxnSp>
      <p:cxnSp>
        <p:nvCxnSpPr>
          <p:cNvPr id="31" name="Line 31"/>
          <p:cNvCxnSpPr/>
          <p:nvPr/>
        </p:nvCxnSpPr>
        <p:spPr>
          <a:xfrm flipV="1">
            <a:off x="1801368" y="5120640"/>
            <a:ext cx="0" cy="320040"/>
          </a:xfrm>
          <a:prstGeom prst="line">
            <a:avLst/>
          </a:prstGeom>
          <a:ln w="22225">
            <a:solidFill>
              <a:srgbClr val="13B5A6"/>
            </a:solidFill>
            <a:tailEnd type="triangle" w="med" len="med"/>
          </a:ln>
        </p:spPr>
      </p:cxnSp>
      <p:sp>
        <p:nvSpPr>
          <p:cNvPr id="32" name="Shape 32"/>
          <p:cNvSpPr txBox="1"/>
          <p:nvPr/>
        </p:nvSpPr>
        <p:spPr>
          <a:xfrm>
            <a:off x="4846320" y="5276088"/>
            <a:ext cx="2286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1〜4 を何度も繰り返す</a:t>
            </a:r>
            <a:endParaRPr lang="ja-JP" sz="1200" dirty="0"/>
          </a:p>
        </p:txBody>
      </p:sp>
      <p:sp>
        <p:nvSpPr>
          <p:cNvPr id="33" name="Shape 33"/>
          <p:cNvSpPr txBox="1"/>
          <p:nvPr/>
        </p:nvSpPr>
        <p:spPr>
          <a:xfrm>
            <a:off x="566928" y="58521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この章のコード</a:t>
            </a:r>
            <a:endParaRPr lang="ja-JP" sz="1200" dirty="0"/>
          </a:p>
        </p:txBody>
      </p:sp>
      <p:sp>
        <p:nvSpPr>
          <p:cNvPr id="34" name="Shape 34"/>
          <p:cNvSpPr txBox="1"/>
          <p:nvPr/>
        </p:nvSpPr>
        <p:spPr>
          <a:xfrm>
            <a:off x="2057400" y="58521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nn_training.py</a:t>
            </a:r>
            <a:endParaRPr lang="ja-JP" sz="1200" dirty="0"/>
          </a:p>
        </p:txBody>
      </p:sp>
      <p:sp>
        <p:nvSpPr>
          <p:cNvPr id="35" name="Shape 35"/>
          <p:cNvSpPr txBox="1"/>
          <p:nvPr/>
        </p:nvSpPr>
        <p:spPr>
          <a:xfrm>
            <a:off x="4297680" y="58521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gradient_simplenet.py</a:t>
            </a:r>
            <a:endParaRPr lang="ja-JP" sz="1200" dirty="0"/>
          </a:p>
        </p:txBody>
      </p:sp>
      <p:sp>
        <p:nvSpPr>
          <p:cNvPr id="36" name="Shape 36"/>
          <p:cNvSpPr txBox="1"/>
          <p:nvPr/>
        </p:nvSpPr>
        <p:spPr>
          <a:xfrm>
            <a:off x="7269480" y="58521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two_layer_net.py</a:t>
            </a:r>
            <a:endParaRPr lang="ja-JP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LOSS FUNCTION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損失関数 ― 予測の「悪さ」を数値にする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23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2乗和誤差</a:t>
            </a:r>
            <a:endParaRPr lang="ja-JP" sz="1300" dirty="0"/>
          </a:p>
        </p:txBody>
      </p:sp>
      <p:sp>
        <p:nvSpPr>
          <p:cNvPr id="9" name="Shape 9"/>
          <p:cNvSpPr txBox="1"/>
          <p:nvPr/>
        </p:nvSpPr>
        <p:spPr>
          <a:xfrm>
            <a:off x="1005840" y="22402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 = ½ Σₖ (yₖ − tₖ)²</a:t>
            </a:r>
            <a:endParaRPr lang="ja-JP" sz="2000" dirty="0"/>
          </a:p>
        </p:txBody>
      </p:sp>
      <p:sp>
        <p:nvSpPr>
          <p:cNvPr id="10" name="Shape 10"/>
          <p:cNvSpPr/>
          <p:nvPr/>
        </p:nvSpPr>
        <p:spPr>
          <a:xfrm>
            <a:off x="566928" y="329184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868680" y="3383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交差エントロピー誤差</a:t>
            </a:r>
            <a:endParaRPr lang="ja-JP" sz="1300" dirty="0"/>
          </a:p>
        </p:txBody>
      </p:sp>
      <p:sp>
        <p:nvSpPr>
          <p:cNvPr id="12" name="Shape 12"/>
          <p:cNvSpPr txBox="1"/>
          <p:nvPr/>
        </p:nvSpPr>
        <p:spPr>
          <a:xfrm>
            <a:off x="1005840" y="37490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 = − Σₖ tₖ log yₖ</a:t>
            </a:r>
            <a:endParaRPr lang="ja-JP" sz="2000" dirty="0"/>
          </a:p>
        </p:txBody>
      </p:sp>
      <p:sp>
        <p:nvSpPr>
          <p:cNvPr id="13" name="Shape 13"/>
          <p:cNvSpPr txBox="1"/>
          <p:nvPr/>
        </p:nvSpPr>
        <p:spPr>
          <a:xfrm>
            <a:off x="868680" y="434340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t は one-hot なので、正解クラスの −log y だけが残る</a:t>
            </a:r>
            <a:endParaRPr lang="ja-JP" sz="1200" dirty="0"/>
          </a:p>
        </p:txBody>
      </p:sp>
      <p:sp>
        <p:nvSpPr>
          <p:cNvPr id="14" name="Shape 14"/>
          <p:cNvSpPr/>
          <p:nvPr/>
        </p:nvSpPr>
        <p:spPr>
          <a:xfrm>
            <a:off x="566928" y="5074920"/>
            <a:ext cx="5120640" cy="1325880"/>
          </a:xfrm>
          <a:prstGeom prst="roundRect">
            <a:avLst>
              <a:gd name="adj" fmla="val 8275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5" name="Shape 15"/>
          <p:cNvSpPr txBox="1"/>
          <p:nvPr/>
        </p:nvSpPr>
        <p:spPr>
          <a:xfrm>
            <a:off x="841248" y="51206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考え方（1 データ版）</a:t>
            </a:r>
            <a:endParaRPr lang="ja-JP" sz="1200" dirty="0"/>
          </a:p>
        </p:txBody>
      </p:sp>
      <p:sp>
        <p:nvSpPr>
          <p:cNvPr id="16" name="Shape 16"/>
          <p:cNvSpPr txBox="1"/>
          <p:nvPr/>
        </p:nvSpPr>
        <p:spPr>
          <a:xfrm>
            <a:off x="841248" y="54864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cross_entropy_error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(y, t):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delta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1e-7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log(0) = -inf を防ぐ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-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sum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(t *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log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(y + delta))</a:t>
            </a:r>
            <a:endParaRPr lang="ja-JP" sz="1100" dirty="0"/>
          </a:p>
        </p:txBody>
      </p:sp>
      <p:sp>
        <p:nvSpPr>
          <p:cNvPr id="17" name="Shape 17"/>
          <p:cNvSpPr/>
          <p:nvPr/>
        </p:nvSpPr>
        <p:spPr>
          <a:xfrm>
            <a:off x="5961888" y="1737360"/>
            <a:ext cx="5660136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8" name="Shape 18"/>
          <p:cNvSpPr txBox="1"/>
          <p:nvPr/>
        </p:nvSpPr>
        <p:spPr>
          <a:xfrm>
            <a:off x="6236208" y="182880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例：正解が「2」のとき（nn_training.py）</a:t>
            </a:r>
            <a:endParaRPr lang="ja-JP" sz="1400" dirty="0"/>
          </a:p>
        </p:txBody>
      </p:sp>
      <p:sp>
        <p:nvSpPr>
          <p:cNvPr id="19" name="Shape 19"/>
          <p:cNvSpPr txBox="1"/>
          <p:nvPr/>
        </p:nvSpPr>
        <p:spPr>
          <a:xfrm>
            <a:off x="6172200" y="2286000"/>
            <a:ext cx="1600200" cy="457200"/>
          </a:xfrm>
          <a:prstGeom prst="rect">
            <a:avLst/>
          </a:prstGeom>
          <a:solidFill>
            <a:srgbClr val="1E2A4A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  <a:endParaRPr lang="ja-JP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7772400" y="2286000"/>
            <a:ext cx="1234440" cy="457200"/>
          </a:xfrm>
          <a:prstGeom prst="rect">
            <a:avLst/>
          </a:prstGeom>
          <a:solidFill>
            <a:srgbClr val="1E2A4A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正解 2 の確率</a:t>
            </a:r>
            <a:endParaRPr lang="ja-JP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9006840" y="2286000"/>
            <a:ext cx="1143000" cy="457200"/>
          </a:xfrm>
          <a:prstGeom prst="rect">
            <a:avLst/>
          </a:prstGeom>
          <a:solidFill>
            <a:srgbClr val="1E2A4A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2乗和誤差</a:t>
            </a:r>
            <a:endParaRPr lang="ja-JP" sz="1100" dirty="0"/>
          </a:p>
        </p:txBody>
      </p:sp>
      <p:sp>
        <p:nvSpPr>
          <p:cNvPr id="22" name="Shape 22"/>
          <p:cNvSpPr txBox="1"/>
          <p:nvPr/>
        </p:nvSpPr>
        <p:spPr>
          <a:xfrm>
            <a:off x="10149840" y="2286000"/>
            <a:ext cx="1325880" cy="457200"/>
          </a:xfrm>
          <a:prstGeom prst="rect">
            <a:avLst/>
          </a:prstGeom>
          <a:solidFill>
            <a:srgbClr val="1E2A4A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交差エントロピー</a:t>
            </a:r>
            <a:endParaRPr lang="ja-JP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6172200" y="2743200"/>
            <a:ext cx="1600200" cy="457200"/>
          </a:xfrm>
          <a:prstGeom prst="rect">
            <a:avLst/>
          </a:prstGeom>
          <a:solidFill>
            <a:srgbClr val="EEF2F9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例1（2 を 0.6）</a:t>
            </a:r>
            <a:endParaRPr lang="ja-JP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7772400" y="27432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0.6</a:t>
            </a:r>
            <a:endParaRPr lang="ja-JP" sz="1300" dirty="0"/>
          </a:p>
        </p:txBody>
      </p:sp>
      <p:sp>
        <p:nvSpPr>
          <p:cNvPr id="25" name="Shape 25"/>
          <p:cNvSpPr txBox="1"/>
          <p:nvPr/>
        </p:nvSpPr>
        <p:spPr>
          <a:xfrm>
            <a:off x="9006840" y="274320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0.0975</a:t>
            </a:r>
            <a:endParaRPr lang="ja-JP" sz="1300" dirty="0"/>
          </a:p>
        </p:txBody>
      </p:sp>
      <p:sp>
        <p:nvSpPr>
          <p:cNvPr id="26" name="Shape 26"/>
          <p:cNvSpPr txBox="1"/>
          <p:nvPr/>
        </p:nvSpPr>
        <p:spPr>
          <a:xfrm>
            <a:off x="10149840" y="274320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0.51</a:t>
            </a:r>
            <a:endParaRPr lang="ja-JP" sz="1300" dirty="0"/>
          </a:p>
        </p:txBody>
      </p:sp>
      <p:sp>
        <p:nvSpPr>
          <p:cNvPr id="27" name="Shape 27"/>
          <p:cNvSpPr txBox="1"/>
          <p:nvPr/>
        </p:nvSpPr>
        <p:spPr>
          <a:xfrm>
            <a:off x="6172200" y="3200400"/>
            <a:ext cx="1600200" cy="457200"/>
          </a:xfrm>
          <a:prstGeom prst="rect">
            <a:avLst/>
          </a:prstGeom>
          <a:solidFill>
            <a:srgbClr val="EEF2F9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例2（7 を 0.6）</a:t>
            </a:r>
            <a:endParaRPr lang="ja-JP" sz="1100" dirty="0"/>
          </a:p>
        </p:txBody>
      </p:sp>
      <p:sp>
        <p:nvSpPr>
          <p:cNvPr id="28" name="Shape 28"/>
          <p:cNvSpPr txBox="1"/>
          <p:nvPr/>
        </p:nvSpPr>
        <p:spPr>
          <a:xfrm>
            <a:off x="7772400" y="32004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0.1</a:t>
            </a:r>
            <a:endParaRPr lang="ja-JP" sz="1300" dirty="0"/>
          </a:p>
        </p:txBody>
      </p:sp>
      <p:sp>
        <p:nvSpPr>
          <p:cNvPr id="29" name="Shape 29"/>
          <p:cNvSpPr txBox="1"/>
          <p:nvPr/>
        </p:nvSpPr>
        <p:spPr>
          <a:xfrm>
            <a:off x="9006840" y="320040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E8553A"/>
                </a:solidFill>
                <a:latin typeface="Noto Sans CJK JP"/>
                <a:ea typeface="Noto Sans CJK JP"/>
                <a:cs typeface="Noto Sans CJK JP"/>
              </a:rPr>
              <a:t>0.5975</a:t>
            </a:r>
            <a:endParaRPr lang="ja-JP" sz="1300" dirty="0"/>
          </a:p>
        </p:txBody>
      </p:sp>
      <p:sp>
        <p:nvSpPr>
          <p:cNvPr id="30" name="Shape 30"/>
          <p:cNvSpPr txBox="1"/>
          <p:nvPr/>
        </p:nvSpPr>
        <p:spPr>
          <a:xfrm>
            <a:off x="10149840" y="320040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E8553A"/>
                </a:solidFill>
                <a:latin typeface="Noto Sans CJK JP"/>
                <a:ea typeface="Noto Sans CJK JP"/>
                <a:cs typeface="Noto Sans CJK JP"/>
              </a:rPr>
              <a:t>2.30</a:t>
            </a:r>
            <a:endParaRPr lang="ja-JP" sz="1300" dirty="0"/>
          </a:p>
        </p:txBody>
      </p:sp>
      <p:sp>
        <p:nvSpPr>
          <p:cNvPr id="31" name="Shape 31"/>
          <p:cNvSpPr txBox="1"/>
          <p:nvPr/>
        </p:nvSpPr>
        <p:spPr>
          <a:xfrm>
            <a:off x="6236208" y="37490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どちらも、予測が外れるほど値が大きくなる</a:t>
            </a:r>
            <a:endParaRPr lang="ja-JP" sz="1200" dirty="0"/>
          </a:p>
        </p:txBody>
      </p:sp>
      <p:sp>
        <p:nvSpPr>
          <p:cNvPr id="32" name="Shape 32"/>
          <p:cNvSpPr/>
          <p:nvPr/>
        </p:nvSpPr>
        <p:spPr>
          <a:xfrm>
            <a:off x="5961888" y="4526280"/>
            <a:ext cx="5660136" cy="187452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3" name="Shape 33"/>
          <p:cNvSpPr/>
          <p:nvPr/>
        </p:nvSpPr>
        <p:spPr>
          <a:xfrm>
            <a:off x="6217920" y="4709160"/>
            <a:ext cx="2377440" cy="150876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34" name="Line 34"/>
          <p:cNvCxnSpPr/>
          <p:nvPr/>
        </p:nvCxnSpPr>
        <p:spPr>
          <a:xfrm>
            <a:off x="6217920" y="6159891"/>
            <a:ext cx="2377440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217920" y="4709160"/>
            <a:ext cx="0" cy="150876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36" name="Shape 36"/>
          <p:cNvSpPr/>
          <p:nvPr/>
        </p:nvSpPr>
        <p:spPr>
          <a:xfrm>
            <a:off x="6217920" y="4709160"/>
            <a:ext cx="2377440" cy="150876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" y="0"/>
                </a:moveTo>
                <a:lnTo>
                  <a:pt x="1000" y="8531"/>
                </a:lnTo>
                <a:lnTo>
                  <a:pt x="1500" y="16328"/>
                </a:lnTo>
                <a:lnTo>
                  <a:pt x="2000" y="21860"/>
                </a:lnTo>
                <a:lnTo>
                  <a:pt x="2500" y="26152"/>
                </a:lnTo>
                <a:lnTo>
                  <a:pt x="3000" y="29658"/>
                </a:lnTo>
                <a:lnTo>
                  <a:pt x="3500" y="32622"/>
                </a:lnTo>
                <a:lnTo>
                  <a:pt x="4000" y="35190"/>
                </a:lnTo>
                <a:lnTo>
                  <a:pt x="4500" y="37455"/>
                </a:lnTo>
                <a:lnTo>
                  <a:pt x="5000" y="39481"/>
                </a:lnTo>
                <a:lnTo>
                  <a:pt x="5500" y="41314"/>
                </a:lnTo>
                <a:lnTo>
                  <a:pt x="6000" y="42988"/>
                </a:lnTo>
                <a:lnTo>
                  <a:pt x="6500" y="44527"/>
                </a:lnTo>
                <a:lnTo>
                  <a:pt x="7000" y="45952"/>
                </a:lnTo>
                <a:lnTo>
                  <a:pt x="7500" y="47279"/>
                </a:lnTo>
                <a:lnTo>
                  <a:pt x="8000" y="48520"/>
                </a:lnTo>
                <a:lnTo>
                  <a:pt x="8500" y="49686"/>
                </a:lnTo>
                <a:lnTo>
                  <a:pt x="9000" y="50785"/>
                </a:lnTo>
                <a:lnTo>
                  <a:pt x="9499" y="51825"/>
                </a:lnTo>
                <a:lnTo>
                  <a:pt x="10000" y="52811"/>
                </a:lnTo>
                <a:lnTo>
                  <a:pt x="10500" y="53749"/>
                </a:lnTo>
                <a:lnTo>
                  <a:pt x="11000" y="54644"/>
                </a:lnTo>
                <a:lnTo>
                  <a:pt x="11500" y="55499"/>
                </a:lnTo>
                <a:lnTo>
                  <a:pt x="12000" y="56317"/>
                </a:lnTo>
                <a:lnTo>
                  <a:pt x="12500" y="57102"/>
                </a:lnTo>
                <a:lnTo>
                  <a:pt x="13000" y="57857"/>
                </a:lnTo>
                <a:lnTo>
                  <a:pt x="13500" y="58582"/>
                </a:lnTo>
                <a:lnTo>
                  <a:pt x="14000" y="59282"/>
                </a:lnTo>
                <a:lnTo>
                  <a:pt x="14500" y="59957"/>
                </a:lnTo>
                <a:lnTo>
                  <a:pt x="15000" y="60609"/>
                </a:lnTo>
                <a:lnTo>
                  <a:pt x="15500" y="61239"/>
                </a:lnTo>
                <a:lnTo>
                  <a:pt x="16000" y="61850"/>
                </a:lnTo>
                <a:lnTo>
                  <a:pt x="16499" y="62441"/>
                </a:lnTo>
                <a:lnTo>
                  <a:pt x="17000" y="63016"/>
                </a:lnTo>
                <a:lnTo>
                  <a:pt x="17500" y="63573"/>
                </a:lnTo>
                <a:lnTo>
                  <a:pt x="18000" y="64115"/>
                </a:lnTo>
                <a:lnTo>
                  <a:pt x="18500" y="64642"/>
                </a:lnTo>
                <a:lnTo>
                  <a:pt x="18999" y="65154"/>
                </a:lnTo>
                <a:lnTo>
                  <a:pt x="19500" y="65654"/>
                </a:lnTo>
                <a:lnTo>
                  <a:pt x="20000" y="66141"/>
                </a:lnTo>
                <a:lnTo>
                  <a:pt x="20500" y="66616"/>
                </a:lnTo>
                <a:lnTo>
                  <a:pt x="21000" y="67079"/>
                </a:lnTo>
                <a:lnTo>
                  <a:pt x="21500" y="67532"/>
                </a:lnTo>
                <a:lnTo>
                  <a:pt x="22000" y="67974"/>
                </a:lnTo>
                <a:lnTo>
                  <a:pt x="22499" y="68406"/>
                </a:lnTo>
                <a:lnTo>
                  <a:pt x="23000" y="68829"/>
                </a:lnTo>
                <a:lnTo>
                  <a:pt x="23500" y="69242"/>
                </a:lnTo>
                <a:lnTo>
                  <a:pt x="24000" y="69647"/>
                </a:lnTo>
                <a:lnTo>
                  <a:pt x="24500" y="70044"/>
                </a:lnTo>
                <a:lnTo>
                  <a:pt x="25000" y="70432"/>
                </a:lnTo>
                <a:lnTo>
                  <a:pt x="25500" y="70813"/>
                </a:lnTo>
                <a:lnTo>
                  <a:pt x="26000" y="71186"/>
                </a:lnTo>
                <a:lnTo>
                  <a:pt x="26500" y="71553"/>
                </a:lnTo>
                <a:lnTo>
                  <a:pt x="27000" y="71912"/>
                </a:lnTo>
                <a:lnTo>
                  <a:pt x="27500" y="72265"/>
                </a:lnTo>
                <a:lnTo>
                  <a:pt x="28000" y="72612"/>
                </a:lnTo>
                <a:lnTo>
                  <a:pt x="28499" y="72952"/>
                </a:lnTo>
                <a:lnTo>
                  <a:pt x="29000" y="73286"/>
                </a:lnTo>
                <a:lnTo>
                  <a:pt x="29500" y="73615"/>
                </a:lnTo>
                <a:lnTo>
                  <a:pt x="30000" y="73938"/>
                </a:lnTo>
                <a:lnTo>
                  <a:pt x="30500" y="74256"/>
                </a:lnTo>
                <a:lnTo>
                  <a:pt x="31000" y="74569"/>
                </a:lnTo>
                <a:lnTo>
                  <a:pt x="31500" y="74877"/>
                </a:lnTo>
                <a:lnTo>
                  <a:pt x="32000" y="75179"/>
                </a:lnTo>
                <a:lnTo>
                  <a:pt x="32500" y="75478"/>
                </a:lnTo>
                <a:lnTo>
                  <a:pt x="32999" y="75771"/>
                </a:lnTo>
                <a:lnTo>
                  <a:pt x="33500" y="76060"/>
                </a:lnTo>
                <a:lnTo>
                  <a:pt x="34000" y="76345"/>
                </a:lnTo>
                <a:lnTo>
                  <a:pt x="34500" y="76626"/>
                </a:lnTo>
                <a:lnTo>
                  <a:pt x="35000" y="76903"/>
                </a:lnTo>
                <a:lnTo>
                  <a:pt x="35500" y="77176"/>
                </a:lnTo>
                <a:lnTo>
                  <a:pt x="36000" y="77444"/>
                </a:lnTo>
                <a:lnTo>
                  <a:pt x="36500" y="77710"/>
                </a:lnTo>
                <a:lnTo>
                  <a:pt x="37000" y="77971"/>
                </a:lnTo>
                <a:lnTo>
                  <a:pt x="37500" y="78230"/>
                </a:lnTo>
                <a:lnTo>
                  <a:pt x="37999" y="78484"/>
                </a:lnTo>
                <a:lnTo>
                  <a:pt x="38500" y="78736"/>
                </a:lnTo>
                <a:lnTo>
                  <a:pt x="39000" y="78984"/>
                </a:lnTo>
                <a:lnTo>
                  <a:pt x="39500" y="79229"/>
                </a:lnTo>
                <a:lnTo>
                  <a:pt x="40000" y="79471"/>
                </a:lnTo>
                <a:lnTo>
                  <a:pt x="40500" y="79710"/>
                </a:lnTo>
                <a:lnTo>
                  <a:pt x="41000" y="79946"/>
                </a:lnTo>
                <a:lnTo>
                  <a:pt x="41500" y="80179"/>
                </a:lnTo>
                <a:lnTo>
                  <a:pt x="42000" y="80409"/>
                </a:lnTo>
                <a:lnTo>
                  <a:pt x="42500" y="80637"/>
                </a:lnTo>
                <a:lnTo>
                  <a:pt x="43000" y="80861"/>
                </a:lnTo>
                <a:lnTo>
                  <a:pt x="43500" y="81084"/>
                </a:lnTo>
                <a:lnTo>
                  <a:pt x="44000" y="81304"/>
                </a:lnTo>
                <a:lnTo>
                  <a:pt x="44500" y="81521"/>
                </a:lnTo>
                <a:lnTo>
                  <a:pt x="44999" y="81736"/>
                </a:lnTo>
                <a:lnTo>
                  <a:pt x="45500" y="81948"/>
                </a:lnTo>
                <a:lnTo>
                  <a:pt x="46000" y="82158"/>
                </a:lnTo>
                <a:lnTo>
                  <a:pt x="46500" y="82366"/>
                </a:lnTo>
                <a:lnTo>
                  <a:pt x="47000" y="82572"/>
                </a:lnTo>
                <a:lnTo>
                  <a:pt x="47500" y="82775"/>
                </a:lnTo>
                <a:lnTo>
                  <a:pt x="48000" y="82977"/>
                </a:lnTo>
                <a:lnTo>
                  <a:pt x="48500" y="83176"/>
                </a:lnTo>
                <a:lnTo>
                  <a:pt x="49000" y="83373"/>
                </a:lnTo>
                <a:lnTo>
                  <a:pt x="49500" y="83569"/>
                </a:lnTo>
                <a:lnTo>
                  <a:pt x="50000" y="83762"/>
                </a:lnTo>
                <a:lnTo>
                  <a:pt x="50500" y="83953"/>
                </a:lnTo>
                <a:lnTo>
                  <a:pt x="51000" y="84143"/>
                </a:lnTo>
                <a:lnTo>
                  <a:pt x="51500" y="84330"/>
                </a:lnTo>
                <a:lnTo>
                  <a:pt x="52000" y="84516"/>
                </a:lnTo>
                <a:lnTo>
                  <a:pt x="52500" y="84700"/>
                </a:lnTo>
                <a:lnTo>
                  <a:pt x="53000" y="84882"/>
                </a:lnTo>
                <a:lnTo>
                  <a:pt x="53500" y="85063"/>
                </a:lnTo>
                <a:lnTo>
                  <a:pt x="54000" y="85242"/>
                </a:lnTo>
                <a:lnTo>
                  <a:pt x="54500" y="85419"/>
                </a:lnTo>
                <a:lnTo>
                  <a:pt x="55000" y="85595"/>
                </a:lnTo>
                <a:lnTo>
                  <a:pt x="55500" y="85769"/>
                </a:lnTo>
                <a:lnTo>
                  <a:pt x="56000" y="85941"/>
                </a:lnTo>
                <a:lnTo>
                  <a:pt x="56500" y="86112"/>
                </a:lnTo>
                <a:lnTo>
                  <a:pt x="56999" y="86282"/>
                </a:lnTo>
                <a:lnTo>
                  <a:pt x="57499" y="86450"/>
                </a:lnTo>
                <a:lnTo>
                  <a:pt x="58000" y="86616"/>
                </a:lnTo>
                <a:lnTo>
                  <a:pt x="58500" y="86781"/>
                </a:lnTo>
                <a:lnTo>
                  <a:pt x="59000" y="86945"/>
                </a:lnTo>
                <a:lnTo>
                  <a:pt x="59500" y="87107"/>
                </a:lnTo>
                <a:lnTo>
                  <a:pt x="60000" y="87268"/>
                </a:lnTo>
                <a:lnTo>
                  <a:pt x="60500" y="87428"/>
                </a:lnTo>
                <a:lnTo>
                  <a:pt x="61000" y="87586"/>
                </a:lnTo>
                <a:lnTo>
                  <a:pt x="61500" y="87743"/>
                </a:lnTo>
                <a:lnTo>
                  <a:pt x="62000" y="87899"/>
                </a:lnTo>
                <a:lnTo>
                  <a:pt x="62500" y="88053"/>
                </a:lnTo>
                <a:lnTo>
                  <a:pt x="63000" y="88206"/>
                </a:lnTo>
                <a:lnTo>
                  <a:pt x="63499" y="88358"/>
                </a:lnTo>
                <a:lnTo>
                  <a:pt x="64000" y="88509"/>
                </a:lnTo>
                <a:lnTo>
                  <a:pt x="64500" y="88659"/>
                </a:lnTo>
                <a:lnTo>
                  <a:pt x="65000" y="88807"/>
                </a:lnTo>
                <a:lnTo>
                  <a:pt x="65500" y="88955"/>
                </a:lnTo>
                <a:lnTo>
                  <a:pt x="65999" y="89101"/>
                </a:lnTo>
                <a:lnTo>
                  <a:pt x="66500" y="89246"/>
                </a:lnTo>
                <a:lnTo>
                  <a:pt x="67000" y="89390"/>
                </a:lnTo>
                <a:lnTo>
                  <a:pt x="67500" y="89533"/>
                </a:lnTo>
                <a:lnTo>
                  <a:pt x="68000" y="89675"/>
                </a:lnTo>
                <a:lnTo>
                  <a:pt x="68500" y="89816"/>
                </a:lnTo>
                <a:lnTo>
                  <a:pt x="69000" y="89956"/>
                </a:lnTo>
                <a:lnTo>
                  <a:pt x="69500" y="90095"/>
                </a:lnTo>
                <a:lnTo>
                  <a:pt x="70000" y="90232"/>
                </a:lnTo>
                <a:lnTo>
                  <a:pt x="70500" y="90369"/>
                </a:lnTo>
                <a:lnTo>
                  <a:pt x="71000" y="90505"/>
                </a:lnTo>
                <a:lnTo>
                  <a:pt x="71500" y="90640"/>
                </a:lnTo>
                <a:lnTo>
                  <a:pt x="72000" y="90774"/>
                </a:lnTo>
                <a:lnTo>
                  <a:pt x="72500" y="90907"/>
                </a:lnTo>
                <a:lnTo>
                  <a:pt x="73000" y="91039"/>
                </a:lnTo>
                <a:lnTo>
                  <a:pt x="73499" y="91171"/>
                </a:lnTo>
                <a:lnTo>
                  <a:pt x="74000" y="91301"/>
                </a:lnTo>
                <a:lnTo>
                  <a:pt x="74500" y="91431"/>
                </a:lnTo>
                <a:lnTo>
                  <a:pt x="75000" y="91559"/>
                </a:lnTo>
                <a:lnTo>
                  <a:pt x="75500" y="91687"/>
                </a:lnTo>
                <a:lnTo>
                  <a:pt x="75999" y="91814"/>
                </a:lnTo>
                <a:lnTo>
                  <a:pt x="76500" y="91940"/>
                </a:lnTo>
                <a:lnTo>
                  <a:pt x="77000" y="92065"/>
                </a:lnTo>
                <a:lnTo>
                  <a:pt x="77499" y="92190"/>
                </a:lnTo>
                <a:lnTo>
                  <a:pt x="78000" y="92314"/>
                </a:lnTo>
                <a:lnTo>
                  <a:pt x="78499" y="92436"/>
                </a:lnTo>
                <a:lnTo>
                  <a:pt x="79000" y="92558"/>
                </a:lnTo>
                <a:lnTo>
                  <a:pt x="79500" y="92680"/>
                </a:lnTo>
                <a:lnTo>
                  <a:pt x="80000" y="92800"/>
                </a:lnTo>
                <a:lnTo>
                  <a:pt x="80500" y="92920"/>
                </a:lnTo>
                <a:lnTo>
                  <a:pt x="81000" y="93039"/>
                </a:lnTo>
                <a:lnTo>
                  <a:pt x="81500" y="93158"/>
                </a:lnTo>
                <a:lnTo>
                  <a:pt x="82000" y="93275"/>
                </a:lnTo>
                <a:lnTo>
                  <a:pt x="82500" y="93392"/>
                </a:lnTo>
                <a:lnTo>
                  <a:pt x="83000" y="93508"/>
                </a:lnTo>
                <a:lnTo>
                  <a:pt x="83499" y="93624"/>
                </a:lnTo>
                <a:lnTo>
                  <a:pt x="84000" y="93739"/>
                </a:lnTo>
                <a:lnTo>
                  <a:pt x="84500" y="93853"/>
                </a:lnTo>
                <a:lnTo>
                  <a:pt x="85000" y="93966"/>
                </a:lnTo>
                <a:lnTo>
                  <a:pt x="85500" y="94079"/>
                </a:lnTo>
                <a:lnTo>
                  <a:pt x="86000" y="94191"/>
                </a:lnTo>
                <a:lnTo>
                  <a:pt x="86500" y="94303"/>
                </a:lnTo>
                <a:lnTo>
                  <a:pt x="87000" y="94414"/>
                </a:lnTo>
                <a:lnTo>
                  <a:pt x="87499" y="94524"/>
                </a:lnTo>
                <a:lnTo>
                  <a:pt x="88000" y="94633"/>
                </a:lnTo>
                <a:lnTo>
                  <a:pt x="88500" y="94742"/>
                </a:lnTo>
                <a:lnTo>
                  <a:pt x="89000" y="94851"/>
                </a:lnTo>
                <a:lnTo>
                  <a:pt x="89500" y="94958"/>
                </a:lnTo>
                <a:lnTo>
                  <a:pt x="89999" y="95065"/>
                </a:lnTo>
                <a:lnTo>
                  <a:pt x="90500" y="95172"/>
                </a:lnTo>
                <a:lnTo>
                  <a:pt x="91000" y="95278"/>
                </a:lnTo>
                <a:lnTo>
                  <a:pt x="91499" y="95383"/>
                </a:lnTo>
                <a:lnTo>
                  <a:pt x="92000" y="95488"/>
                </a:lnTo>
                <a:lnTo>
                  <a:pt x="92500" y="95592"/>
                </a:lnTo>
                <a:lnTo>
                  <a:pt x="93000" y="95696"/>
                </a:lnTo>
                <a:lnTo>
                  <a:pt x="93500" y="95799"/>
                </a:lnTo>
                <a:lnTo>
                  <a:pt x="94000" y="95902"/>
                </a:lnTo>
                <a:lnTo>
                  <a:pt x="94500" y="96004"/>
                </a:lnTo>
                <a:lnTo>
                  <a:pt x="95000" y="96105"/>
                </a:lnTo>
                <a:lnTo>
                  <a:pt x="95500" y="96206"/>
                </a:lnTo>
                <a:lnTo>
                  <a:pt x="96000" y="96307"/>
                </a:lnTo>
                <a:lnTo>
                  <a:pt x="96500" y="96406"/>
                </a:lnTo>
                <a:lnTo>
                  <a:pt x="97000" y="96506"/>
                </a:lnTo>
                <a:lnTo>
                  <a:pt x="97499" y="96605"/>
                </a:lnTo>
                <a:lnTo>
                  <a:pt x="98000" y="96703"/>
                </a:lnTo>
                <a:lnTo>
                  <a:pt x="98500" y="96801"/>
                </a:lnTo>
                <a:lnTo>
                  <a:pt x="99000" y="96898"/>
                </a:lnTo>
                <a:lnTo>
                  <a:pt x="99500" y="96995"/>
                </a:lnTo>
                <a:lnTo>
                  <a:pt x="100000" y="97092"/>
                </a:lnTo>
              </a:path>
            </a:pathLst>
          </a:custGeom>
          <a:noFill/>
          <a:ln w="31750">
            <a:solidFill>
              <a:srgbClr val="F39C12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7" name="Shape 37"/>
          <p:cNvSpPr txBox="1"/>
          <p:nvPr/>
        </p:nvSpPr>
        <p:spPr>
          <a:xfrm>
            <a:off x="8823960" y="47548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−log y のグラフ</a:t>
            </a:r>
            <a:endParaRPr lang="ja-JP" sz="1400" dirty="0"/>
          </a:p>
        </p:txBody>
      </p:sp>
      <p:sp>
        <p:nvSpPr>
          <p:cNvPr id="38" name="Shape 38"/>
          <p:cNvSpPr txBox="1"/>
          <p:nvPr/>
        </p:nvSpPr>
        <p:spPr>
          <a:xfrm>
            <a:off x="8823960" y="521208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正解の確率 y が 1 に近いと 0。0 に近づくほど急に大きくなる。</a:t>
            </a:r>
            <a:endParaRPr lang="ja-JP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MINI-BATCH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ミニバッチ学習 ― 一部のデータで全体を近似する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24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120640" cy="466344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/>
          <p:nvPr/>
        </p:nvSpPr>
        <p:spPr>
          <a:xfrm>
            <a:off x="960120" y="2057400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9" name="Shape 9"/>
          <p:cNvSpPr/>
          <p:nvPr/>
        </p:nvSpPr>
        <p:spPr>
          <a:xfrm>
            <a:off x="960120" y="2253996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0" name="Shape 10"/>
          <p:cNvSpPr/>
          <p:nvPr/>
        </p:nvSpPr>
        <p:spPr>
          <a:xfrm>
            <a:off x="960120" y="2450592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1" name="Shape 11"/>
          <p:cNvSpPr/>
          <p:nvPr/>
        </p:nvSpPr>
        <p:spPr>
          <a:xfrm>
            <a:off x="960120" y="2647188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2" name="Shape 12"/>
          <p:cNvSpPr/>
          <p:nvPr/>
        </p:nvSpPr>
        <p:spPr>
          <a:xfrm>
            <a:off x="960120" y="2843784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/>
          <p:nvPr/>
        </p:nvSpPr>
        <p:spPr>
          <a:xfrm>
            <a:off x="960120" y="3040380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4" name="Shape 14"/>
          <p:cNvSpPr/>
          <p:nvPr/>
        </p:nvSpPr>
        <p:spPr>
          <a:xfrm>
            <a:off x="960120" y="3236976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5" name="Shape 15"/>
          <p:cNvSpPr/>
          <p:nvPr/>
        </p:nvSpPr>
        <p:spPr>
          <a:xfrm>
            <a:off x="960120" y="3433572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6" name="Shape 16"/>
          <p:cNvSpPr/>
          <p:nvPr/>
        </p:nvSpPr>
        <p:spPr>
          <a:xfrm>
            <a:off x="960120" y="3630168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/>
          <p:nvPr/>
        </p:nvSpPr>
        <p:spPr>
          <a:xfrm>
            <a:off x="960120" y="3826764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8" name="Shape 18"/>
          <p:cNvSpPr/>
          <p:nvPr/>
        </p:nvSpPr>
        <p:spPr>
          <a:xfrm>
            <a:off x="960120" y="4023360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9" name="Shape 19"/>
          <p:cNvSpPr/>
          <p:nvPr/>
        </p:nvSpPr>
        <p:spPr>
          <a:xfrm>
            <a:off x="960120" y="4219956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0" name="Shape 20"/>
          <p:cNvSpPr/>
          <p:nvPr/>
        </p:nvSpPr>
        <p:spPr>
          <a:xfrm>
            <a:off x="960120" y="4416552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1" name="Shape 21"/>
          <p:cNvSpPr/>
          <p:nvPr/>
        </p:nvSpPr>
        <p:spPr>
          <a:xfrm>
            <a:off x="960120" y="4613148"/>
            <a:ext cx="1554480" cy="155448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2" name="Shape 22"/>
          <p:cNvSpPr txBox="1"/>
          <p:nvPr/>
        </p:nvSpPr>
        <p:spPr>
          <a:xfrm>
            <a:off x="777240" y="4846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訓練データ 60,000 枚</a:t>
            </a:r>
            <a:endParaRPr lang="ja-JP" sz="1200" dirty="0"/>
          </a:p>
        </p:txBody>
      </p:sp>
      <p:cxnSp>
        <p:nvCxnSpPr>
          <p:cNvPr id="23" name="Line 23"/>
          <p:cNvCxnSpPr/>
          <p:nvPr/>
        </p:nvCxnSpPr>
        <p:spPr>
          <a:xfrm>
            <a:off x="2697480" y="3429000"/>
            <a:ext cx="731520" cy="0"/>
          </a:xfrm>
          <a:prstGeom prst="line">
            <a:avLst/>
          </a:prstGeom>
          <a:ln w="25400">
            <a:solidFill>
              <a:srgbClr val="13B5A6"/>
            </a:solidFill>
            <a:tailEnd type="triangle" w="med" len="med"/>
          </a:ln>
        </p:spPr>
      </p:cxnSp>
      <p:sp>
        <p:nvSpPr>
          <p:cNvPr id="24" name="Shape 24"/>
          <p:cNvSpPr txBox="1"/>
          <p:nvPr/>
        </p:nvSpPr>
        <p:spPr>
          <a:xfrm>
            <a:off x="2606040" y="30175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ランダム</a:t>
            </a:r>
            <a:endParaRPr lang="ja-JP" sz="1100" dirty="0"/>
          </a:p>
        </p:txBody>
      </p:sp>
      <p:sp>
        <p:nvSpPr>
          <p:cNvPr id="25" name="Shape 25"/>
          <p:cNvSpPr/>
          <p:nvPr/>
        </p:nvSpPr>
        <p:spPr>
          <a:xfrm>
            <a:off x="3611880" y="3017520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6" name="Shape 26"/>
          <p:cNvSpPr/>
          <p:nvPr/>
        </p:nvSpPr>
        <p:spPr>
          <a:xfrm>
            <a:off x="3611880" y="3214116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7" name="Shape 27"/>
          <p:cNvSpPr/>
          <p:nvPr/>
        </p:nvSpPr>
        <p:spPr>
          <a:xfrm>
            <a:off x="3611880" y="3410712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8" name="Shape 28"/>
          <p:cNvSpPr/>
          <p:nvPr/>
        </p:nvSpPr>
        <p:spPr>
          <a:xfrm>
            <a:off x="3611880" y="3607308"/>
            <a:ext cx="1554480" cy="155448"/>
          </a:xfrm>
          <a:prstGeom prst="rect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9" name="Shape 29"/>
          <p:cNvSpPr txBox="1"/>
          <p:nvPr/>
        </p:nvSpPr>
        <p:spPr>
          <a:xfrm>
            <a:off x="3429000" y="3931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ミニバッチ 10 枚</a:t>
            </a:r>
            <a:endParaRPr lang="ja-JP" sz="1200" dirty="0"/>
          </a:p>
        </p:txBody>
      </p:sp>
      <p:sp>
        <p:nvSpPr>
          <p:cNvPr id="30" name="Shape 30"/>
          <p:cNvSpPr txBox="1"/>
          <p:nvPr/>
        </p:nvSpPr>
        <p:spPr>
          <a:xfrm>
            <a:off x="868680" y="5440680"/>
            <a:ext cx="4526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毎回すべてのデータで損失を計算すると時間がかかる → ランダムに選んだ一部で全体を近似する（視聴率調査と同じ考え方）。</a:t>
            </a:r>
            <a:endParaRPr lang="ja-JP" sz="1200" dirty="0"/>
          </a:p>
        </p:txBody>
      </p:sp>
      <p:sp>
        <p:nvSpPr>
          <p:cNvPr id="31" name="Shape 31"/>
          <p:cNvSpPr/>
          <p:nvPr/>
        </p:nvSpPr>
        <p:spPr>
          <a:xfrm>
            <a:off x="5961888" y="1737360"/>
            <a:ext cx="5660136" cy="2194560"/>
          </a:xfrm>
          <a:prstGeom prst="roundRect">
            <a:avLst>
              <a:gd name="adj" fmla="val 5000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2" name="Shape 32"/>
          <p:cNvSpPr/>
          <p:nvPr/>
        </p:nvSpPr>
        <p:spPr>
          <a:xfrm>
            <a:off x="6208776" y="1956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33" name="Shape 33"/>
          <p:cNvSpPr/>
          <p:nvPr/>
        </p:nvSpPr>
        <p:spPr>
          <a:xfrm>
            <a:off x="6437376" y="1956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34" name="Shape 34"/>
          <p:cNvSpPr/>
          <p:nvPr/>
        </p:nvSpPr>
        <p:spPr>
          <a:xfrm>
            <a:off x="6665976" y="1956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35" name="Shape 35"/>
          <p:cNvSpPr txBox="1"/>
          <p:nvPr/>
        </p:nvSpPr>
        <p:spPr>
          <a:xfrm>
            <a:off x="6967728" y="185623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nn_training.py（抜粋）</a:t>
            </a:r>
            <a:endParaRPr lang="ja-JP" sz="1400" dirty="0"/>
          </a:p>
        </p:txBody>
      </p:sp>
      <p:sp>
        <p:nvSpPr>
          <p:cNvPr id="36" name="Shape 36"/>
          <p:cNvSpPr txBox="1"/>
          <p:nvPr/>
        </p:nvSpPr>
        <p:spPr>
          <a:xfrm>
            <a:off x="6236208" y="2304288"/>
            <a:ext cx="5202936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train_size = x_train.shape[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60000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batch_size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10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batch_mask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.random.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choice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(train_size, batch_size)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x_batch = x_train[batch_mask]</a:t>
            </a:r>
            <a:endParaRPr lang="ja-JP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t_batch = t_train[batch_mask]</a:t>
            </a:r>
            <a:endParaRPr lang="ja-JP" sz="1100" dirty="0"/>
          </a:p>
        </p:txBody>
      </p:sp>
      <p:sp>
        <p:nvSpPr>
          <p:cNvPr id="37" name="Shape 37"/>
          <p:cNvSpPr/>
          <p:nvPr/>
        </p:nvSpPr>
        <p:spPr>
          <a:xfrm>
            <a:off x="5961888" y="4114800"/>
            <a:ext cx="5660136" cy="1097280"/>
          </a:xfrm>
          <a:prstGeom prst="roundRect">
            <a:avLst>
              <a:gd name="adj" fmla="val 10000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8" name="Shape 38"/>
          <p:cNvSpPr txBox="1"/>
          <p:nvPr/>
        </p:nvSpPr>
        <p:spPr>
          <a:xfrm>
            <a:off x="6236208" y="418795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バッチ版の交差エントロピー誤差</a:t>
            </a:r>
            <a:endParaRPr lang="ja-JP" sz="1300" dirty="0"/>
          </a:p>
        </p:txBody>
      </p:sp>
      <p:sp>
        <p:nvSpPr>
          <p:cNvPr id="39" name="Shape 39"/>
          <p:cNvSpPr txBox="1"/>
          <p:nvPr/>
        </p:nvSpPr>
        <p:spPr>
          <a:xfrm>
            <a:off x="6355080" y="457200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 = − (1/N) Σₙ Σₖ tₙₖ log yₙₖ</a:t>
            </a: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　N 件の平均</a:t>
            </a:r>
            <a:endParaRPr lang="ja-JP" sz="1800" dirty="0"/>
          </a:p>
        </p:txBody>
      </p:sp>
      <p:sp>
        <p:nvSpPr>
          <p:cNvPr id="40" name="Shape 40"/>
          <p:cNvSpPr/>
          <p:nvPr/>
        </p:nvSpPr>
        <p:spPr>
          <a:xfrm>
            <a:off x="5961888" y="5394960"/>
            <a:ext cx="5660136" cy="1005840"/>
          </a:xfrm>
          <a:prstGeom prst="roundRect">
            <a:avLst>
              <a:gd name="adj" fmla="val 10909"/>
            </a:avLst>
          </a:prstGeom>
          <a:solidFill>
            <a:srgbClr val="FCEBC7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1" name="Shape 41"/>
          <p:cNvSpPr txBox="1"/>
          <p:nvPr/>
        </p:nvSpPr>
        <p:spPr>
          <a:xfrm>
            <a:off x="6217920" y="54406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コードの注意点</a:t>
            </a:r>
            <a:endParaRPr lang="ja-JP" sz="1250" dirty="0"/>
          </a:p>
        </p:txBody>
      </p:sp>
      <p:sp>
        <p:nvSpPr>
          <p:cNvPr id="42" name="Shape 42"/>
          <p:cNvSpPr txBox="1"/>
          <p:nvPr/>
        </p:nvSpPr>
        <p:spPr>
          <a:xfrm>
            <a:off x="6217920" y="576072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nn_training.py の cross_entropy_error は最後が「/ batch」で NameError になる。「/ batch_size」が正しい（common/functions.py 版は正しい）。</a:t>
            </a:r>
            <a:endParaRPr lang="ja-JP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NUMERICAL DIFFERENTIATION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数値微分 ― 小さな差で傾きを求める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25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82880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微分の定義</a:t>
            </a:r>
            <a:endParaRPr lang="ja-JP" sz="1250" dirty="0"/>
          </a:p>
        </p:txBody>
      </p:sp>
      <p:sp>
        <p:nvSpPr>
          <p:cNvPr id="9" name="Shape 9"/>
          <p:cNvSpPr txBox="1"/>
          <p:nvPr/>
        </p:nvSpPr>
        <p:spPr>
          <a:xfrm>
            <a:off x="1005840" y="217627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df/dx = lim h→0 { f(x+h) − f(x) } / h</a:t>
            </a:r>
            <a:endParaRPr lang="ja-JP" sz="1700" dirty="0"/>
          </a:p>
        </p:txBody>
      </p:sp>
      <p:sp>
        <p:nvSpPr>
          <p:cNvPr id="10" name="Shape 10"/>
          <p:cNvSpPr txBox="1"/>
          <p:nvPr/>
        </p:nvSpPr>
        <p:spPr>
          <a:xfrm>
            <a:off x="868680" y="274320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中心差分（誤差が小さい）</a:t>
            </a:r>
            <a:endParaRPr lang="ja-JP" sz="1250" dirty="0"/>
          </a:p>
        </p:txBody>
      </p:sp>
      <p:sp>
        <p:nvSpPr>
          <p:cNvPr id="11" name="Shape 11"/>
          <p:cNvSpPr txBox="1"/>
          <p:nvPr/>
        </p:nvSpPr>
        <p:spPr>
          <a:xfrm>
            <a:off x="1005840" y="309067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7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{ f(x+h) − f(x−h) } / 2h</a:t>
            </a:r>
            <a:endParaRPr lang="ja-JP" sz="1700" dirty="0"/>
          </a:p>
        </p:txBody>
      </p:sp>
      <p:sp>
        <p:nvSpPr>
          <p:cNvPr id="12" name="Shape 12"/>
          <p:cNvSpPr/>
          <p:nvPr/>
        </p:nvSpPr>
        <p:spPr>
          <a:xfrm>
            <a:off x="566928" y="402336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3" name="Shape 13"/>
          <p:cNvSpPr/>
          <p:nvPr/>
        </p:nvSpPr>
        <p:spPr>
          <a:xfrm>
            <a:off x="813816" y="4242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4" name="Shape 14"/>
          <p:cNvSpPr/>
          <p:nvPr/>
        </p:nvSpPr>
        <p:spPr>
          <a:xfrm>
            <a:off x="1042416" y="4242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5" name="Shape 15"/>
          <p:cNvSpPr/>
          <p:nvPr/>
        </p:nvSpPr>
        <p:spPr>
          <a:xfrm>
            <a:off x="1271016" y="4242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6" name="Shape 16"/>
          <p:cNvSpPr txBox="1"/>
          <p:nvPr/>
        </p:nvSpPr>
        <p:spPr>
          <a:xfrm>
            <a:off x="1572768" y="414223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nn_training.py（抜粋）</a:t>
            </a:r>
            <a:endParaRPr lang="ja-JP" sz="1400" dirty="0"/>
          </a:p>
        </p:txBody>
      </p:sp>
      <p:sp>
        <p:nvSpPr>
          <p:cNvPr id="17" name="Shape 17"/>
          <p:cNvSpPr txBox="1"/>
          <p:nvPr/>
        </p:nvSpPr>
        <p:spPr>
          <a:xfrm>
            <a:off x="841248" y="4590288"/>
            <a:ext cx="5029200" cy="1673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numerical_diff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(f, x):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h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1e-4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0.0001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(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(x+h) -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(x-h)) / (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*h)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function_1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(x):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0.01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*x**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+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*x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numerical_diff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(function_1,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5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0.1999999999990898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numerical_diff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(function_1,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0.2999999999986347</a:t>
            </a:r>
            <a:endParaRPr lang="ja-JP" sz="1100" dirty="0"/>
          </a:p>
        </p:txBody>
      </p:sp>
      <p:sp>
        <p:nvSpPr>
          <p:cNvPr id="18" name="Shape 18"/>
          <p:cNvSpPr/>
          <p:nvPr/>
        </p:nvSpPr>
        <p:spPr>
          <a:xfrm>
            <a:off x="6327648" y="1737360"/>
            <a:ext cx="5294376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9" name="Shape 19"/>
          <p:cNvSpPr txBox="1"/>
          <p:nvPr/>
        </p:nvSpPr>
        <p:spPr>
          <a:xfrm>
            <a:off x="6601968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f(x) = 0.01x² + 0.1x と、x = 5 の接線</a:t>
            </a:r>
            <a:endParaRPr lang="ja-JP" sz="1300" dirty="0"/>
          </a:p>
        </p:txBody>
      </p:sp>
      <p:sp>
        <p:nvSpPr>
          <p:cNvPr id="20" name="Shape 20"/>
          <p:cNvSpPr/>
          <p:nvPr/>
        </p:nvSpPr>
        <p:spPr>
          <a:xfrm>
            <a:off x="6601968" y="2286000"/>
            <a:ext cx="4754880" cy="233172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21" name="Line 21"/>
          <p:cNvCxnSpPr/>
          <p:nvPr/>
        </p:nvCxnSpPr>
        <p:spPr>
          <a:xfrm>
            <a:off x="6601968" y="4438357"/>
            <a:ext cx="4754880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828391" y="2286000"/>
            <a:ext cx="0" cy="233172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6601968" y="2286000"/>
            <a:ext cx="4754880" cy="23317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93692"/>
                </a:moveTo>
                <a:lnTo>
                  <a:pt x="499" y="93561"/>
                </a:lnTo>
                <a:lnTo>
                  <a:pt x="999" y="93427"/>
                </a:lnTo>
                <a:lnTo>
                  <a:pt x="1499" y="93289"/>
                </a:lnTo>
                <a:lnTo>
                  <a:pt x="1999" y="93148"/>
                </a:lnTo>
                <a:lnTo>
                  <a:pt x="2500" y="93003"/>
                </a:lnTo>
                <a:lnTo>
                  <a:pt x="3000" y="92855"/>
                </a:lnTo>
                <a:lnTo>
                  <a:pt x="3499" y="92704"/>
                </a:lnTo>
                <a:lnTo>
                  <a:pt x="4000" y="92549"/>
                </a:lnTo>
                <a:lnTo>
                  <a:pt x="4500" y="92391"/>
                </a:lnTo>
                <a:lnTo>
                  <a:pt x="5000" y="92230"/>
                </a:lnTo>
                <a:lnTo>
                  <a:pt x="5500" y="92065"/>
                </a:lnTo>
                <a:lnTo>
                  <a:pt x="6000" y="91897"/>
                </a:lnTo>
                <a:lnTo>
                  <a:pt x="6500" y="91725"/>
                </a:lnTo>
                <a:lnTo>
                  <a:pt x="6999" y="91550"/>
                </a:lnTo>
                <a:lnTo>
                  <a:pt x="7500" y="91372"/>
                </a:lnTo>
                <a:lnTo>
                  <a:pt x="8000" y="91190"/>
                </a:lnTo>
                <a:lnTo>
                  <a:pt x="8500" y="91005"/>
                </a:lnTo>
                <a:lnTo>
                  <a:pt x="9000" y="90816"/>
                </a:lnTo>
                <a:lnTo>
                  <a:pt x="9500" y="90624"/>
                </a:lnTo>
                <a:lnTo>
                  <a:pt x="10000" y="90429"/>
                </a:lnTo>
                <a:lnTo>
                  <a:pt x="10500" y="90230"/>
                </a:lnTo>
                <a:lnTo>
                  <a:pt x="11000" y="90028"/>
                </a:lnTo>
                <a:lnTo>
                  <a:pt x="11500" y="89822"/>
                </a:lnTo>
                <a:lnTo>
                  <a:pt x="12000" y="89613"/>
                </a:lnTo>
                <a:lnTo>
                  <a:pt x="12500" y="89401"/>
                </a:lnTo>
                <a:lnTo>
                  <a:pt x="13000" y="89185"/>
                </a:lnTo>
                <a:lnTo>
                  <a:pt x="13500" y="88966"/>
                </a:lnTo>
                <a:lnTo>
                  <a:pt x="13999" y="88744"/>
                </a:lnTo>
                <a:lnTo>
                  <a:pt x="14499" y="88518"/>
                </a:lnTo>
                <a:lnTo>
                  <a:pt x="15000" y="88288"/>
                </a:lnTo>
                <a:lnTo>
                  <a:pt x="15500" y="88056"/>
                </a:lnTo>
                <a:lnTo>
                  <a:pt x="16000" y="87820"/>
                </a:lnTo>
                <a:lnTo>
                  <a:pt x="16499" y="87580"/>
                </a:lnTo>
                <a:lnTo>
                  <a:pt x="17000" y="87337"/>
                </a:lnTo>
                <a:lnTo>
                  <a:pt x="17500" y="87091"/>
                </a:lnTo>
                <a:lnTo>
                  <a:pt x="18000" y="86841"/>
                </a:lnTo>
                <a:lnTo>
                  <a:pt x="18500" y="86588"/>
                </a:lnTo>
                <a:lnTo>
                  <a:pt x="19000" y="86332"/>
                </a:lnTo>
                <a:lnTo>
                  <a:pt x="19499" y="86072"/>
                </a:lnTo>
                <a:lnTo>
                  <a:pt x="20000" y="85809"/>
                </a:lnTo>
                <a:lnTo>
                  <a:pt x="20500" y="85542"/>
                </a:lnTo>
                <a:lnTo>
                  <a:pt x="21000" y="85272"/>
                </a:lnTo>
                <a:lnTo>
                  <a:pt x="21500" y="84999"/>
                </a:lnTo>
                <a:lnTo>
                  <a:pt x="22000" y="84722"/>
                </a:lnTo>
                <a:lnTo>
                  <a:pt x="22499" y="84442"/>
                </a:lnTo>
                <a:lnTo>
                  <a:pt x="23000" y="84158"/>
                </a:lnTo>
                <a:lnTo>
                  <a:pt x="23500" y="83871"/>
                </a:lnTo>
                <a:lnTo>
                  <a:pt x="24000" y="83581"/>
                </a:lnTo>
                <a:lnTo>
                  <a:pt x="24499" y="83287"/>
                </a:lnTo>
                <a:lnTo>
                  <a:pt x="25000" y="82990"/>
                </a:lnTo>
                <a:lnTo>
                  <a:pt x="25500" y="82689"/>
                </a:lnTo>
                <a:lnTo>
                  <a:pt x="26000" y="82385"/>
                </a:lnTo>
                <a:lnTo>
                  <a:pt x="26500" y="82078"/>
                </a:lnTo>
                <a:lnTo>
                  <a:pt x="27000" y="81767"/>
                </a:lnTo>
                <a:lnTo>
                  <a:pt x="27500" y="81453"/>
                </a:lnTo>
                <a:lnTo>
                  <a:pt x="27999" y="81136"/>
                </a:lnTo>
                <a:lnTo>
                  <a:pt x="28500" y="80815"/>
                </a:lnTo>
                <a:lnTo>
                  <a:pt x="28999" y="80491"/>
                </a:lnTo>
                <a:lnTo>
                  <a:pt x="29500" y="80163"/>
                </a:lnTo>
                <a:lnTo>
                  <a:pt x="30000" y="79832"/>
                </a:lnTo>
                <a:lnTo>
                  <a:pt x="30500" y="79497"/>
                </a:lnTo>
                <a:lnTo>
                  <a:pt x="31000" y="79159"/>
                </a:lnTo>
                <a:lnTo>
                  <a:pt x="31500" y="78818"/>
                </a:lnTo>
                <a:lnTo>
                  <a:pt x="32000" y="78474"/>
                </a:lnTo>
                <a:lnTo>
                  <a:pt x="32500" y="78126"/>
                </a:lnTo>
                <a:lnTo>
                  <a:pt x="32999" y="77774"/>
                </a:lnTo>
                <a:lnTo>
                  <a:pt x="33500" y="77419"/>
                </a:lnTo>
                <a:lnTo>
                  <a:pt x="34000" y="77061"/>
                </a:lnTo>
                <a:lnTo>
                  <a:pt x="34500" y="76699"/>
                </a:lnTo>
                <a:lnTo>
                  <a:pt x="35000" y="76335"/>
                </a:lnTo>
                <a:lnTo>
                  <a:pt x="35500" y="75966"/>
                </a:lnTo>
                <a:lnTo>
                  <a:pt x="36000" y="75594"/>
                </a:lnTo>
                <a:lnTo>
                  <a:pt x="36500" y="75219"/>
                </a:lnTo>
                <a:lnTo>
                  <a:pt x="37000" y="74841"/>
                </a:lnTo>
                <a:lnTo>
                  <a:pt x="37500" y="74459"/>
                </a:lnTo>
                <a:lnTo>
                  <a:pt x="38000" y="74073"/>
                </a:lnTo>
                <a:lnTo>
                  <a:pt x="38500" y="73685"/>
                </a:lnTo>
                <a:lnTo>
                  <a:pt x="38999" y="73292"/>
                </a:lnTo>
                <a:lnTo>
                  <a:pt x="39500" y="72897"/>
                </a:lnTo>
                <a:lnTo>
                  <a:pt x="40000" y="72498"/>
                </a:lnTo>
                <a:lnTo>
                  <a:pt x="40500" y="72096"/>
                </a:lnTo>
                <a:lnTo>
                  <a:pt x="41000" y="71690"/>
                </a:lnTo>
                <a:lnTo>
                  <a:pt x="41500" y="71281"/>
                </a:lnTo>
                <a:lnTo>
                  <a:pt x="42000" y="70868"/>
                </a:lnTo>
                <a:lnTo>
                  <a:pt x="42500" y="70452"/>
                </a:lnTo>
                <a:lnTo>
                  <a:pt x="43000" y="70033"/>
                </a:lnTo>
                <a:lnTo>
                  <a:pt x="43500" y="69611"/>
                </a:lnTo>
                <a:lnTo>
                  <a:pt x="44000" y="69184"/>
                </a:lnTo>
                <a:lnTo>
                  <a:pt x="44500" y="68755"/>
                </a:lnTo>
                <a:lnTo>
                  <a:pt x="44999" y="68322"/>
                </a:lnTo>
                <a:lnTo>
                  <a:pt x="45499" y="67886"/>
                </a:lnTo>
                <a:lnTo>
                  <a:pt x="46000" y="67446"/>
                </a:lnTo>
                <a:lnTo>
                  <a:pt x="46500" y="67003"/>
                </a:lnTo>
                <a:lnTo>
                  <a:pt x="47000" y="66557"/>
                </a:lnTo>
                <a:lnTo>
                  <a:pt x="47500" y="66107"/>
                </a:lnTo>
                <a:lnTo>
                  <a:pt x="48000" y="65654"/>
                </a:lnTo>
                <a:lnTo>
                  <a:pt x="48500" y="65197"/>
                </a:lnTo>
                <a:lnTo>
                  <a:pt x="48999" y="64737"/>
                </a:lnTo>
                <a:lnTo>
                  <a:pt x="49500" y="64274"/>
                </a:lnTo>
                <a:lnTo>
                  <a:pt x="50000" y="63807"/>
                </a:lnTo>
                <a:lnTo>
                  <a:pt x="50500" y="63337"/>
                </a:lnTo>
                <a:lnTo>
                  <a:pt x="51000" y="62863"/>
                </a:lnTo>
                <a:lnTo>
                  <a:pt x="51500" y="62387"/>
                </a:lnTo>
                <a:lnTo>
                  <a:pt x="52000" y="61906"/>
                </a:lnTo>
                <a:lnTo>
                  <a:pt x="52500" y="61422"/>
                </a:lnTo>
                <a:lnTo>
                  <a:pt x="53000" y="60935"/>
                </a:lnTo>
                <a:lnTo>
                  <a:pt x="53499" y="60445"/>
                </a:lnTo>
                <a:lnTo>
                  <a:pt x="54000" y="59951"/>
                </a:lnTo>
                <a:lnTo>
                  <a:pt x="54500" y="59454"/>
                </a:lnTo>
                <a:lnTo>
                  <a:pt x="55000" y="58953"/>
                </a:lnTo>
                <a:lnTo>
                  <a:pt x="55499" y="58449"/>
                </a:lnTo>
                <a:lnTo>
                  <a:pt x="55999" y="57941"/>
                </a:lnTo>
                <a:lnTo>
                  <a:pt x="56500" y="57431"/>
                </a:lnTo>
                <a:lnTo>
                  <a:pt x="57000" y="56916"/>
                </a:lnTo>
                <a:lnTo>
                  <a:pt x="57499" y="56399"/>
                </a:lnTo>
                <a:lnTo>
                  <a:pt x="57999" y="55878"/>
                </a:lnTo>
                <a:lnTo>
                  <a:pt x="58500" y="55353"/>
                </a:lnTo>
                <a:lnTo>
                  <a:pt x="59000" y="54825"/>
                </a:lnTo>
                <a:lnTo>
                  <a:pt x="59500" y="54294"/>
                </a:lnTo>
                <a:lnTo>
                  <a:pt x="60000" y="53760"/>
                </a:lnTo>
                <a:lnTo>
                  <a:pt x="60500" y="53221"/>
                </a:lnTo>
                <a:lnTo>
                  <a:pt x="61000" y="52680"/>
                </a:lnTo>
                <a:lnTo>
                  <a:pt x="61500" y="52135"/>
                </a:lnTo>
                <a:lnTo>
                  <a:pt x="62000" y="51587"/>
                </a:lnTo>
                <a:lnTo>
                  <a:pt x="62500" y="51036"/>
                </a:lnTo>
                <a:lnTo>
                  <a:pt x="63000" y="50481"/>
                </a:lnTo>
                <a:lnTo>
                  <a:pt x="63500" y="49922"/>
                </a:lnTo>
                <a:lnTo>
                  <a:pt x="64000" y="49360"/>
                </a:lnTo>
                <a:lnTo>
                  <a:pt x="64500" y="48795"/>
                </a:lnTo>
                <a:lnTo>
                  <a:pt x="65000" y="48227"/>
                </a:lnTo>
                <a:lnTo>
                  <a:pt x="65500" y="47655"/>
                </a:lnTo>
                <a:lnTo>
                  <a:pt x="65999" y="47080"/>
                </a:lnTo>
                <a:lnTo>
                  <a:pt x="66500" y="46501"/>
                </a:lnTo>
                <a:lnTo>
                  <a:pt x="67000" y="45919"/>
                </a:lnTo>
                <a:lnTo>
                  <a:pt x="67500" y="45333"/>
                </a:lnTo>
                <a:lnTo>
                  <a:pt x="68000" y="44744"/>
                </a:lnTo>
                <a:lnTo>
                  <a:pt x="68500" y="44152"/>
                </a:lnTo>
                <a:lnTo>
                  <a:pt x="69000" y="43556"/>
                </a:lnTo>
                <a:lnTo>
                  <a:pt x="69500" y="42957"/>
                </a:lnTo>
                <a:lnTo>
                  <a:pt x="70000" y="42355"/>
                </a:lnTo>
                <a:lnTo>
                  <a:pt x="70500" y="41749"/>
                </a:lnTo>
                <a:lnTo>
                  <a:pt x="71000" y="41140"/>
                </a:lnTo>
                <a:lnTo>
                  <a:pt x="71500" y="40527"/>
                </a:lnTo>
                <a:lnTo>
                  <a:pt x="72000" y="39911"/>
                </a:lnTo>
                <a:lnTo>
                  <a:pt x="72500" y="39292"/>
                </a:lnTo>
                <a:lnTo>
                  <a:pt x="73000" y="38669"/>
                </a:lnTo>
                <a:lnTo>
                  <a:pt x="73500" y="38043"/>
                </a:lnTo>
                <a:lnTo>
                  <a:pt x="74000" y="37413"/>
                </a:lnTo>
                <a:lnTo>
                  <a:pt x="74500" y="36780"/>
                </a:lnTo>
                <a:lnTo>
                  <a:pt x="75000" y="36144"/>
                </a:lnTo>
                <a:lnTo>
                  <a:pt x="75500" y="35504"/>
                </a:lnTo>
                <a:lnTo>
                  <a:pt x="76000" y="34861"/>
                </a:lnTo>
                <a:lnTo>
                  <a:pt x="76500" y="34214"/>
                </a:lnTo>
                <a:lnTo>
                  <a:pt x="77000" y="33564"/>
                </a:lnTo>
                <a:lnTo>
                  <a:pt x="77499" y="32911"/>
                </a:lnTo>
                <a:lnTo>
                  <a:pt x="77999" y="32254"/>
                </a:lnTo>
                <a:lnTo>
                  <a:pt x="78499" y="31594"/>
                </a:lnTo>
                <a:lnTo>
                  <a:pt x="79000" y="30931"/>
                </a:lnTo>
                <a:lnTo>
                  <a:pt x="79500" y="30264"/>
                </a:lnTo>
                <a:lnTo>
                  <a:pt x="80000" y="29593"/>
                </a:lnTo>
                <a:lnTo>
                  <a:pt x="80500" y="28920"/>
                </a:lnTo>
                <a:lnTo>
                  <a:pt x="81000" y="28243"/>
                </a:lnTo>
                <a:lnTo>
                  <a:pt x="81500" y="27562"/>
                </a:lnTo>
                <a:lnTo>
                  <a:pt x="82000" y="26878"/>
                </a:lnTo>
                <a:lnTo>
                  <a:pt x="82500" y="26191"/>
                </a:lnTo>
                <a:lnTo>
                  <a:pt x="83000" y="25500"/>
                </a:lnTo>
                <a:lnTo>
                  <a:pt x="83500" y="24806"/>
                </a:lnTo>
                <a:lnTo>
                  <a:pt x="84000" y="24109"/>
                </a:lnTo>
                <a:lnTo>
                  <a:pt x="84500" y="23408"/>
                </a:lnTo>
                <a:lnTo>
                  <a:pt x="85000" y="22704"/>
                </a:lnTo>
                <a:lnTo>
                  <a:pt x="85499" y="21996"/>
                </a:lnTo>
                <a:lnTo>
                  <a:pt x="86000" y="21285"/>
                </a:lnTo>
                <a:lnTo>
                  <a:pt x="86500" y="20571"/>
                </a:lnTo>
                <a:lnTo>
                  <a:pt x="87000" y="19853"/>
                </a:lnTo>
                <a:lnTo>
                  <a:pt x="87500" y="19132"/>
                </a:lnTo>
                <a:lnTo>
                  <a:pt x="88000" y="18407"/>
                </a:lnTo>
                <a:lnTo>
                  <a:pt x="88500" y="17679"/>
                </a:lnTo>
                <a:lnTo>
                  <a:pt x="89000" y="16948"/>
                </a:lnTo>
                <a:lnTo>
                  <a:pt x="89500" y="16213"/>
                </a:lnTo>
                <a:lnTo>
                  <a:pt x="89999" y="15475"/>
                </a:lnTo>
                <a:lnTo>
                  <a:pt x="90499" y="14733"/>
                </a:lnTo>
                <a:lnTo>
                  <a:pt x="90999" y="13988"/>
                </a:lnTo>
                <a:lnTo>
                  <a:pt x="91500" y="13240"/>
                </a:lnTo>
                <a:lnTo>
                  <a:pt x="92000" y="12488"/>
                </a:lnTo>
                <a:lnTo>
                  <a:pt x="92500" y="11733"/>
                </a:lnTo>
                <a:lnTo>
                  <a:pt x="93000" y="10975"/>
                </a:lnTo>
                <a:lnTo>
                  <a:pt x="93500" y="10213"/>
                </a:lnTo>
                <a:lnTo>
                  <a:pt x="94000" y="9448"/>
                </a:lnTo>
                <a:lnTo>
                  <a:pt x="94500" y="8679"/>
                </a:lnTo>
                <a:lnTo>
                  <a:pt x="95000" y="7907"/>
                </a:lnTo>
                <a:lnTo>
                  <a:pt x="95500" y="7131"/>
                </a:lnTo>
                <a:lnTo>
                  <a:pt x="96000" y="6352"/>
                </a:lnTo>
                <a:lnTo>
                  <a:pt x="96500" y="5570"/>
                </a:lnTo>
                <a:lnTo>
                  <a:pt x="97000" y="4785"/>
                </a:lnTo>
                <a:lnTo>
                  <a:pt x="97500" y="3996"/>
                </a:lnTo>
                <a:lnTo>
                  <a:pt x="97999" y="3203"/>
                </a:lnTo>
                <a:lnTo>
                  <a:pt x="98500" y="2407"/>
                </a:lnTo>
                <a:lnTo>
                  <a:pt x="99000" y="1608"/>
                </a:lnTo>
                <a:lnTo>
                  <a:pt x="99500" y="805"/>
                </a:lnTo>
                <a:lnTo>
                  <a:pt x="100000" y="0"/>
                </a:lnTo>
              </a:path>
            </a:pathLst>
          </a:custGeom>
          <a:noFill/>
          <a:ln w="31750">
            <a:solidFill>
              <a:srgbClr val="13B5A6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4" name="Shape 24"/>
          <p:cNvSpPr/>
          <p:nvPr/>
        </p:nvSpPr>
        <p:spPr>
          <a:xfrm>
            <a:off x="6601968" y="2286000"/>
            <a:ext cx="4754880" cy="23317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10714" y="92307"/>
                </a:moveTo>
                <a:lnTo>
                  <a:pt x="100000" y="34615"/>
                </a:lnTo>
              </a:path>
            </a:pathLst>
          </a:custGeom>
          <a:noFill/>
          <a:ln w="25400">
            <a:solidFill>
              <a:srgbClr val="F39C12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5" name="Shape 25"/>
          <p:cNvSpPr/>
          <p:nvPr/>
        </p:nvSpPr>
        <p:spPr>
          <a:xfrm>
            <a:off x="7887353" y="4096160"/>
            <a:ext cx="146304" cy="14630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26" name="Shape 26"/>
          <p:cNvSpPr txBox="1"/>
          <p:nvPr/>
        </p:nvSpPr>
        <p:spPr>
          <a:xfrm>
            <a:off x="7777625" y="371211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傾き 0.2</a:t>
            </a:r>
            <a:endParaRPr lang="ja-JP" sz="1100" dirty="0"/>
          </a:p>
        </p:txBody>
      </p:sp>
      <p:sp>
        <p:nvSpPr>
          <p:cNvPr id="27" name="Shape 27"/>
          <p:cNvSpPr/>
          <p:nvPr/>
        </p:nvSpPr>
        <p:spPr>
          <a:xfrm>
            <a:off x="6327648" y="5029200"/>
            <a:ext cx="52943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8" name="Shape 28"/>
          <p:cNvSpPr txBox="1"/>
          <p:nvPr/>
        </p:nvSpPr>
        <p:spPr>
          <a:xfrm>
            <a:off x="6601968" y="5285232"/>
            <a:ext cx="457200" cy="457200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h</a:t>
            </a:r>
            <a:endParaRPr lang="ja-JP" sz="1500" dirty="0"/>
          </a:p>
        </p:txBody>
      </p:sp>
      <p:sp>
        <p:nvSpPr>
          <p:cNvPr id="29" name="Shape 29"/>
          <p:cNvSpPr txBox="1"/>
          <p:nvPr/>
        </p:nvSpPr>
        <p:spPr>
          <a:xfrm>
            <a:off x="7196328" y="5285232"/>
            <a:ext cx="42428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h = 1e-4（0.0001）にする理由</a:t>
            </a:r>
            <a:endParaRPr lang="ja-JP" sz="1500" dirty="0"/>
          </a:p>
        </p:txBody>
      </p:sp>
      <p:sp>
        <p:nvSpPr>
          <p:cNvPr id="30" name="Shape 30"/>
          <p:cNvSpPr txBox="1"/>
          <p:nvPr/>
        </p:nvSpPr>
        <p:spPr>
          <a:xfrm>
            <a:off x="6601968" y="5897880"/>
            <a:ext cx="474573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小さすぎると丸め誤差で 0 になる（np.float32(1e-50) → 0.0）。結果は真の値 0.2・0.3 とほぼ一致。</a:t>
            </a:r>
            <a:endParaRPr lang="ja-JP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GRADIENT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偏微分と勾配 ― 変数ごとの傾きをまとめる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26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82880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function_2</a:t>
            </a:r>
            <a:endParaRPr lang="ja-JP" sz="1250" dirty="0"/>
          </a:p>
        </p:txBody>
      </p:sp>
      <p:sp>
        <p:nvSpPr>
          <p:cNvPr id="9" name="Shape 9"/>
          <p:cNvSpPr txBox="1"/>
          <p:nvPr/>
        </p:nvSpPr>
        <p:spPr>
          <a:xfrm>
            <a:off x="1005840" y="21762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f(x₀, x₁) = x₀² + x₁²</a:t>
            </a:r>
            <a:endParaRPr lang="ja-JP" sz="1900" dirty="0"/>
          </a:p>
        </p:txBody>
      </p:sp>
      <p:sp>
        <p:nvSpPr>
          <p:cNvPr id="10" name="Shape 10"/>
          <p:cNvSpPr txBox="1"/>
          <p:nvPr/>
        </p:nvSpPr>
        <p:spPr>
          <a:xfrm>
            <a:off x="1005840" y="26974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C9D4EA"/>
                </a:solidFill>
                <a:latin typeface="Noto Sans CJK JP"/>
                <a:ea typeface="Noto Sans CJK JP"/>
                <a:cs typeface="Noto Sans CJK JP"/>
              </a:rPr>
              <a:t>勾配 ∇f = (∂f/∂x₀, ∂f/∂x₁) = </a:t>
            </a: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(2x₀, 2x₁)</a:t>
            </a:r>
            <a:endParaRPr lang="ja-JP" sz="1400" dirty="0"/>
          </a:p>
        </p:txBody>
      </p:sp>
      <p:sp>
        <p:nvSpPr>
          <p:cNvPr id="11" name="Shape 11"/>
          <p:cNvSpPr/>
          <p:nvPr/>
        </p:nvSpPr>
        <p:spPr>
          <a:xfrm>
            <a:off x="566928" y="3520440"/>
            <a:ext cx="5120640" cy="2880360"/>
          </a:xfrm>
          <a:prstGeom prst="roundRect">
            <a:avLst>
              <a:gd name="adj" fmla="val 3809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2" name="Shape 12"/>
          <p:cNvSpPr/>
          <p:nvPr/>
        </p:nvSpPr>
        <p:spPr>
          <a:xfrm>
            <a:off x="813816" y="373989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3" name="Shape 13"/>
          <p:cNvSpPr/>
          <p:nvPr/>
        </p:nvSpPr>
        <p:spPr>
          <a:xfrm>
            <a:off x="1042416" y="373989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4" name="Shape 14"/>
          <p:cNvSpPr/>
          <p:nvPr/>
        </p:nvSpPr>
        <p:spPr>
          <a:xfrm>
            <a:off x="1271016" y="373989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5" name="Shape 15"/>
          <p:cNvSpPr txBox="1"/>
          <p:nvPr/>
        </p:nvSpPr>
        <p:spPr>
          <a:xfrm>
            <a:off x="1572768" y="363931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nn_training.py（抜粋）</a:t>
            </a:r>
            <a:endParaRPr lang="ja-JP" sz="1400" dirty="0"/>
          </a:p>
        </p:txBody>
      </p:sp>
      <p:sp>
        <p:nvSpPr>
          <p:cNvPr id="16" name="Shape 16"/>
          <p:cNvSpPr txBox="1"/>
          <p:nvPr/>
        </p:nvSpPr>
        <p:spPr>
          <a:xfrm>
            <a:off x="841248" y="4087368"/>
            <a:ext cx="4663440" cy="2176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numerical_gradient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(f, x):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h =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1e-4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grad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zeros_like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x と同じ形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for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idx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in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range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(x.size):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tmp_val = x[idx]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x[idx] = tmp_val + h;  fxh1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x[idx] = tmp_val - h;  fxh2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grad[idx] = (fxh1 - fxh2) / (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*h)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x[idx] = tmp_val 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元に戻す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grad</a:t>
            </a:r>
            <a:endParaRPr lang="ja-JP" sz="1100" dirty="0"/>
          </a:p>
        </p:txBody>
      </p:sp>
      <p:sp>
        <p:nvSpPr>
          <p:cNvPr id="17" name="Shape 17"/>
          <p:cNvSpPr/>
          <p:nvPr/>
        </p:nvSpPr>
        <p:spPr>
          <a:xfrm>
            <a:off x="5961888" y="1737360"/>
            <a:ext cx="5660136" cy="466344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8" name="Shape 18"/>
          <p:cNvSpPr txBox="1"/>
          <p:nvPr/>
        </p:nvSpPr>
        <p:spPr>
          <a:xfrm>
            <a:off x="6236208" y="182880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−∇f（勾配の逆向き）を矢印で描く</a:t>
            </a:r>
            <a:endParaRPr lang="ja-JP" sz="1400" dirty="0"/>
          </a:p>
        </p:txBody>
      </p:sp>
      <p:sp>
        <p:nvSpPr>
          <p:cNvPr id="19" name="Shape 19"/>
          <p:cNvSpPr/>
          <p:nvPr/>
        </p:nvSpPr>
        <p:spPr>
          <a:xfrm>
            <a:off x="6263640" y="2377440"/>
            <a:ext cx="3108960" cy="310896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20" name="Line 20"/>
          <p:cNvCxnSpPr/>
          <p:nvPr/>
        </p:nvCxnSpPr>
        <p:spPr>
          <a:xfrm>
            <a:off x="6263640" y="3931920"/>
            <a:ext cx="3108960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818120" y="2377440"/>
            <a:ext cx="0" cy="310896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22" name="Line 22"/>
          <p:cNvCxnSpPr/>
          <p:nvPr/>
        </p:nvCxnSpPr>
        <p:spPr>
          <a:xfrm flipV="1">
            <a:off x="6574536" y="4936736"/>
            <a:ext cx="238768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3" name="Line 23"/>
          <p:cNvCxnSpPr/>
          <p:nvPr/>
        </p:nvCxnSpPr>
        <p:spPr>
          <a:xfrm flipV="1">
            <a:off x="6574536" y="4434328"/>
            <a:ext cx="238768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4" name="Line 24"/>
          <p:cNvCxnSpPr/>
          <p:nvPr/>
        </p:nvCxnSpPr>
        <p:spPr>
          <a:xfrm>
            <a:off x="6574536" y="3931920"/>
            <a:ext cx="238768" cy="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5" name="Line 25"/>
          <p:cNvCxnSpPr/>
          <p:nvPr/>
        </p:nvCxnSpPr>
        <p:spPr>
          <a:xfrm>
            <a:off x="6574536" y="3310128"/>
            <a:ext cx="238768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6" name="Line 26"/>
          <p:cNvCxnSpPr/>
          <p:nvPr/>
        </p:nvCxnSpPr>
        <p:spPr>
          <a:xfrm>
            <a:off x="6574536" y="2688336"/>
            <a:ext cx="238768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7" name="Line 27"/>
          <p:cNvCxnSpPr/>
          <p:nvPr/>
        </p:nvCxnSpPr>
        <p:spPr>
          <a:xfrm flipV="1">
            <a:off x="7196328" y="4936736"/>
            <a:ext cx="119384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8" name="Line 28"/>
          <p:cNvCxnSpPr/>
          <p:nvPr/>
        </p:nvCxnSpPr>
        <p:spPr>
          <a:xfrm flipV="1">
            <a:off x="7196328" y="4434328"/>
            <a:ext cx="119384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29" name="Line 29"/>
          <p:cNvCxnSpPr/>
          <p:nvPr/>
        </p:nvCxnSpPr>
        <p:spPr>
          <a:xfrm>
            <a:off x="7196328" y="3931920"/>
            <a:ext cx="119384" cy="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0" name="Line 30"/>
          <p:cNvCxnSpPr/>
          <p:nvPr/>
        </p:nvCxnSpPr>
        <p:spPr>
          <a:xfrm>
            <a:off x="7196328" y="3310128"/>
            <a:ext cx="119384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1" name="Line 31"/>
          <p:cNvCxnSpPr/>
          <p:nvPr/>
        </p:nvCxnSpPr>
        <p:spPr>
          <a:xfrm>
            <a:off x="7196328" y="2688336"/>
            <a:ext cx="119384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2" name="Line 32"/>
          <p:cNvCxnSpPr/>
          <p:nvPr/>
        </p:nvCxnSpPr>
        <p:spPr>
          <a:xfrm flipV="1">
            <a:off x="7818120" y="4936736"/>
            <a:ext cx="0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3" name="Line 33"/>
          <p:cNvCxnSpPr/>
          <p:nvPr/>
        </p:nvCxnSpPr>
        <p:spPr>
          <a:xfrm flipV="1">
            <a:off x="7818120" y="4434328"/>
            <a:ext cx="0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4" name="Line 34"/>
          <p:cNvCxnSpPr/>
          <p:nvPr/>
        </p:nvCxnSpPr>
        <p:spPr>
          <a:xfrm>
            <a:off x="7818120" y="3310128"/>
            <a:ext cx="0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5" name="Line 35"/>
          <p:cNvCxnSpPr/>
          <p:nvPr/>
        </p:nvCxnSpPr>
        <p:spPr>
          <a:xfrm>
            <a:off x="7818120" y="2688336"/>
            <a:ext cx="0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6" name="Line 36"/>
          <p:cNvCxnSpPr/>
          <p:nvPr/>
        </p:nvCxnSpPr>
        <p:spPr>
          <a:xfrm flipH="1" flipV="1">
            <a:off x="8320528" y="4936736"/>
            <a:ext cx="119384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7" name="Line 37"/>
          <p:cNvCxnSpPr/>
          <p:nvPr/>
        </p:nvCxnSpPr>
        <p:spPr>
          <a:xfrm flipH="1" flipV="1">
            <a:off x="8320528" y="4434328"/>
            <a:ext cx="119384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8" name="Line 38"/>
          <p:cNvCxnSpPr/>
          <p:nvPr/>
        </p:nvCxnSpPr>
        <p:spPr>
          <a:xfrm flipH="1">
            <a:off x="8320528" y="3931920"/>
            <a:ext cx="119384" cy="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39" name="Line 39"/>
          <p:cNvCxnSpPr/>
          <p:nvPr/>
        </p:nvCxnSpPr>
        <p:spPr>
          <a:xfrm flipH="1">
            <a:off x="8320528" y="3310128"/>
            <a:ext cx="119384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0" name="Line 40"/>
          <p:cNvCxnSpPr/>
          <p:nvPr/>
        </p:nvCxnSpPr>
        <p:spPr>
          <a:xfrm flipH="1">
            <a:off x="8320528" y="2688336"/>
            <a:ext cx="119384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1" name="Line 41"/>
          <p:cNvCxnSpPr/>
          <p:nvPr/>
        </p:nvCxnSpPr>
        <p:spPr>
          <a:xfrm flipH="1" flipV="1">
            <a:off x="8822936" y="4936736"/>
            <a:ext cx="238768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2" name="Line 42"/>
          <p:cNvCxnSpPr/>
          <p:nvPr/>
        </p:nvCxnSpPr>
        <p:spPr>
          <a:xfrm flipH="1" flipV="1">
            <a:off x="8822936" y="4434328"/>
            <a:ext cx="238768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3" name="Line 43"/>
          <p:cNvCxnSpPr/>
          <p:nvPr/>
        </p:nvCxnSpPr>
        <p:spPr>
          <a:xfrm flipH="1">
            <a:off x="8822936" y="3931920"/>
            <a:ext cx="238768" cy="0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4" name="Line 44"/>
          <p:cNvCxnSpPr/>
          <p:nvPr/>
        </p:nvCxnSpPr>
        <p:spPr>
          <a:xfrm flipH="1">
            <a:off x="8822936" y="3310128"/>
            <a:ext cx="238768" cy="119384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cxnSp>
        <p:nvCxnSpPr>
          <p:cNvPr id="45" name="Line 45"/>
          <p:cNvCxnSpPr/>
          <p:nvPr/>
        </p:nvCxnSpPr>
        <p:spPr>
          <a:xfrm flipH="1">
            <a:off x="8822936" y="2688336"/>
            <a:ext cx="238768" cy="238768"/>
          </a:xfrm>
          <a:prstGeom prst="line">
            <a:avLst/>
          </a:prstGeom>
          <a:ln w="19050">
            <a:solidFill>
              <a:srgbClr val="13B5A6"/>
            </a:solidFill>
            <a:tailEnd type="triangle" w="med" len="med"/>
          </a:ln>
        </p:spPr>
      </p:cxnSp>
      <p:sp>
        <p:nvSpPr>
          <p:cNvPr id="46" name="Shape 46"/>
          <p:cNvSpPr/>
          <p:nvPr/>
        </p:nvSpPr>
        <p:spPr>
          <a:xfrm>
            <a:off x="7744968" y="3858768"/>
            <a:ext cx="146304" cy="14630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7" name="Shape 47"/>
          <p:cNvSpPr txBox="1"/>
          <p:nvPr/>
        </p:nvSpPr>
        <p:spPr>
          <a:xfrm>
            <a:off x="9601200" y="2377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計算結果</a:t>
            </a:r>
            <a:endParaRPr lang="ja-JP" sz="1200" dirty="0"/>
          </a:p>
        </p:txBody>
      </p:sp>
      <p:sp>
        <p:nvSpPr>
          <p:cNvPr id="48" name="Shape 48"/>
          <p:cNvSpPr txBox="1"/>
          <p:nvPr/>
        </p:nvSpPr>
        <p:spPr>
          <a:xfrm>
            <a:off x="9601200" y="27889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(3.0, 4.0)</a:t>
            </a:r>
            <a:endParaRPr lang="ja-JP" sz="1200" dirty="0"/>
          </a:p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→ [6. 8.]</a:t>
            </a:r>
            <a:endParaRPr lang="ja-JP" sz="1200" dirty="0"/>
          </a:p>
        </p:txBody>
      </p:sp>
      <p:sp>
        <p:nvSpPr>
          <p:cNvPr id="49" name="Shape 49"/>
          <p:cNvSpPr txBox="1"/>
          <p:nvPr/>
        </p:nvSpPr>
        <p:spPr>
          <a:xfrm>
            <a:off x="9601200" y="3520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(0.0, 2.0)</a:t>
            </a:r>
            <a:endParaRPr lang="ja-JP" sz="1200" dirty="0"/>
          </a:p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→ [0. 4.]</a:t>
            </a:r>
            <a:endParaRPr lang="ja-JP" sz="1200" dirty="0"/>
          </a:p>
        </p:txBody>
      </p:sp>
      <p:sp>
        <p:nvSpPr>
          <p:cNvPr id="50" name="Shape 50"/>
          <p:cNvSpPr txBox="1"/>
          <p:nvPr/>
        </p:nvSpPr>
        <p:spPr>
          <a:xfrm>
            <a:off x="9601200" y="425196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(3.0, 0.0)</a:t>
            </a:r>
            <a:endParaRPr lang="ja-JP" sz="1200" dirty="0"/>
          </a:p>
          <a:p>
            <a:pPr marL="0" indent="0" algn="l">
              <a:buNone/>
            </a:pPr>
            <a:r>
              <a:rPr lang="ja-JP" altLang="en-US" sz="12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→ [6. 0.]</a:t>
            </a:r>
            <a:endParaRPr lang="ja-JP" sz="1200" dirty="0"/>
          </a:p>
        </p:txBody>
      </p:sp>
      <p:sp>
        <p:nvSpPr>
          <p:cNvPr id="51" name="Shape 51"/>
          <p:cNvSpPr txBox="1"/>
          <p:nvPr/>
        </p:nvSpPr>
        <p:spPr>
          <a:xfrm>
            <a:off x="6236208" y="562356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25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勾配の逆向きは、関数の値を最も減らす方向。どの点からも最小値 (0, 0) を指している。</a:t>
            </a:r>
            <a:endParaRPr lang="ja-JP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GRADIENT DESCENT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勾配降下法 ― 勾配の逆向きに少しずつ進む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27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5486400" cy="1325880"/>
          </a:xfrm>
          <a:prstGeom prst="roundRect">
            <a:avLst>
              <a:gd name="adj" fmla="val 8275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1005840" y="18288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 ← x − </a:t>
            </a:r>
            <a:r>
              <a:rPr lang="ja-JP" altLang="en-US" sz="2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η</a:t>
            </a:r>
            <a:r>
              <a:rPr lang="ja-JP" alt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 ∇f(x)</a:t>
            </a:r>
            <a:endParaRPr lang="ja-JP" sz="2200" dirty="0"/>
          </a:p>
        </p:txBody>
      </p:sp>
      <p:sp>
        <p:nvSpPr>
          <p:cNvPr id="9" name="Shape 9"/>
          <p:cNvSpPr txBox="1"/>
          <p:nvPr/>
        </p:nvSpPr>
        <p:spPr>
          <a:xfrm>
            <a:off x="868680" y="24688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9FB0CC"/>
                </a:solidFill>
                <a:latin typeface="Noto Sans CJK JP"/>
                <a:ea typeface="Noto Sans CJK JP"/>
                <a:cs typeface="Noto Sans CJK JP"/>
              </a:rPr>
              <a:t>η（イータ）は学習率。人が決める「ハイパーパラメータ」</a:t>
            </a:r>
            <a:endParaRPr lang="ja-JP" sz="1200" dirty="0"/>
          </a:p>
        </p:txBody>
      </p:sp>
      <p:sp>
        <p:nvSpPr>
          <p:cNvPr id="10" name="Shape 10"/>
          <p:cNvSpPr/>
          <p:nvPr/>
        </p:nvSpPr>
        <p:spPr>
          <a:xfrm>
            <a:off x="566928" y="3246120"/>
            <a:ext cx="5486400" cy="1783080"/>
          </a:xfrm>
          <a:prstGeom prst="roundRect">
            <a:avLst>
              <a:gd name="adj" fmla="val 6153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1" name="Shape 11"/>
          <p:cNvSpPr/>
          <p:nvPr/>
        </p:nvSpPr>
        <p:spPr>
          <a:xfrm>
            <a:off x="813816" y="346557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2" name="Shape 12"/>
          <p:cNvSpPr/>
          <p:nvPr/>
        </p:nvSpPr>
        <p:spPr>
          <a:xfrm>
            <a:off x="1042416" y="346557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3" name="Shape 13"/>
          <p:cNvSpPr/>
          <p:nvPr/>
        </p:nvSpPr>
        <p:spPr>
          <a:xfrm>
            <a:off x="1271016" y="346557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4" name="Shape 14"/>
          <p:cNvSpPr txBox="1"/>
          <p:nvPr/>
        </p:nvSpPr>
        <p:spPr>
          <a:xfrm>
            <a:off x="1572768" y="336499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nn_training.py</a:t>
            </a:r>
            <a:endParaRPr lang="ja-JP" sz="1400" dirty="0"/>
          </a:p>
        </p:txBody>
      </p:sp>
      <p:sp>
        <p:nvSpPr>
          <p:cNvPr id="15" name="Shape 15"/>
          <p:cNvSpPr txBox="1"/>
          <p:nvPr/>
        </p:nvSpPr>
        <p:spPr>
          <a:xfrm>
            <a:off x="841248" y="3813048"/>
            <a:ext cx="502920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gradient_descent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(f, init_x, lr=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0.01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step_num=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100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x = init_x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for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i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in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range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(step_num):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grad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numerical_gradient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(f, x)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x -= lr * grad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x</a:t>
            </a:r>
            <a:endParaRPr lang="ja-JP" sz="1100" dirty="0"/>
          </a:p>
        </p:txBody>
      </p:sp>
      <p:sp>
        <p:nvSpPr>
          <p:cNvPr id="16" name="Shape 16"/>
          <p:cNvSpPr/>
          <p:nvPr/>
        </p:nvSpPr>
        <p:spPr>
          <a:xfrm>
            <a:off x="566928" y="5212080"/>
            <a:ext cx="1706880" cy="1188720"/>
          </a:xfrm>
          <a:prstGeom prst="roundRect">
            <a:avLst>
              <a:gd name="adj" fmla="val 9230"/>
            </a:avLst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 txBox="1"/>
          <p:nvPr/>
        </p:nvSpPr>
        <p:spPr>
          <a:xfrm>
            <a:off x="704088" y="5285232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lr = 0.1</a:t>
            </a:r>
            <a:endParaRPr lang="ja-JP" sz="1250" dirty="0"/>
          </a:p>
        </p:txBody>
      </p:sp>
      <p:sp>
        <p:nvSpPr>
          <p:cNvPr id="18" name="Shape 18"/>
          <p:cNvSpPr txBox="1"/>
          <p:nvPr/>
        </p:nvSpPr>
        <p:spPr>
          <a:xfrm>
            <a:off x="704088" y="557784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[-6.11e-10,</a:t>
            </a:r>
            <a:endParaRPr lang="ja-JP" sz="1000" dirty="0"/>
          </a:p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  8.15e-10]</a:t>
            </a:r>
            <a:endParaRPr lang="ja-JP" sz="1000" dirty="0"/>
          </a:p>
        </p:txBody>
      </p:sp>
      <p:sp>
        <p:nvSpPr>
          <p:cNvPr id="19" name="Shape 19"/>
          <p:cNvSpPr txBox="1"/>
          <p:nvPr/>
        </p:nvSpPr>
        <p:spPr>
          <a:xfrm>
            <a:off x="704088" y="6035040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○ ほぼ (0, 0) に到達</a:t>
            </a:r>
            <a:endParaRPr lang="ja-JP" sz="1100" dirty="0"/>
          </a:p>
        </p:txBody>
      </p:sp>
      <p:sp>
        <p:nvSpPr>
          <p:cNvPr id="20" name="Shape 20"/>
          <p:cNvSpPr/>
          <p:nvPr/>
        </p:nvSpPr>
        <p:spPr>
          <a:xfrm>
            <a:off x="2456688" y="5212080"/>
            <a:ext cx="1706880" cy="1188720"/>
          </a:xfrm>
          <a:prstGeom prst="roundRect">
            <a:avLst>
              <a:gd name="adj" fmla="val 9230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1" name="Shape 21"/>
          <p:cNvSpPr txBox="1"/>
          <p:nvPr/>
        </p:nvSpPr>
        <p:spPr>
          <a:xfrm>
            <a:off x="2593848" y="5285232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lr = 1e-10</a:t>
            </a:r>
            <a:endParaRPr lang="ja-JP" sz="1250" dirty="0"/>
          </a:p>
        </p:txBody>
      </p:sp>
      <p:sp>
        <p:nvSpPr>
          <p:cNvPr id="22" name="Shape 22"/>
          <p:cNvSpPr txBox="1"/>
          <p:nvPr/>
        </p:nvSpPr>
        <p:spPr>
          <a:xfrm>
            <a:off x="2593848" y="557784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[-2.99999994,</a:t>
            </a:r>
            <a:endParaRPr lang="ja-JP" sz="1000" dirty="0"/>
          </a:p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  3.99999992]</a:t>
            </a:r>
            <a:endParaRPr lang="ja-JP" sz="1000" dirty="0"/>
          </a:p>
        </p:txBody>
      </p:sp>
      <p:sp>
        <p:nvSpPr>
          <p:cNvPr id="23" name="Shape 23"/>
          <p:cNvSpPr txBox="1"/>
          <p:nvPr/>
        </p:nvSpPr>
        <p:spPr>
          <a:xfrm>
            <a:off x="2593848" y="6035040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△ ほとんど動かない</a:t>
            </a:r>
            <a:endParaRPr lang="ja-JP" sz="1100" dirty="0"/>
          </a:p>
        </p:txBody>
      </p:sp>
      <p:sp>
        <p:nvSpPr>
          <p:cNvPr id="24" name="Shape 24"/>
          <p:cNvSpPr/>
          <p:nvPr/>
        </p:nvSpPr>
        <p:spPr>
          <a:xfrm>
            <a:off x="4346448" y="5212080"/>
            <a:ext cx="1706880" cy="1188720"/>
          </a:xfrm>
          <a:prstGeom prst="roundRect">
            <a:avLst>
              <a:gd name="adj" fmla="val 9230"/>
            </a:avLst>
          </a:prstGeom>
          <a:solidFill>
            <a:srgbClr val="F8DDD3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5" name="Shape 25"/>
          <p:cNvSpPr txBox="1"/>
          <p:nvPr/>
        </p:nvSpPr>
        <p:spPr>
          <a:xfrm>
            <a:off x="4483608" y="5285232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E8553A"/>
                </a:solidFill>
                <a:latin typeface="Courier New"/>
                <a:ea typeface="Noto Sans CJK JP"/>
                <a:cs typeface="Courier New"/>
              </a:rPr>
              <a:t>lr = 10</a:t>
            </a:r>
            <a:endParaRPr lang="ja-JP" sz="1250" dirty="0"/>
          </a:p>
        </p:txBody>
      </p:sp>
      <p:sp>
        <p:nvSpPr>
          <p:cNvPr id="26" name="Shape 26"/>
          <p:cNvSpPr txBox="1"/>
          <p:nvPr/>
        </p:nvSpPr>
        <p:spPr>
          <a:xfrm>
            <a:off x="4483608" y="5577840"/>
            <a:ext cx="1432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[-2.59e+13,</a:t>
            </a:r>
            <a:endParaRPr lang="ja-JP" sz="1000" dirty="0"/>
          </a:p>
          <a:p>
            <a:pPr marL="0" indent="0" algn="l">
              <a:buNone/>
            </a:pPr>
            <a:r>
              <a:rPr lang="ja-JP" altLang="en-US" sz="1000" dirty="0">
                <a:solidFill>
                  <a:srgbClr val="1E2740"/>
                </a:solidFill>
                <a:latin typeface="Courier New"/>
                <a:ea typeface="Noto Sans CJK JP"/>
                <a:cs typeface="Courier New"/>
              </a:rPr>
              <a:t> -1.30e+12]</a:t>
            </a:r>
            <a:endParaRPr lang="ja-JP" sz="1000" dirty="0"/>
          </a:p>
        </p:txBody>
      </p:sp>
      <p:sp>
        <p:nvSpPr>
          <p:cNvPr id="27" name="Shape 27"/>
          <p:cNvSpPr txBox="1"/>
          <p:nvPr/>
        </p:nvSpPr>
        <p:spPr>
          <a:xfrm>
            <a:off x="4483608" y="6035040"/>
            <a:ext cx="1432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E8553A"/>
                </a:solidFill>
                <a:latin typeface="Noto Sans CJK JP"/>
                <a:ea typeface="Noto Sans CJK JP"/>
                <a:cs typeface="Noto Sans CJK JP"/>
              </a:rPr>
              <a:t>× 発散する</a:t>
            </a:r>
            <a:endParaRPr lang="ja-JP" sz="1100" dirty="0"/>
          </a:p>
        </p:txBody>
      </p:sp>
      <p:sp>
        <p:nvSpPr>
          <p:cNvPr id="28" name="Shape 28"/>
          <p:cNvSpPr/>
          <p:nvPr/>
        </p:nvSpPr>
        <p:spPr>
          <a:xfrm>
            <a:off x="6327648" y="1737360"/>
            <a:ext cx="5294376" cy="466344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9" name="Shape 29"/>
          <p:cNvSpPr txBox="1"/>
          <p:nvPr/>
        </p:nvSpPr>
        <p:spPr>
          <a:xfrm>
            <a:off x="6601968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init_x = (−3, 4)、lr = 0.1 の動き</a:t>
            </a:r>
            <a:endParaRPr lang="ja-JP" sz="1400" dirty="0"/>
          </a:p>
        </p:txBody>
      </p:sp>
      <p:sp>
        <p:nvSpPr>
          <p:cNvPr id="30" name="Shape 30"/>
          <p:cNvSpPr/>
          <p:nvPr/>
        </p:nvSpPr>
        <p:spPr>
          <a:xfrm>
            <a:off x="7178040" y="2286000"/>
            <a:ext cx="3566160" cy="3566160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1" name="Shape 31"/>
          <p:cNvSpPr/>
          <p:nvPr/>
        </p:nvSpPr>
        <p:spPr>
          <a:xfrm>
            <a:off x="8636924" y="3744884"/>
            <a:ext cx="648393" cy="648393"/>
          </a:xfrm>
          <a:prstGeom prst="ellipse">
            <a:avLst/>
          </a:prstGeom>
          <a:noFill/>
          <a:ln w="12700">
            <a:solidFill>
              <a:srgbClr val="C9D4EA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2" name="Shape 32"/>
          <p:cNvSpPr/>
          <p:nvPr/>
        </p:nvSpPr>
        <p:spPr>
          <a:xfrm>
            <a:off x="8312727" y="3420687"/>
            <a:ext cx="1296785" cy="1296785"/>
          </a:xfrm>
          <a:prstGeom prst="ellipse">
            <a:avLst/>
          </a:prstGeom>
          <a:noFill/>
          <a:ln w="12700">
            <a:solidFill>
              <a:srgbClr val="C9D4EA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3" name="Shape 33"/>
          <p:cNvSpPr/>
          <p:nvPr/>
        </p:nvSpPr>
        <p:spPr>
          <a:xfrm>
            <a:off x="7988531" y="3096491"/>
            <a:ext cx="1945178" cy="1945178"/>
          </a:xfrm>
          <a:prstGeom prst="ellipse">
            <a:avLst/>
          </a:prstGeom>
          <a:noFill/>
          <a:ln w="12700">
            <a:solidFill>
              <a:srgbClr val="C9D4EA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4" name="Shape 34"/>
          <p:cNvSpPr/>
          <p:nvPr/>
        </p:nvSpPr>
        <p:spPr>
          <a:xfrm>
            <a:off x="7664335" y="2772295"/>
            <a:ext cx="2593571" cy="2593571"/>
          </a:xfrm>
          <a:prstGeom prst="ellipse">
            <a:avLst/>
          </a:prstGeom>
          <a:noFill/>
          <a:ln w="12700">
            <a:solidFill>
              <a:srgbClr val="C9D4EA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5" name="Shape 35"/>
          <p:cNvSpPr/>
          <p:nvPr/>
        </p:nvSpPr>
        <p:spPr>
          <a:xfrm>
            <a:off x="7340138" y="2448098"/>
            <a:ext cx="3241964" cy="3241964"/>
          </a:xfrm>
          <a:prstGeom prst="ellipse">
            <a:avLst/>
          </a:prstGeom>
          <a:noFill/>
          <a:ln w="12700">
            <a:solidFill>
              <a:srgbClr val="C9D4EA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cxnSp>
        <p:nvCxnSpPr>
          <p:cNvPr id="36" name="Line 36"/>
          <p:cNvCxnSpPr/>
          <p:nvPr/>
        </p:nvCxnSpPr>
        <p:spPr>
          <a:xfrm>
            <a:off x="7178040" y="4069080"/>
            <a:ext cx="3566160" cy="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8961120" y="2286000"/>
            <a:ext cx="0" cy="3566160"/>
          </a:xfrm>
          <a:prstGeom prst="line">
            <a:avLst/>
          </a:prstGeom>
          <a:ln w="12700">
            <a:solidFill>
              <a:srgbClr val="C9D4EA"/>
            </a:solidFill>
          </a:ln>
        </p:spPr>
      </p:cxnSp>
      <p:sp>
        <p:nvSpPr>
          <p:cNvPr id="38" name="Shape 38"/>
          <p:cNvSpPr/>
          <p:nvPr/>
        </p:nvSpPr>
        <p:spPr>
          <a:xfrm>
            <a:off x="7178040" y="2286000"/>
            <a:ext cx="3566160" cy="356616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22727" y="13636"/>
                </a:moveTo>
                <a:lnTo>
                  <a:pt x="28181" y="20909"/>
                </a:lnTo>
                <a:lnTo>
                  <a:pt x="32545" y="26727"/>
                </a:lnTo>
                <a:lnTo>
                  <a:pt x="36036" y="31381"/>
                </a:lnTo>
                <a:lnTo>
                  <a:pt x="38829" y="35105"/>
                </a:lnTo>
                <a:lnTo>
                  <a:pt x="41063" y="38084"/>
                </a:lnTo>
                <a:lnTo>
                  <a:pt x="42850" y="40467"/>
                </a:lnTo>
                <a:lnTo>
                  <a:pt x="44280" y="42373"/>
                </a:lnTo>
                <a:lnTo>
                  <a:pt x="45424" y="43899"/>
                </a:lnTo>
                <a:lnTo>
                  <a:pt x="46339" y="45119"/>
                </a:lnTo>
                <a:lnTo>
                  <a:pt x="47071" y="46095"/>
                </a:lnTo>
                <a:lnTo>
                  <a:pt x="47657" y="46876"/>
                </a:lnTo>
                <a:lnTo>
                  <a:pt x="48125" y="47501"/>
                </a:lnTo>
                <a:lnTo>
                  <a:pt x="48500" y="48000"/>
                </a:lnTo>
                <a:lnTo>
                  <a:pt x="48800" y="48400"/>
                </a:lnTo>
                <a:lnTo>
                  <a:pt x="49040" y="48720"/>
                </a:lnTo>
                <a:lnTo>
                  <a:pt x="49232" y="48976"/>
                </a:lnTo>
                <a:lnTo>
                  <a:pt x="49385" y="49181"/>
                </a:lnTo>
                <a:lnTo>
                  <a:pt x="49508" y="49344"/>
                </a:lnTo>
                <a:lnTo>
                  <a:pt x="49606" y="49475"/>
                </a:lnTo>
                <a:lnTo>
                  <a:pt x="49685" y="49580"/>
                </a:lnTo>
                <a:lnTo>
                  <a:pt x="49748" y="49664"/>
                </a:lnTo>
                <a:lnTo>
                  <a:pt x="49798" y="49731"/>
                </a:lnTo>
                <a:lnTo>
                  <a:pt x="49839" y="49785"/>
                </a:lnTo>
                <a:lnTo>
                  <a:pt x="49871" y="49828"/>
                </a:lnTo>
              </a:path>
            </a:pathLst>
          </a:custGeom>
          <a:noFill/>
          <a:ln w="25400">
            <a:solidFill>
              <a:srgbClr val="F39C12"/>
            </a:solidFill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9" name="Shape 39"/>
          <p:cNvSpPr/>
          <p:nvPr/>
        </p:nvSpPr>
        <p:spPr>
          <a:xfrm>
            <a:off x="7942811" y="2726575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0" name="Shape 40"/>
          <p:cNvSpPr/>
          <p:nvPr/>
        </p:nvSpPr>
        <p:spPr>
          <a:xfrm>
            <a:off x="8137329" y="2985932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1" name="Shape 41"/>
          <p:cNvSpPr/>
          <p:nvPr/>
        </p:nvSpPr>
        <p:spPr>
          <a:xfrm>
            <a:off x="8292943" y="3193417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2" name="Shape 42"/>
          <p:cNvSpPr/>
          <p:nvPr/>
        </p:nvSpPr>
        <p:spPr>
          <a:xfrm>
            <a:off x="8417434" y="3359406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3" name="Shape 43"/>
          <p:cNvSpPr/>
          <p:nvPr/>
        </p:nvSpPr>
        <p:spPr>
          <a:xfrm>
            <a:off x="8517028" y="3492197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4" name="Shape 44"/>
          <p:cNvSpPr/>
          <p:nvPr/>
        </p:nvSpPr>
        <p:spPr>
          <a:xfrm>
            <a:off x="8596702" y="3598429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5" name="Shape 45"/>
          <p:cNvSpPr/>
          <p:nvPr/>
        </p:nvSpPr>
        <p:spPr>
          <a:xfrm>
            <a:off x="8660442" y="3683415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6" name="Shape 46"/>
          <p:cNvSpPr/>
          <p:nvPr/>
        </p:nvSpPr>
        <p:spPr>
          <a:xfrm>
            <a:off x="8711433" y="3751404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7" name="Shape 47"/>
          <p:cNvSpPr/>
          <p:nvPr/>
        </p:nvSpPr>
        <p:spPr>
          <a:xfrm>
            <a:off x="8752227" y="3805796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8" name="Shape 48"/>
          <p:cNvSpPr/>
          <p:nvPr/>
        </p:nvSpPr>
        <p:spPr>
          <a:xfrm>
            <a:off x="8784861" y="3849308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49" name="Shape 49"/>
          <p:cNvSpPr/>
          <p:nvPr/>
        </p:nvSpPr>
        <p:spPr>
          <a:xfrm>
            <a:off x="8810969" y="3884119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50" name="Shape 50"/>
          <p:cNvSpPr/>
          <p:nvPr/>
        </p:nvSpPr>
        <p:spPr>
          <a:xfrm>
            <a:off x="8831855" y="3911967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51" name="Shape 51"/>
          <p:cNvSpPr txBox="1"/>
          <p:nvPr/>
        </p:nvSpPr>
        <p:spPr>
          <a:xfrm>
            <a:off x="7897091" y="2424823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B86E00"/>
                </a:solidFill>
                <a:latin typeface="Noto Sans CJK JP"/>
                <a:ea typeface="Noto Sans CJK JP"/>
                <a:cs typeface="Noto Sans CJK JP"/>
              </a:rPr>
              <a:t>(−3, 4)</a:t>
            </a:r>
            <a:endParaRPr lang="ja-JP" sz="1100" dirty="0"/>
          </a:p>
        </p:txBody>
      </p:sp>
      <p:sp>
        <p:nvSpPr>
          <p:cNvPr id="52" name="Shape 52"/>
          <p:cNvSpPr txBox="1"/>
          <p:nvPr/>
        </p:nvSpPr>
        <p:spPr>
          <a:xfrm>
            <a:off x="6601968" y="59436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1 ステップごとに x が 0.8 倍になり、最小値へ近づく</a:t>
            </a:r>
            <a:endParaRPr lang="ja-JP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GRADIENT OF NETWORK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ニューラルネットの勾配 ― simpleNet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28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6035040" cy="4663440"/>
          </a:xfrm>
          <a:prstGeom prst="roundRect">
            <a:avLst>
              <a:gd name="adj" fmla="val 2352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/>
          <p:nvPr/>
        </p:nvSpPr>
        <p:spPr>
          <a:xfrm>
            <a:off x="813816" y="1956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9" name="Shape 9"/>
          <p:cNvSpPr/>
          <p:nvPr/>
        </p:nvSpPr>
        <p:spPr>
          <a:xfrm>
            <a:off x="1042416" y="1956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0" name="Shape 10"/>
          <p:cNvSpPr/>
          <p:nvPr/>
        </p:nvSpPr>
        <p:spPr>
          <a:xfrm>
            <a:off x="1271016" y="1956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1572768" y="1856232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gradient_simplenet.py（抜粋）</a:t>
            </a:r>
            <a:endParaRPr lang="ja-JP" sz="1400" dirty="0"/>
          </a:p>
        </p:txBody>
      </p:sp>
      <p:sp>
        <p:nvSpPr>
          <p:cNvPr id="12" name="Shape 12"/>
          <p:cNvSpPr txBox="1"/>
          <p:nvPr/>
        </p:nvSpPr>
        <p:spPr>
          <a:xfrm>
            <a:off x="841248" y="2304288"/>
            <a:ext cx="5577840" cy="3959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class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simpleNet: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__init__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.W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.random.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randn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2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3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ガウス分布で初期化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predict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x):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dot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(x,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.W)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loss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x, t):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z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self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predict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y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softmax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(z)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cross_entropy_error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(y, t)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net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simpleNet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x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0.6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0.9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t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array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([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])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正解ラベル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def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f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(W):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return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net.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loss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(x, t)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dW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numerical_gradient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(f, net.W)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(2, 3)</a:t>
            </a:r>
            <a:endParaRPr lang="ja-JP" sz="1100" dirty="0"/>
          </a:p>
        </p:txBody>
      </p:sp>
      <p:sp>
        <p:nvSpPr>
          <p:cNvPr id="13" name="Shape 13"/>
          <p:cNvSpPr/>
          <p:nvPr/>
        </p:nvSpPr>
        <p:spPr>
          <a:xfrm>
            <a:off x="6876288" y="1737360"/>
            <a:ext cx="474573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4" name="Shape 14"/>
          <p:cNvSpPr txBox="1"/>
          <p:nvPr/>
        </p:nvSpPr>
        <p:spPr>
          <a:xfrm>
            <a:off x="7132320" y="18288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損失 L を求める流れ</a:t>
            </a:r>
            <a:endParaRPr lang="ja-JP" sz="1400" dirty="0"/>
          </a:p>
        </p:txBody>
      </p:sp>
      <p:sp>
        <p:nvSpPr>
          <p:cNvPr id="15" name="Shape 15"/>
          <p:cNvSpPr txBox="1"/>
          <p:nvPr/>
        </p:nvSpPr>
        <p:spPr>
          <a:xfrm>
            <a:off x="7132320" y="2377440"/>
            <a:ext cx="914400" cy="777240"/>
          </a:xfrm>
          <a:prstGeom prst="roundRect">
            <a:avLst>
              <a:gd name="adj" fmla="val 9411"/>
            </a:avLst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 · W</a:t>
            </a:r>
            <a:endParaRPr lang="ja-JP" sz="1150" dirty="0"/>
          </a:p>
        </p:txBody>
      </p:sp>
      <p:sp>
        <p:nvSpPr>
          <p:cNvPr id="16" name="Shape 16"/>
          <p:cNvSpPr txBox="1"/>
          <p:nvPr/>
        </p:nvSpPr>
        <p:spPr>
          <a:xfrm>
            <a:off x="8321040" y="2377440"/>
            <a:ext cx="914400" cy="777240"/>
          </a:xfrm>
          <a:prstGeom prst="roundRect">
            <a:avLst>
              <a:gd name="adj" fmla="val 9411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softmax</a:t>
            </a:r>
            <a:endParaRPr lang="ja-JP" sz="1150" dirty="0"/>
          </a:p>
        </p:txBody>
      </p:sp>
      <p:sp>
        <p:nvSpPr>
          <p:cNvPr id="17" name="Shape 17"/>
          <p:cNvSpPr txBox="1"/>
          <p:nvPr/>
        </p:nvSpPr>
        <p:spPr>
          <a:xfrm>
            <a:off x="9509760" y="2377440"/>
            <a:ext cx="914400" cy="777240"/>
          </a:xfrm>
          <a:prstGeom prst="roundRect">
            <a:avLst>
              <a:gd name="adj" fmla="val 9411"/>
            </a:avLst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交差</a:t>
            </a:r>
            <a:endParaRPr lang="ja-JP" sz="1050" dirty="0"/>
          </a:p>
          <a:p>
            <a:pPr marL="0" indent="0"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エントロピー</a:t>
            </a:r>
            <a:endParaRPr lang="ja-JP" sz="1050" dirty="0"/>
          </a:p>
        </p:txBody>
      </p:sp>
      <p:cxnSp>
        <p:nvCxnSpPr>
          <p:cNvPr id="18" name="Line 18"/>
          <p:cNvCxnSpPr/>
          <p:nvPr/>
        </p:nvCxnSpPr>
        <p:spPr>
          <a:xfrm>
            <a:off x="8065008" y="2761488"/>
            <a:ext cx="237744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cxnSp>
        <p:nvCxnSpPr>
          <p:cNvPr id="19" name="Line 19"/>
          <p:cNvCxnSpPr/>
          <p:nvPr/>
        </p:nvCxnSpPr>
        <p:spPr>
          <a:xfrm>
            <a:off x="9253728" y="2761488"/>
            <a:ext cx="237744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cxnSp>
        <p:nvCxnSpPr>
          <p:cNvPr id="20" name="Line 20"/>
          <p:cNvCxnSpPr/>
          <p:nvPr/>
        </p:nvCxnSpPr>
        <p:spPr>
          <a:xfrm>
            <a:off x="10442448" y="2761488"/>
            <a:ext cx="237744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21" name="Shape 21"/>
          <p:cNvSpPr txBox="1"/>
          <p:nvPr/>
        </p:nvSpPr>
        <p:spPr>
          <a:xfrm>
            <a:off x="10716768" y="2514600"/>
            <a:ext cx="502920" cy="502920"/>
          </a:xfrm>
          <a:prstGeom prst="ellipse">
            <a:avLst/>
          </a:prstGeom>
          <a:solidFill>
            <a:srgbClr val="27324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L</a:t>
            </a:r>
            <a:endParaRPr lang="ja-JP" sz="1500" dirty="0"/>
          </a:p>
        </p:txBody>
      </p:sp>
      <p:sp>
        <p:nvSpPr>
          <p:cNvPr id="22" name="Shape 22"/>
          <p:cNvSpPr txBox="1"/>
          <p:nvPr/>
        </p:nvSpPr>
        <p:spPr>
          <a:xfrm>
            <a:off x="7132320" y="32918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1000" dirty="0">
                <a:solidFill>
                  <a:srgbClr val="6A7488"/>
                </a:solidFill>
                <a:latin typeface="Courier New"/>
                <a:ea typeface="Noto Sans CJK JP"/>
                <a:cs typeface="Courier New"/>
              </a:rPr>
              <a:t>z = x·W → y = softmax(z) → L = cross_entropy_error(y, t)</a:t>
            </a:r>
            <a:endParaRPr lang="ja-JP" sz="1000" dirty="0"/>
          </a:p>
        </p:txBody>
      </p:sp>
      <p:sp>
        <p:nvSpPr>
          <p:cNvPr id="23" name="Shape 23"/>
          <p:cNvSpPr/>
          <p:nvPr/>
        </p:nvSpPr>
        <p:spPr>
          <a:xfrm>
            <a:off x="6876288" y="4114800"/>
            <a:ext cx="4745736" cy="1051560"/>
          </a:xfrm>
          <a:prstGeom prst="roundRect">
            <a:avLst>
              <a:gd name="adj" fmla="val 10434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4" name="Shape 24"/>
          <p:cNvSpPr txBox="1"/>
          <p:nvPr/>
        </p:nvSpPr>
        <p:spPr>
          <a:xfrm>
            <a:off x="7132320" y="417880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dW = ∂L/∂W も W と同じ (2, 3) の形</a:t>
            </a:r>
            <a:endParaRPr lang="ja-JP" sz="1250" dirty="0"/>
          </a:p>
        </p:txBody>
      </p:sp>
      <p:sp>
        <p:nvSpPr>
          <p:cNvPr id="25" name="Shape 25"/>
          <p:cNvSpPr txBox="1"/>
          <p:nvPr/>
        </p:nvSpPr>
        <p:spPr>
          <a:xfrm>
            <a:off x="7132320" y="4507992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[[∂L/∂w₁₁  ∂L/∂w₁₂  ∂L/∂w₁₃]</a:t>
            </a:r>
            <a:endParaRPr lang="ja-JP" sz="1200" dirty="0"/>
          </a:p>
          <a:p>
            <a:pPr marL="0" indent="0" algn="l">
              <a:buNone/>
            </a:pPr>
            <a:r>
              <a:rPr lang="ja-JP" altLang="en-US" sz="12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[∂L/∂w₂₁  ∂L/∂w₂₂  ∂L/∂w₂₃]]</a:t>
            </a:r>
            <a:endParaRPr lang="ja-JP" sz="1200" dirty="0"/>
          </a:p>
        </p:txBody>
      </p:sp>
      <p:sp>
        <p:nvSpPr>
          <p:cNvPr id="26" name="Shape 26"/>
          <p:cNvSpPr/>
          <p:nvPr/>
        </p:nvSpPr>
        <p:spPr>
          <a:xfrm>
            <a:off x="6876288" y="5349240"/>
            <a:ext cx="4745736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7" name="Shape 27"/>
          <p:cNvSpPr txBox="1"/>
          <p:nvPr/>
        </p:nvSpPr>
        <p:spPr>
          <a:xfrm>
            <a:off x="7086600" y="5394960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300"/>
              </a:spcAft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・dW が正なら、その重みを減らすと損失が下がる</a:t>
            </a:r>
            <a:endParaRPr lang="ja-JP" sz="1100" dirty="0"/>
          </a:p>
          <a:p>
            <a:pPr marL="0" indent="0" algn="l">
              <a:lnSpc>
                <a:spcPct val="125000"/>
              </a:lnSpc>
              <a:spcAft>
                <a:spcPts val="300"/>
              </a:spcAft>
              <a:buNone/>
            </a:pPr>
            <a:r>
              <a:rPr lang="ja-JP" altLang="en-US" sz="11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・f(W) は引数 W を使わないが、numerical_gradient が net.W を直接書き換えるので正しく計算できる</a:t>
            </a:r>
            <a:endParaRPr lang="ja-JP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TWO-LAYER NETWORK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2層ニューラルネットのクラス ― TwoLayerNet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29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11055096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 txBox="1"/>
          <p:nvPr/>
        </p:nvSpPr>
        <p:spPr>
          <a:xfrm>
            <a:off x="868680" y="19659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E2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入力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784</a:t>
            </a:r>
            <a:endParaRPr lang="ja-JP" sz="1300" dirty="0"/>
          </a:p>
        </p:txBody>
      </p:sp>
      <p:sp>
        <p:nvSpPr>
          <p:cNvPr id="9" name="Shape 9"/>
          <p:cNvSpPr txBox="1"/>
          <p:nvPr/>
        </p:nvSpPr>
        <p:spPr>
          <a:xfrm>
            <a:off x="3108960" y="19659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隠れ層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</a:t>
            </a:r>
            <a:endParaRPr lang="ja-JP" sz="1300" dirty="0"/>
          </a:p>
        </p:txBody>
      </p:sp>
      <p:sp>
        <p:nvSpPr>
          <p:cNvPr id="10" name="Shape 10"/>
          <p:cNvSpPr txBox="1"/>
          <p:nvPr/>
        </p:nvSpPr>
        <p:spPr>
          <a:xfrm>
            <a:off x="5349240" y="19659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出力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  <a:endParaRPr lang="ja-JP" sz="1300" dirty="0"/>
          </a:p>
        </p:txBody>
      </p:sp>
      <p:cxnSp>
        <p:nvCxnSpPr>
          <p:cNvPr id="11" name="Line 11"/>
          <p:cNvCxnSpPr/>
          <p:nvPr/>
        </p:nvCxnSpPr>
        <p:spPr>
          <a:xfrm>
            <a:off x="2148840" y="2395728"/>
            <a:ext cx="868680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12" name="Shape 12"/>
          <p:cNvSpPr txBox="1"/>
          <p:nvPr/>
        </p:nvSpPr>
        <p:spPr>
          <a:xfrm>
            <a:off x="2148840" y="2011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W1, b1</a:t>
            </a:r>
            <a:endParaRPr lang="ja-JP" sz="1100" dirty="0"/>
          </a:p>
        </p:txBody>
      </p:sp>
      <p:sp>
        <p:nvSpPr>
          <p:cNvPr id="13" name="Shape 13"/>
          <p:cNvSpPr txBox="1"/>
          <p:nvPr/>
        </p:nvSpPr>
        <p:spPr>
          <a:xfrm>
            <a:off x="2148840" y="245059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sigmoid</a:t>
            </a:r>
            <a:endParaRPr lang="ja-JP" sz="1100" dirty="0"/>
          </a:p>
        </p:txBody>
      </p:sp>
      <p:cxnSp>
        <p:nvCxnSpPr>
          <p:cNvPr id="14" name="Line 14"/>
          <p:cNvCxnSpPr/>
          <p:nvPr/>
        </p:nvCxnSpPr>
        <p:spPr>
          <a:xfrm>
            <a:off x="4389120" y="2395728"/>
            <a:ext cx="868680" cy="0"/>
          </a:xfrm>
          <a:prstGeom prst="line">
            <a:avLst/>
          </a:prstGeom>
          <a:ln w="19050">
            <a:solidFill>
              <a:srgbClr val="27324B"/>
            </a:solidFill>
            <a:tailEnd type="triangl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4389120" y="2011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W2, b2</a:t>
            </a:r>
            <a:endParaRPr lang="ja-JP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4389120" y="245059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softmax</a:t>
            </a:r>
            <a:endParaRPr lang="ja-JP" sz="1100" dirty="0"/>
          </a:p>
        </p:txBody>
      </p:sp>
      <p:sp>
        <p:nvSpPr>
          <p:cNvPr id="17" name="Shape 17"/>
          <p:cNvSpPr txBox="1"/>
          <p:nvPr/>
        </p:nvSpPr>
        <p:spPr>
          <a:xfrm>
            <a:off x="868680" y="29718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重みは 0.01 × ガウス分布、バイアスは 0 で初期化する</a:t>
            </a:r>
            <a:endParaRPr lang="ja-JP" sz="1150" dirty="0"/>
          </a:p>
        </p:txBody>
      </p:sp>
      <p:sp>
        <p:nvSpPr>
          <p:cNvPr id="18" name="Shape 18"/>
          <p:cNvSpPr txBox="1"/>
          <p:nvPr/>
        </p:nvSpPr>
        <p:spPr>
          <a:xfrm>
            <a:off x="6949440" y="18745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5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self.params</a:t>
            </a:r>
            <a:r>
              <a:rPr lang="ja-JP" altLang="en-US" sz="1200" b="1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（パラメータを辞書で管理）</a:t>
            </a:r>
            <a:endParaRPr lang="ja-JP" sz="1250" dirty="0"/>
          </a:p>
        </p:txBody>
      </p:sp>
      <p:sp>
        <p:nvSpPr>
          <p:cNvPr id="19" name="Shape 19"/>
          <p:cNvSpPr txBox="1"/>
          <p:nvPr/>
        </p:nvSpPr>
        <p:spPr>
          <a:xfrm>
            <a:off x="6949440" y="2331720"/>
            <a:ext cx="2103120" cy="411480"/>
          </a:xfrm>
          <a:prstGeom prst="roundRect">
            <a:avLst>
              <a:gd name="adj" fmla="val 17777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W1 (784, 50)</a:t>
            </a:r>
            <a:endParaRPr lang="ja-JP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9189720" y="2331720"/>
            <a:ext cx="2103120" cy="411480"/>
          </a:xfrm>
          <a:prstGeom prst="roundRect">
            <a:avLst>
              <a:gd name="adj" fmla="val 17777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b1 (50,)</a:t>
            </a:r>
            <a:endParaRPr lang="ja-JP" sz="1200" dirty="0"/>
          </a:p>
        </p:txBody>
      </p:sp>
      <p:sp>
        <p:nvSpPr>
          <p:cNvPr id="21" name="Shape 21"/>
          <p:cNvSpPr txBox="1"/>
          <p:nvPr/>
        </p:nvSpPr>
        <p:spPr>
          <a:xfrm>
            <a:off x="6949440" y="2862072"/>
            <a:ext cx="2103120" cy="411480"/>
          </a:xfrm>
          <a:prstGeom prst="roundRect">
            <a:avLst>
              <a:gd name="adj" fmla="val 17777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W2 (50, 10)</a:t>
            </a:r>
            <a:endParaRPr lang="ja-JP" sz="1200" dirty="0"/>
          </a:p>
        </p:txBody>
      </p:sp>
      <p:sp>
        <p:nvSpPr>
          <p:cNvPr id="22" name="Shape 22"/>
          <p:cNvSpPr txBox="1"/>
          <p:nvPr/>
        </p:nvSpPr>
        <p:spPr>
          <a:xfrm>
            <a:off x="9189720" y="2862072"/>
            <a:ext cx="2103120" cy="411480"/>
          </a:xfrm>
          <a:prstGeom prst="roundRect">
            <a:avLst>
              <a:gd name="adj" fmla="val 17777"/>
            </a:avLst>
          </a:prstGeom>
          <a:solidFill>
            <a:srgbClr val="EEF2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27324B"/>
                </a:solidFill>
                <a:latin typeface="Courier New"/>
                <a:ea typeface="Noto Sans CJK JP"/>
                <a:cs typeface="Courier New"/>
              </a:rPr>
              <a:t>b2 (10,)</a:t>
            </a:r>
            <a:endParaRPr lang="ja-JP" sz="1200" dirty="0"/>
          </a:p>
        </p:txBody>
      </p:sp>
      <p:sp>
        <p:nvSpPr>
          <p:cNvPr id="23" name="Shape 23"/>
          <p:cNvSpPr/>
          <p:nvPr/>
        </p:nvSpPr>
        <p:spPr>
          <a:xfrm>
            <a:off x="566928" y="3749040"/>
            <a:ext cx="2558034" cy="265176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4" name="Shape 24"/>
          <p:cNvSpPr txBox="1"/>
          <p:nvPr/>
        </p:nvSpPr>
        <p:spPr>
          <a:xfrm>
            <a:off x="795528" y="3931920"/>
            <a:ext cx="384048" cy="384048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ja-JP" sz="1300" dirty="0"/>
          </a:p>
        </p:txBody>
      </p:sp>
      <p:sp>
        <p:nvSpPr>
          <p:cNvPr id="25" name="Shape 25"/>
          <p:cNvSpPr txBox="1"/>
          <p:nvPr/>
        </p:nvSpPr>
        <p:spPr>
          <a:xfrm>
            <a:off x="795528" y="4434840"/>
            <a:ext cx="219227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predict(x)</a:t>
            </a:r>
            <a:endParaRPr lang="ja-JP" sz="1300" dirty="0"/>
          </a:p>
        </p:txBody>
      </p:sp>
      <p:sp>
        <p:nvSpPr>
          <p:cNvPr id="26" name="Shape 26"/>
          <p:cNvSpPr txBox="1"/>
          <p:nvPr/>
        </p:nvSpPr>
        <p:spPr>
          <a:xfrm>
            <a:off x="795528" y="5166360"/>
            <a:ext cx="214655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推論（順伝播）。x·W1+b1 → sigmoid → ·W2+b2 → softmax</a:t>
            </a:r>
            <a:endParaRPr lang="ja-JP" sz="1300" dirty="0"/>
          </a:p>
        </p:txBody>
      </p:sp>
      <p:sp>
        <p:nvSpPr>
          <p:cNvPr id="27" name="Shape 27"/>
          <p:cNvSpPr/>
          <p:nvPr/>
        </p:nvSpPr>
        <p:spPr>
          <a:xfrm>
            <a:off x="3399282" y="3749040"/>
            <a:ext cx="2558034" cy="265176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8" name="Shape 28"/>
          <p:cNvSpPr txBox="1"/>
          <p:nvPr/>
        </p:nvSpPr>
        <p:spPr>
          <a:xfrm>
            <a:off x="3627882" y="3931920"/>
            <a:ext cx="384048" cy="384048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ja-JP" sz="1300" dirty="0"/>
          </a:p>
        </p:txBody>
      </p:sp>
      <p:sp>
        <p:nvSpPr>
          <p:cNvPr id="29" name="Shape 29"/>
          <p:cNvSpPr txBox="1"/>
          <p:nvPr/>
        </p:nvSpPr>
        <p:spPr>
          <a:xfrm>
            <a:off x="3627882" y="4434840"/>
            <a:ext cx="219227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loss(x, t)</a:t>
            </a:r>
            <a:endParaRPr lang="ja-JP" sz="1300" dirty="0"/>
          </a:p>
        </p:txBody>
      </p:sp>
      <p:sp>
        <p:nvSpPr>
          <p:cNvPr id="30" name="Shape 30"/>
          <p:cNvSpPr txBox="1"/>
          <p:nvPr/>
        </p:nvSpPr>
        <p:spPr>
          <a:xfrm>
            <a:off x="3627882" y="5166360"/>
            <a:ext cx="214655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predict の結果と正解 t から、交差エントロピー誤差を返す</a:t>
            </a:r>
            <a:endParaRPr lang="ja-JP" sz="1300" dirty="0"/>
          </a:p>
        </p:txBody>
      </p:sp>
      <p:sp>
        <p:nvSpPr>
          <p:cNvPr id="31" name="Shape 31"/>
          <p:cNvSpPr/>
          <p:nvPr/>
        </p:nvSpPr>
        <p:spPr>
          <a:xfrm>
            <a:off x="6231636" y="3749040"/>
            <a:ext cx="2558034" cy="265176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2" name="Shape 32"/>
          <p:cNvSpPr txBox="1"/>
          <p:nvPr/>
        </p:nvSpPr>
        <p:spPr>
          <a:xfrm>
            <a:off x="6460236" y="3931920"/>
            <a:ext cx="384048" cy="384048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ja-JP" sz="1300" dirty="0"/>
          </a:p>
        </p:txBody>
      </p:sp>
      <p:sp>
        <p:nvSpPr>
          <p:cNvPr id="33" name="Shape 33"/>
          <p:cNvSpPr txBox="1"/>
          <p:nvPr/>
        </p:nvSpPr>
        <p:spPr>
          <a:xfrm>
            <a:off x="6460236" y="4434840"/>
            <a:ext cx="219227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accuracy(x, t)</a:t>
            </a:r>
            <a:endParaRPr lang="ja-JP" sz="1300" dirty="0"/>
          </a:p>
        </p:txBody>
      </p:sp>
      <p:sp>
        <p:nvSpPr>
          <p:cNvPr id="34" name="Shape 34"/>
          <p:cNvSpPr txBox="1"/>
          <p:nvPr/>
        </p:nvSpPr>
        <p:spPr>
          <a:xfrm>
            <a:off x="6460236" y="5166360"/>
            <a:ext cx="214655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argmax で予測と正解を比べ、正解した割合を返す</a:t>
            </a:r>
            <a:endParaRPr lang="ja-JP" sz="1300" dirty="0"/>
          </a:p>
        </p:txBody>
      </p:sp>
      <p:sp>
        <p:nvSpPr>
          <p:cNvPr id="35" name="Shape 35"/>
          <p:cNvSpPr/>
          <p:nvPr/>
        </p:nvSpPr>
        <p:spPr>
          <a:xfrm>
            <a:off x="9063990" y="3749040"/>
            <a:ext cx="2558034" cy="265176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36" name="Shape 36"/>
          <p:cNvSpPr txBox="1"/>
          <p:nvPr/>
        </p:nvSpPr>
        <p:spPr>
          <a:xfrm>
            <a:off x="9292590" y="3931920"/>
            <a:ext cx="384048" cy="384048"/>
          </a:xfrm>
          <a:prstGeom prst="ellipse">
            <a:avLst/>
          </a:prstGeom>
          <a:solidFill>
            <a:srgbClr val="D6F2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ja-JP" sz="1300" dirty="0"/>
          </a:p>
        </p:txBody>
      </p:sp>
      <p:sp>
        <p:nvSpPr>
          <p:cNvPr id="37" name="Shape 37"/>
          <p:cNvSpPr txBox="1"/>
          <p:nvPr/>
        </p:nvSpPr>
        <p:spPr>
          <a:xfrm>
            <a:off x="9292590" y="4434840"/>
            <a:ext cx="219227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numerical_</a:t>
            </a:r>
            <a:endParaRPr lang="ja-JP" sz="1300" dirty="0"/>
          </a:p>
          <a:p>
            <a:pPr marL="0" indent="0" algn="l">
              <a:buNone/>
            </a:pPr>
            <a:r>
              <a:rPr lang="ja-JP" altLang="en-US" sz="1300" b="1" dirty="0">
                <a:solidFill>
                  <a:srgbClr val="0C8578"/>
                </a:solidFill>
                <a:latin typeface="Courier New"/>
                <a:ea typeface="Noto Sans CJK JP"/>
                <a:cs typeface="Courier New"/>
              </a:rPr>
              <a:t>gradient(x, t)</a:t>
            </a:r>
            <a:endParaRPr lang="ja-JP" sz="1300" dirty="0"/>
          </a:p>
        </p:txBody>
      </p:sp>
      <p:sp>
        <p:nvSpPr>
          <p:cNvPr id="38" name="Shape 38"/>
          <p:cNvSpPr txBox="1"/>
          <p:nvPr/>
        </p:nvSpPr>
        <p:spPr>
          <a:xfrm>
            <a:off x="9292590" y="5166360"/>
            <a:ext cx="2146554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dirty="0">
                <a:solidFill>
                  <a:srgbClr val="1E2740"/>
                </a:solidFill>
                <a:latin typeface="Noto Sans CJK JP"/>
                <a:ea typeface="Noto Sans CJK JP"/>
                <a:cs typeface="Noto Sans CJK JP"/>
              </a:rPr>
              <a:t>W1・b1・W2・b2 の勾配を数値微分で求め、辞書 grads で返す</a:t>
            </a:r>
            <a:endParaRPr lang="ja-JP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566928" y="57607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4" name="Shape 4"/>
          <p:cNvSpPr txBox="1"/>
          <p:nvPr/>
        </p:nvSpPr>
        <p:spPr>
          <a:xfrm>
            <a:off x="822960" y="457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spc="200" dirty="0">
                <a:solidFill>
                  <a:srgbClr val="0C8578"/>
                </a:solidFill>
                <a:latin typeface="Noto Sans CJK JP"/>
                <a:ea typeface="Noto Sans CJK JP"/>
                <a:cs typeface="Noto Sans CJK JP"/>
              </a:rPr>
              <a:t>TRAINING LOOP</a:t>
            </a:r>
            <a:endParaRPr lang="ja-JP" sz="1400" dirty="0"/>
          </a:p>
        </p:txBody>
      </p:sp>
      <p:sp>
        <p:nvSpPr>
          <p:cNvPr id="5" name="Shape 5"/>
          <p:cNvSpPr txBox="1"/>
          <p:nvPr/>
        </p:nvSpPr>
        <p:spPr>
          <a:xfrm>
            <a:off x="786384" y="71323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9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学習ループ ― ミニバッチ学習の実装</a:t>
            </a:r>
            <a:endParaRPr lang="ja-JP" sz="2900" dirty="0"/>
          </a:p>
        </p:txBody>
      </p:sp>
      <p:sp>
        <p:nvSpPr>
          <p:cNvPr id="6" name="Shape 6"/>
          <p:cNvSpPr txBox="1"/>
          <p:nvPr/>
        </p:nvSpPr>
        <p:spPr>
          <a:xfrm>
            <a:off x="10972800" y="457200"/>
            <a:ext cx="868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3400" b="1" dirty="0">
                <a:solidFill>
                  <a:srgbClr val="C8D2E4"/>
                </a:solidFill>
                <a:latin typeface="Noto Sans CJK JP"/>
                <a:ea typeface="Noto Sans CJK JP"/>
                <a:cs typeface="Noto Sans CJK JP"/>
              </a:rPr>
              <a:t>30</a:t>
            </a:r>
            <a:endParaRPr lang="ja-JP" sz="3400" dirty="0"/>
          </a:p>
        </p:txBody>
      </p:sp>
      <p:sp>
        <p:nvSpPr>
          <p:cNvPr id="7" name="Shape 7"/>
          <p:cNvSpPr/>
          <p:nvPr/>
        </p:nvSpPr>
        <p:spPr>
          <a:xfrm>
            <a:off x="566928" y="1737360"/>
            <a:ext cx="6400800" cy="4663440"/>
          </a:xfrm>
          <a:prstGeom prst="roundRect">
            <a:avLst>
              <a:gd name="adj" fmla="val 2352"/>
            </a:avLst>
          </a:prstGeom>
          <a:solidFill>
            <a:srgbClr val="0B1327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8" name="Shape 8"/>
          <p:cNvSpPr/>
          <p:nvPr/>
        </p:nvSpPr>
        <p:spPr>
          <a:xfrm>
            <a:off x="813816" y="1956816"/>
            <a:ext cx="118872" cy="118872"/>
          </a:xfrm>
          <a:prstGeom prst="ellipse">
            <a:avLst/>
          </a:prstGeom>
          <a:solidFill>
            <a:srgbClr val="E8553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9" name="Shape 9"/>
          <p:cNvSpPr/>
          <p:nvPr/>
        </p:nvSpPr>
        <p:spPr>
          <a:xfrm>
            <a:off x="1042416" y="1956816"/>
            <a:ext cx="118872" cy="11887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0" name="Shape 10"/>
          <p:cNvSpPr/>
          <p:nvPr/>
        </p:nvSpPr>
        <p:spPr>
          <a:xfrm>
            <a:off x="1271016" y="1956816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ja-JP"/>
          </a:p>
        </p:txBody>
      </p:sp>
      <p:sp>
        <p:nvSpPr>
          <p:cNvPr id="11" name="Shape 11"/>
          <p:cNvSpPr txBox="1"/>
          <p:nvPr/>
        </p:nvSpPr>
        <p:spPr>
          <a:xfrm>
            <a:off x="1572768" y="18562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two_layer_net.py（抜粋）</a:t>
            </a:r>
            <a:endParaRPr lang="ja-JP" sz="1400" dirty="0"/>
          </a:p>
        </p:txBody>
      </p:sp>
      <p:sp>
        <p:nvSpPr>
          <p:cNvPr id="12" name="Shape 12"/>
          <p:cNvSpPr txBox="1"/>
          <p:nvPr/>
        </p:nvSpPr>
        <p:spPr>
          <a:xfrm>
            <a:off x="841248" y="2304288"/>
            <a:ext cx="5943600" cy="3959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network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TwoLayerNet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(input_size=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784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hidden_size=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50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              output_size=</a:t>
            </a:r>
            <a:r>
              <a:rPr lang="ja-JP" altLang="en-US" sz="1100" dirty="0">
                <a:solidFill>
                  <a:srgbClr val="E7B876"/>
                </a:solidFill>
                <a:latin typeface="Courier New"/>
                <a:ea typeface="Noto Sans CJK JP"/>
                <a:cs typeface="Courier New"/>
              </a:rPr>
              <a:t>10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for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i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in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range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(iters_num):      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10000 回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1. ミニバッチの取得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batch_mask = 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np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.random.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choice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(train_size, batch_size)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x_batch = x_train[batch_mask]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t_batch = t_train[batch_mask]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2・3. 損失から勾配を計算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grad = network.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numerical_gradient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(x_batch, t_batch)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4. パラメータの更新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for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key </a:t>
            </a:r>
            <a:r>
              <a:rPr lang="ja-JP" altLang="en-US" sz="1100" dirty="0">
                <a:solidFill>
                  <a:srgbClr val="F5A742"/>
                </a:solidFill>
                <a:latin typeface="Courier New"/>
                <a:ea typeface="Noto Sans CJK JP"/>
                <a:cs typeface="Courier New"/>
              </a:rPr>
              <a:t>in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(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'W1'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'b1'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'W2'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, </a:t>
            </a:r>
            <a:r>
              <a:rPr lang="ja-JP" altLang="en-US" sz="1100" dirty="0">
                <a:solidFill>
                  <a:srgbClr val="BFE9E2"/>
                </a:solidFill>
                <a:latin typeface="Courier New"/>
                <a:ea typeface="Noto Sans CJK JP"/>
                <a:cs typeface="Courier New"/>
              </a:rPr>
              <a:t>'b2'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):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    network.params[key] -= learning_rate * grad[key]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loss = network.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loss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(x_batch, t_batch)   </a:t>
            </a:r>
            <a:r>
              <a:rPr lang="ja-JP" altLang="en-US" sz="1100" dirty="0">
                <a:solidFill>
                  <a:srgbClr val="7C8AAB"/>
                </a:solidFill>
                <a:latin typeface="Courier New"/>
                <a:ea typeface="Noto Sans CJK JP"/>
                <a:cs typeface="Courier New"/>
              </a:rPr>
              <a:t># 記録</a:t>
            </a:r>
            <a:endParaRPr lang="ja-JP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    train_loss_list.</a:t>
            </a:r>
            <a:r>
              <a:rPr lang="ja-JP" altLang="en-US" sz="1100" dirty="0">
                <a:solidFill>
                  <a:srgbClr val="3FD0C0"/>
                </a:solidFill>
                <a:latin typeface="Courier New"/>
                <a:ea typeface="Noto Sans CJK JP"/>
                <a:cs typeface="Courier New"/>
              </a:rPr>
              <a:t>append</a:t>
            </a:r>
            <a:r>
              <a:rPr lang="ja-JP" altLang="en-US" sz="1100" dirty="0">
                <a:solidFill>
                  <a:srgbClr val="DCE3F2"/>
                </a:solidFill>
                <a:latin typeface="Courier New"/>
                <a:ea typeface="Noto Sans CJK JP"/>
                <a:cs typeface="Courier New"/>
              </a:rPr>
              <a:t>(loss)</a:t>
            </a:r>
            <a:endParaRPr lang="ja-JP" sz="1100" dirty="0"/>
          </a:p>
        </p:txBody>
      </p:sp>
      <p:sp>
        <p:nvSpPr>
          <p:cNvPr id="13" name="Shape 13"/>
          <p:cNvSpPr/>
          <p:nvPr/>
        </p:nvSpPr>
        <p:spPr>
          <a:xfrm>
            <a:off x="7242048" y="1737360"/>
            <a:ext cx="205282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4" name="Shape 14"/>
          <p:cNvSpPr txBox="1"/>
          <p:nvPr/>
        </p:nvSpPr>
        <p:spPr>
          <a:xfrm>
            <a:off x="7333488" y="1810512"/>
            <a:ext cx="18699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10,000</a:t>
            </a:r>
            <a:endParaRPr lang="ja-JP" sz="2400" dirty="0"/>
          </a:p>
        </p:txBody>
      </p:sp>
      <p:sp>
        <p:nvSpPr>
          <p:cNvPr id="15" name="Shape 15"/>
          <p:cNvSpPr txBox="1"/>
          <p:nvPr/>
        </p:nvSpPr>
        <p:spPr>
          <a:xfrm>
            <a:off x="7333488" y="2359152"/>
            <a:ext cx="18699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繰り返し回数 iters_num</a:t>
            </a:r>
            <a:endParaRPr lang="ja-JP" sz="1050" dirty="0"/>
          </a:p>
        </p:txBody>
      </p:sp>
      <p:sp>
        <p:nvSpPr>
          <p:cNvPr id="16" name="Shape 16"/>
          <p:cNvSpPr/>
          <p:nvPr/>
        </p:nvSpPr>
        <p:spPr>
          <a:xfrm>
            <a:off x="9569196" y="1737360"/>
            <a:ext cx="205282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17" name="Shape 17"/>
          <p:cNvSpPr txBox="1"/>
          <p:nvPr/>
        </p:nvSpPr>
        <p:spPr>
          <a:xfrm>
            <a:off x="9660636" y="1810512"/>
            <a:ext cx="18699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100</a:t>
            </a:r>
            <a:endParaRPr lang="ja-JP" sz="2400" dirty="0"/>
          </a:p>
        </p:txBody>
      </p:sp>
      <p:sp>
        <p:nvSpPr>
          <p:cNvPr id="18" name="Shape 18"/>
          <p:cNvSpPr txBox="1"/>
          <p:nvPr/>
        </p:nvSpPr>
        <p:spPr>
          <a:xfrm>
            <a:off x="9660636" y="2359152"/>
            <a:ext cx="18699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バッチサイズ batch_size</a:t>
            </a:r>
            <a:endParaRPr lang="ja-JP" sz="1050" dirty="0"/>
          </a:p>
        </p:txBody>
      </p:sp>
      <p:sp>
        <p:nvSpPr>
          <p:cNvPr id="19" name="Shape 19"/>
          <p:cNvSpPr/>
          <p:nvPr/>
        </p:nvSpPr>
        <p:spPr>
          <a:xfrm>
            <a:off x="7242048" y="2971800"/>
            <a:ext cx="205282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0" name="Shape 20"/>
          <p:cNvSpPr txBox="1"/>
          <p:nvPr/>
        </p:nvSpPr>
        <p:spPr>
          <a:xfrm>
            <a:off x="7333488" y="3044952"/>
            <a:ext cx="18699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0.1</a:t>
            </a:r>
            <a:endParaRPr lang="ja-JP" sz="2400" dirty="0"/>
          </a:p>
        </p:txBody>
      </p:sp>
      <p:sp>
        <p:nvSpPr>
          <p:cNvPr id="21" name="Shape 21"/>
          <p:cNvSpPr txBox="1"/>
          <p:nvPr/>
        </p:nvSpPr>
        <p:spPr>
          <a:xfrm>
            <a:off x="7333488" y="3593592"/>
            <a:ext cx="18699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学習率 learning_rate</a:t>
            </a:r>
            <a:endParaRPr lang="ja-JP" sz="1050" dirty="0"/>
          </a:p>
        </p:txBody>
      </p:sp>
      <p:sp>
        <p:nvSpPr>
          <p:cNvPr id="22" name="Shape 22"/>
          <p:cNvSpPr/>
          <p:nvPr/>
        </p:nvSpPr>
        <p:spPr>
          <a:xfrm>
            <a:off x="9569196" y="2971800"/>
            <a:ext cx="2052828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3" name="Shape 23"/>
          <p:cNvSpPr txBox="1"/>
          <p:nvPr/>
        </p:nvSpPr>
        <p:spPr>
          <a:xfrm>
            <a:off x="9660636" y="3044952"/>
            <a:ext cx="18699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27324B"/>
                </a:solidFill>
                <a:latin typeface="Noto Sans CJK JP"/>
                <a:ea typeface="Noto Sans CJK JP"/>
                <a:cs typeface="Noto Sans CJK JP"/>
              </a:rPr>
              <a:t>50</a:t>
            </a:r>
            <a:endParaRPr lang="ja-JP" sz="2400" dirty="0"/>
          </a:p>
        </p:txBody>
      </p:sp>
      <p:sp>
        <p:nvSpPr>
          <p:cNvPr id="24" name="Shape 24"/>
          <p:cNvSpPr txBox="1"/>
          <p:nvPr/>
        </p:nvSpPr>
        <p:spPr>
          <a:xfrm>
            <a:off x="9660636" y="3593592"/>
            <a:ext cx="18699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50" dirty="0">
                <a:solidFill>
                  <a:srgbClr val="6A7488"/>
                </a:solidFill>
                <a:latin typeface="Noto Sans CJK JP"/>
                <a:ea typeface="Noto Sans CJK JP"/>
                <a:cs typeface="Noto Sans CJK JP"/>
              </a:rPr>
              <a:t>隠れ層のニューロン数</a:t>
            </a:r>
            <a:endParaRPr lang="ja-JP" sz="1050" dirty="0"/>
          </a:p>
        </p:txBody>
      </p:sp>
      <p:sp>
        <p:nvSpPr>
          <p:cNvPr id="25" name="Shape 25"/>
          <p:cNvSpPr/>
          <p:nvPr/>
        </p:nvSpPr>
        <p:spPr>
          <a:xfrm>
            <a:off x="7242048" y="4206240"/>
            <a:ext cx="4379976" cy="2194560"/>
          </a:xfrm>
          <a:prstGeom prst="roundRect">
            <a:avLst>
              <a:gd name="adj" fmla="val 5000"/>
            </a:avLst>
          </a:prstGeom>
          <a:solidFill>
            <a:srgbClr val="0E1730"/>
          </a:solidFill>
          <a:ln>
            <a:noFill/>
          </a:ln>
          <a:effectLst>
            <a:outerShdw blurRad="114300" dist="38100" dir="5400000" algn="bl" rotWithShape="0">
              <a:srgbClr val="1E2740">
                <a:alpha val="13000"/>
              </a:srgbClr>
            </a:outerShdw>
          </a:effectLst>
        </p:spPr>
        <p:txBody>
          <a:bodyPr wrap="square" lIns="0" tIns="0" rIns="0" bIns="0" rtlCol="0" anchor="t"/>
          <a:lstStyle/>
          <a:p>
            <a:endParaRPr lang="ja-JP"/>
          </a:p>
        </p:txBody>
      </p:sp>
      <p:sp>
        <p:nvSpPr>
          <p:cNvPr id="26" name="Shape 26"/>
          <p:cNvSpPr txBox="1"/>
          <p:nvPr/>
        </p:nvSpPr>
        <p:spPr>
          <a:xfrm>
            <a:off x="7498080" y="4297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まとめと次回</a:t>
            </a:r>
            <a:endParaRPr lang="ja-JP" sz="1400" dirty="0"/>
          </a:p>
        </p:txBody>
      </p:sp>
      <p:sp>
        <p:nvSpPr>
          <p:cNvPr id="27" name="Shape 27"/>
          <p:cNvSpPr txBox="1"/>
          <p:nvPr/>
        </p:nvSpPr>
        <p:spPr>
          <a:xfrm>
            <a:off x="7498080" y="4681728"/>
            <a:ext cx="397764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ja-JP" altLang="en-US" sz="1150" dirty="0">
                <a:solidFill>
                  <a:srgbClr val="DCE3F2"/>
                </a:solidFill>
                <a:latin typeface="Noto Sans CJK JP"/>
                <a:ea typeface="Noto Sans CJK JP"/>
                <a:cs typeface="Noto Sans CJK JP"/>
              </a:rPr>
              <a:t>・数値微分は簡単だが遅い。パラメータ 39,760 個それぞれで順伝播を 2 回ずつ行う</a:t>
            </a:r>
            <a:endParaRPr lang="ja-JP" sz="1150" dirty="0"/>
          </a:p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ja-JP" altLang="en-US" sz="1150" dirty="0">
                <a:solidFill>
                  <a:srgbClr val="DCE3F2"/>
                </a:solidFill>
                <a:latin typeface="Noto Sans CJK JP"/>
                <a:ea typeface="Noto Sans CJK JP"/>
                <a:cs typeface="Noto Sans CJK JP"/>
              </a:rPr>
              <a:t>・最後は pass のまま。train_loss_list をグラフにすると損失の下がり方を確認できる</a:t>
            </a:r>
            <a:endParaRPr lang="ja-JP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b="1" dirty="0">
                <a:solidFill>
                  <a:srgbClr val="3FD0C0"/>
                </a:solidFill>
                <a:latin typeface="Noto Sans CJK JP"/>
                <a:ea typeface="Noto Sans CJK JP"/>
                <a:cs typeface="Noto Sans CJK JP"/>
              </a:rPr>
              <a:t>→ 次回：第5章 誤差逆伝播法で勾配を高速に求める</a:t>
            </a:r>
            <a:endParaRPr lang="ja-JP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</TotalTime>
  <Words>1242</Words>
  <Application>Microsoft Office PowerPoint</Application>
  <PresentationFormat>ワイド画面</PresentationFormat>
  <Paragraphs>338</Paragraphs>
  <Slides>30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Google Sans</vt:lpstr>
      <vt:lpstr>Helvetica Neue</vt:lpstr>
      <vt:lpstr>Noto Sans CJK JP</vt:lpstr>
      <vt:lpstr>游ゴシック</vt:lpstr>
      <vt:lpstr>游ゴシック Light</vt:lpstr>
      <vt:lpstr>Arial</vt:lpstr>
      <vt:lpstr>Courier New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隆幸 坂本</dc:creator>
  <cp:lastModifiedBy>SAKAMOTO Takayuki 坂本 隆幸</cp:lastModifiedBy>
  <cp:revision>194</cp:revision>
  <dcterms:created xsi:type="dcterms:W3CDTF">2023-08-26T05:23:07Z</dcterms:created>
  <dcterms:modified xsi:type="dcterms:W3CDTF">2026-10-10T22:48:59Z</dcterms:modified>
</cp:coreProperties>
</file>